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BBA3"/>
          </a:solidFill>
          <a:ln w="12700">
            <a:solidFill>
              <a:srgbClr val="1ABB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417320"/>
            <a:ext cx="64008" cy="1325880"/>
          </a:xfrm>
          <a:prstGeom prst="rect">
            <a:avLst/>
          </a:prstGeom>
          <a:solidFill>
            <a:srgbClr val="1ABBA3"/>
          </a:solidFill>
          <a:ln w="12700">
            <a:solidFill>
              <a:srgbClr val="1ABB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DataImmo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du marché immobilier français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3584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Laplace Immo  ·  Mars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Heba Abu-rabia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du projet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77240"/>
            <a:ext cx="8641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77240"/>
            <a:ext cx="54864" cy="1188720"/>
          </a:xfrm>
          <a:prstGeom prst="rect">
            <a:avLst/>
          </a:prstGeom>
          <a:solidFill>
            <a:srgbClr val="1ABBA3"/>
          </a:solidFill>
          <a:ln w="12700">
            <a:solidFill>
              <a:srgbClr val="1AB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836676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Laplace Immo est un réseau national d'agences immobilières qui souhaite exploiter les données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se démarquer de la concurrence. En tant que Data Engineer, j'ai été chargé(e) de concevoir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Proof of Concept (POC) : collecter les transactions immobilières en France, créer une base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structurée, et répondre aux besoins analytiques de l'entreprise.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2084832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084832"/>
            <a:ext cx="2788920" cy="347472"/>
          </a:xfrm>
          <a:prstGeom prst="rect">
            <a:avLst/>
          </a:prstGeom>
          <a:solidFill>
            <a:srgbClr val="EAF5F4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8716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 l'évolution du prix au m² et identifier les régions où le marché est le plus porteur.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63824" y="2084832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2084832"/>
            <a:ext cx="2788920" cy="347472"/>
          </a:xfrm>
          <a:prstGeom prst="rect">
            <a:avLst/>
          </a:prstGeom>
          <a:solidFill>
            <a:srgbClr val="EAF5F4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2084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 données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73552" y="248716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DVF (Demandes de Valeurs Foncières) fourni par l'État — données 2020.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2084832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2084832"/>
            <a:ext cx="2788920" cy="347472"/>
          </a:xfrm>
          <a:prstGeom prst="rect">
            <a:avLst/>
          </a:prstGeom>
          <a:solidFill>
            <a:srgbClr val="EAF5F4"/>
          </a:solidFill>
          <a:ln w="12700">
            <a:solidFill>
              <a:srgbClr val="D0E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2084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Démarche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81344" y="248716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3NF → création BDD SQLite → chargement CSV → requêtes SQL analytiques.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des données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49808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49808"/>
            <a:ext cx="4160520" cy="347472"/>
          </a:xfrm>
          <a:prstGeom prst="rect">
            <a:avLst/>
          </a:prstGeom>
          <a:solidFill>
            <a:srgbClr val="1ABBA3"/>
          </a:solidFill>
          <a:ln w="12700">
            <a:solidFill>
              <a:srgbClr val="1ABB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7498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Colonnes conservées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Id_bien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Identifiant unique du bien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No_voie / Type_de_voie / Voie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810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atomique (1NF)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Surface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2311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en m²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Type_local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651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bien (Appartement, Maison…)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Total_piece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30723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pièces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3255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Code_departement / Code_commune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34930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clé id_codedep_codecommune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36758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Code_postal / Commune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39136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 géographique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Date_vente / Valeur_fonciere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4334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immobilière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36592" y="749808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749808"/>
            <a:ext cx="4160520" cy="347472"/>
          </a:xfrm>
          <a:prstGeom prst="rect">
            <a:avLst/>
          </a:prstGeom>
          <a:solidFill>
            <a:srgbClr val="C0515A"/>
          </a:solidFill>
          <a:ln w="12700">
            <a:solidFill>
              <a:srgbClr val="C051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7498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  Colonnes exclues / raisons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9744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BTQ (bis/ter/quater)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9744" y="1389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Très peu renseigné, non nécessaire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9744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Code_voie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9744" y="1810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Identifiant cadastral redondant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9744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Valeur_fonciere_actuelle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9744" y="22311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Duplique Valeur_fonciere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9744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Bis_ter_quater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9744" y="2651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Complément voie → RGPD partiel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9744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indice_prix_logement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9744" y="30723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 schéma BDD POC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09744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05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RGPD 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9744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No_voie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9744" y="4334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Conservé mais pseudonymisé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(pas de noms de personnes)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Dictionnaire des données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49808"/>
            <a:ext cx="8641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Extrait du dictionnaire complété — 3 feuilles : Valeurs foncières · Référentiel géographique · Données communes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1280160" cy="29260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7899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36192" y="1078992"/>
            <a:ext cx="2286000" cy="29260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107899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22192" y="1078992"/>
            <a:ext cx="822960" cy="29260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768" y="1078992"/>
            <a:ext cx="786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45152" y="1078992"/>
            <a:ext cx="640080" cy="29260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078992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LONGUEUR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285232" y="1078992"/>
            <a:ext cx="914400" cy="29260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107899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99632" y="1078992"/>
            <a:ext cx="2514600" cy="29260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078992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DE GESTION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1371600"/>
            <a:ext cx="8641080" cy="256032"/>
          </a:xfrm>
          <a:prstGeom prst="rect">
            <a:avLst/>
          </a:prstGeom>
          <a:solidFill>
            <a:srgbClr val="EAF5F4"/>
          </a:solidFill>
          <a:ln w="6350">
            <a:solidFill>
              <a:srgbClr val="D0E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1371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Feuille 1 : Valeurs foncières (bien_immo + transaction)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1627632"/>
            <a:ext cx="12801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" y="1627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id_bien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1536192" y="1627632"/>
            <a:ext cx="22860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1912" y="16276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du bien immobilier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822192" y="1627632"/>
            <a:ext cx="8229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67912" y="16276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645152" y="1627632"/>
            <a:ext cx="64008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16276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285232" y="1627632"/>
            <a:ext cx="9144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0952" y="1627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6199632" y="1627632"/>
            <a:ext cx="25146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PK, NOT NULL, auto-incrémenté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56032" y="1883664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18836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no_voie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1536192" y="1883664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81912" y="1883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Numéro de rue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3822192" y="188366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67912" y="18836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4645152" y="1883664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90872" y="18836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285232" y="1883664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30952" y="18836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6199632" y="1883664"/>
            <a:ext cx="2514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45352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256032" y="2139696"/>
            <a:ext cx="12801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" y="21396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type_de_voie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1536192" y="2139696"/>
            <a:ext cx="22860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81912" y="21396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voie (RUE, BD…)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3822192" y="2139696"/>
            <a:ext cx="8229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67912" y="21396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4645152" y="2139696"/>
            <a:ext cx="64008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90872" y="21396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5285232" y="2139696"/>
            <a:ext cx="9144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30952" y="213969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6199632" y="2139696"/>
            <a:ext cx="25146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45352" y="21396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256032" y="2395728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" y="23957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voie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1536192" y="239572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81912" y="23957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de la voie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3822192" y="239572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67912" y="23957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4645152" y="2395728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90872" y="23957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5285232" y="2395728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30952" y="23957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6199632" y="2395728"/>
            <a:ext cx="2514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45352" y="2395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256032" y="2651760"/>
            <a:ext cx="12801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1752" y="2651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1536192" y="2651760"/>
            <a:ext cx="22860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581912" y="26517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en m²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3822192" y="2651760"/>
            <a:ext cx="8229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67912" y="2651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4645152" y="2651760"/>
            <a:ext cx="64008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90872" y="2651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5285232" y="2651760"/>
            <a:ext cx="9144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30952" y="2651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6199632" y="2651760"/>
            <a:ext cx="25146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45352" y="2651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0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256032" y="2907792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01752" y="29077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type_local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1536192" y="290779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581912" y="2907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bien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3822192" y="290779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867912" y="2907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4645152" y="2907792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690872" y="29077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80" dirty="0"/>
          </a:p>
        </p:txBody>
      </p:sp>
      <p:sp>
        <p:nvSpPr>
          <p:cNvPr id="88" name="Shape 86"/>
          <p:cNvSpPr/>
          <p:nvPr/>
        </p:nvSpPr>
        <p:spPr>
          <a:xfrm>
            <a:off x="5285232" y="2907792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330952" y="29077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6199632" y="2907792"/>
            <a:ext cx="2514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45352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Appartement / Maison…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256032" y="3163824"/>
            <a:ext cx="12801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01752" y="31638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total_piece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1536192" y="3163824"/>
            <a:ext cx="22860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581912" y="31638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pièces</a:t>
            </a:r>
            <a:endParaRPr lang="en-US" sz="780" dirty="0"/>
          </a:p>
        </p:txBody>
      </p:sp>
      <p:sp>
        <p:nvSpPr>
          <p:cNvPr id="96" name="Shape 94"/>
          <p:cNvSpPr/>
          <p:nvPr/>
        </p:nvSpPr>
        <p:spPr>
          <a:xfrm>
            <a:off x="3822192" y="3163824"/>
            <a:ext cx="8229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867912" y="31638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</a:t>
            </a:r>
            <a:endParaRPr lang="en-US" sz="780" dirty="0"/>
          </a:p>
        </p:txBody>
      </p:sp>
      <p:sp>
        <p:nvSpPr>
          <p:cNvPr id="98" name="Shape 96"/>
          <p:cNvSpPr/>
          <p:nvPr/>
        </p:nvSpPr>
        <p:spPr>
          <a:xfrm>
            <a:off x="4645152" y="3163824"/>
            <a:ext cx="64008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690872" y="31638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</a:t>
            </a:r>
            <a:endParaRPr lang="en-US" sz="780" dirty="0"/>
          </a:p>
        </p:txBody>
      </p:sp>
      <p:sp>
        <p:nvSpPr>
          <p:cNvPr id="100" name="Shape 98"/>
          <p:cNvSpPr/>
          <p:nvPr/>
        </p:nvSpPr>
        <p:spPr>
          <a:xfrm>
            <a:off x="5285232" y="3163824"/>
            <a:ext cx="9144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330952" y="31638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102" name="Shape 100"/>
          <p:cNvSpPr/>
          <p:nvPr/>
        </p:nvSpPr>
        <p:spPr>
          <a:xfrm>
            <a:off x="6199632" y="3163824"/>
            <a:ext cx="25146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45352" y="31638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256032" y="3419856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01752" y="34198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id_vente</a:t>
            </a:r>
            <a:endParaRPr lang="en-US" sz="780" dirty="0"/>
          </a:p>
        </p:txBody>
      </p:sp>
      <p:sp>
        <p:nvSpPr>
          <p:cNvPr id="106" name="Shape 104"/>
          <p:cNvSpPr/>
          <p:nvPr/>
        </p:nvSpPr>
        <p:spPr>
          <a:xfrm>
            <a:off x="1536192" y="3419856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581912" y="34198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de la transaction</a:t>
            </a:r>
            <a:endParaRPr lang="en-US" sz="780" dirty="0"/>
          </a:p>
        </p:txBody>
      </p:sp>
      <p:sp>
        <p:nvSpPr>
          <p:cNvPr id="108" name="Shape 106"/>
          <p:cNvSpPr/>
          <p:nvPr/>
        </p:nvSpPr>
        <p:spPr>
          <a:xfrm>
            <a:off x="3822192" y="3419856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867912" y="34198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</a:t>
            </a:r>
            <a:endParaRPr lang="en-US" sz="780" dirty="0"/>
          </a:p>
        </p:txBody>
      </p:sp>
      <p:sp>
        <p:nvSpPr>
          <p:cNvPr id="110" name="Shape 108"/>
          <p:cNvSpPr/>
          <p:nvPr/>
        </p:nvSpPr>
        <p:spPr>
          <a:xfrm>
            <a:off x="4645152" y="3419856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690872" y="34198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</a:t>
            </a:r>
            <a:endParaRPr lang="en-US" sz="780" dirty="0"/>
          </a:p>
        </p:txBody>
      </p:sp>
      <p:sp>
        <p:nvSpPr>
          <p:cNvPr id="112" name="Shape 110"/>
          <p:cNvSpPr/>
          <p:nvPr/>
        </p:nvSpPr>
        <p:spPr>
          <a:xfrm>
            <a:off x="5285232" y="3419856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330952" y="34198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6199632" y="3419856"/>
            <a:ext cx="2514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245352" y="3419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PK, NOT NULL, auto-incrémenté</a:t>
            </a:r>
            <a:endParaRPr lang="en-US" sz="780" dirty="0"/>
          </a:p>
        </p:txBody>
      </p:sp>
      <p:sp>
        <p:nvSpPr>
          <p:cNvPr id="116" name="Shape 114"/>
          <p:cNvSpPr/>
          <p:nvPr/>
        </p:nvSpPr>
        <p:spPr>
          <a:xfrm>
            <a:off x="256032" y="3675888"/>
            <a:ext cx="12801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01752" y="36758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date_vente</a:t>
            </a:r>
            <a:endParaRPr lang="en-US" sz="780" dirty="0"/>
          </a:p>
        </p:txBody>
      </p:sp>
      <p:sp>
        <p:nvSpPr>
          <p:cNvPr id="118" name="Shape 116"/>
          <p:cNvSpPr/>
          <p:nvPr/>
        </p:nvSpPr>
        <p:spPr>
          <a:xfrm>
            <a:off x="1536192" y="3675888"/>
            <a:ext cx="22860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581912" y="36758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de la vente</a:t>
            </a:r>
            <a:endParaRPr lang="en-US" sz="780" dirty="0"/>
          </a:p>
        </p:txBody>
      </p:sp>
      <p:sp>
        <p:nvSpPr>
          <p:cNvPr id="120" name="Shape 118"/>
          <p:cNvSpPr/>
          <p:nvPr/>
        </p:nvSpPr>
        <p:spPr>
          <a:xfrm>
            <a:off x="3822192" y="3675888"/>
            <a:ext cx="8229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867912" y="3675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780" dirty="0"/>
          </a:p>
        </p:txBody>
      </p:sp>
      <p:sp>
        <p:nvSpPr>
          <p:cNvPr id="122" name="Shape 120"/>
          <p:cNvSpPr/>
          <p:nvPr/>
        </p:nvSpPr>
        <p:spPr>
          <a:xfrm>
            <a:off x="4645152" y="3675888"/>
            <a:ext cx="64008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690872" y="36758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</a:t>
            </a:r>
            <a:endParaRPr lang="en-US" sz="780" dirty="0"/>
          </a:p>
        </p:txBody>
      </p:sp>
      <p:sp>
        <p:nvSpPr>
          <p:cNvPr id="124" name="Shape 122"/>
          <p:cNvSpPr/>
          <p:nvPr/>
        </p:nvSpPr>
        <p:spPr>
          <a:xfrm>
            <a:off x="5285232" y="3675888"/>
            <a:ext cx="9144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330952" y="36758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126" name="Shape 124"/>
          <p:cNvSpPr/>
          <p:nvPr/>
        </p:nvSpPr>
        <p:spPr>
          <a:xfrm>
            <a:off x="6199632" y="3675888"/>
            <a:ext cx="25146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245352" y="36758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JJ/MM/AAAA</a:t>
            </a:r>
            <a:endParaRPr lang="en-US" sz="780" dirty="0"/>
          </a:p>
        </p:txBody>
      </p:sp>
      <p:sp>
        <p:nvSpPr>
          <p:cNvPr id="128" name="Shape 126"/>
          <p:cNvSpPr/>
          <p:nvPr/>
        </p:nvSpPr>
        <p:spPr>
          <a:xfrm>
            <a:off x="256032" y="3931920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01752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valeur_fonciere</a:t>
            </a:r>
            <a:endParaRPr lang="en-US" sz="780" dirty="0"/>
          </a:p>
        </p:txBody>
      </p:sp>
      <p:sp>
        <p:nvSpPr>
          <p:cNvPr id="130" name="Shape 128"/>
          <p:cNvSpPr/>
          <p:nvPr/>
        </p:nvSpPr>
        <p:spPr>
          <a:xfrm>
            <a:off x="1536192" y="3931920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581912" y="39319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de vente en €</a:t>
            </a:r>
            <a:endParaRPr lang="en-US" sz="780" dirty="0"/>
          </a:p>
        </p:txBody>
      </p:sp>
      <p:sp>
        <p:nvSpPr>
          <p:cNvPr id="132" name="Shape 130"/>
          <p:cNvSpPr/>
          <p:nvPr/>
        </p:nvSpPr>
        <p:spPr>
          <a:xfrm>
            <a:off x="3822192" y="3931920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867912" y="3931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780" dirty="0"/>
          </a:p>
        </p:txBody>
      </p:sp>
      <p:sp>
        <p:nvSpPr>
          <p:cNvPr id="134" name="Shape 132"/>
          <p:cNvSpPr/>
          <p:nvPr/>
        </p:nvSpPr>
        <p:spPr>
          <a:xfrm>
            <a:off x="4645152" y="3931920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690872" y="39319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</a:t>
            </a:r>
            <a:endParaRPr lang="en-US" sz="780" dirty="0"/>
          </a:p>
        </p:txBody>
      </p:sp>
      <p:sp>
        <p:nvSpPr>
          <p:cNvPr id="136" name="Shape 134"/>
          <p:cNvSpPr/>
          <p:nvPr/>
        </p:nvSpPr>
        <p:spPr>
          <a:xfrm>
            <a:off x="5285232" y="3931920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330952" y="39319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138" name="Shape 136"/>
          <p:cNvSpPr/>
          <p:nvPr/>
        </p:nvSpPr>
        <p:spPr>
          <a:xfrm>
            <a:off x="6199632" y="3931920"/>
            <a:ext cx="2514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245352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0</a:t>
            </a:r>
            <a:endParaRPr lang="en-US" sz="780" dirty="0"/>
          </a:p>
        </p:txBody>
      </p:sp>
      <p:sp>
        <p:nvSpPr>
          <p:cNvPr id="140" name="Shape 138"/>
          <p:cNvSpPr/>
          <p:nvPr/>
        </p:nvSpPr>
        <p:spPr>
          <a:xfrm>
            <a:off x="256032" y="4187952"/>
            <a:ext cx="8641080" cy="256032"/>
          </a:xfrm>
          <a:prstGeom prst="rect">
            <a:avLst/>
          </a:prstGeom>
          <a:solidFill>
            <a:srgbClr val="EAF5F4"/>
          </a:solidFill>
          <a:ln w="6350">
            <a:solidFill>
              <a:srgbClr val="D0E8E6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29184" y="4187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Feuille 2 : Référentiel géographique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256032" y="4443984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01752" y="44439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id_codedep_…</a:t>
            </a:r>
            <a:endParaRPr lang="en-US" sz="780" dirty="0"/>
          </a:p>
        </p:txBody>
      </p:sp>
      <p:sp>
        <p:nvSpPr>
          <p:cNvPr id="144" name="Shape 142"/>
          <p:cNvSpPr/>
          <p:nvPr/>
        </p:nvSpPr>
        <p:spPr>
          <a:xfrm>
            <a:off x="1536192" y="4443984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581912" y="44439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unique commune</a:t>
            </a:r>
            <a:endParaRPr lang="en-US" sz="780" dirty="0"/>
          </a:p>
        </p:txBody>
      </p:sp>
      <p:sp>
        <p:nvSpPr>
          <p:cNvPr id="146" name="Shape 144"/>
          <p:cNvSpPr/>
          <p:nvPr/>
        </p:nvSpPr>
        <p:spPr>
          <a:xfrm>
            <a:off x="3822192" y="4443984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867912" y="44439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780" dirty="0"/>
          </a:p>
        </p:txBody>
      </p:sp>
      <p:sp>
        <p:nvSpPr>
          <p:cNvPr id="148" name="Shape 146"/>
          <p:cNvSpPr/>
          <p:nvPr/>
        </p:nvSpPr>
        <p:spPr>
          <a:xfrm>
            <a:off x="4645152" y="4443984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690872" y="444398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80" dirty="0"/>
          </a:p>
        </p:txBody>
      </p:sp>
      <p:sp>
        <p:nvSpPr>
          <p:cNvPr id="150" name="Shape 148"/>
          <p:cNvSpPr/>
          <p:nvPr/>
        </p:nvSpPr>
        <p:spPr>
          <a:xfrm>
            <a:off x="5285232" y="4443984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330952" y="44439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Concaténé</a:t>
            </a:r>
            <a:endParaRPr lang="en-US" sz="780" dirty="0"/>
          </a:p>
        </p:txBody>
      </p:sp>
      <p:sp>
        <p:nvSpPr>
          <p:cNvPr id="152" name="Shape 150"/>
          <p:cNvSpPr/>
          <p:nvPr/>
        </p:nvSpPr>
        <p:spPr>
          <a:xfrm>
            <a:off x="6199632" y="4443984"/>
            <a:ext cx="2514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245352" y="44439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code_dep + code_commune</a:t>
            </a:r>
            <a:endParaRPr lang="en-US" sz="780" dirty="0"/>
          </a:p>
        </p:txBody>
      </p:sp>
      <p:sp>
        <p:nvSpPr>
          <p:cNvPr id="154" name="Shape 152"/>
          <p:cNvSpPr/>
          <p:nvPr/>
        </p:nvSpPr>
        <p:spPr>
          <a:xfrm>
            <a:off x="256032" y="4700016"/>
            <a:ext cx="12801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01752" y="47000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code_departement</a:t>
            </a:r>
            <a:endParaRPr lang="en-US" sz="780" dirty="0"/>
          </a:p>
        </p:txBody>
      </p:sp>
      <p:sp>
        <p:nvSpPr>
          <p:cNvPr id="156" name="Shape 154"/>
          <p:cNvSpPr/>
          <p:nvPr/>
        </p:nvSpPr>
        <p:spPr>
          <a:xfrm>
            <a:off x="1536192" y="4700016"/>
            <a:ext cx="22860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581912" y="47000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du département</a:t>
            </a:r>
            <a:endParaRPr lang="en-US" sz="780" dirty="0"/>
          </a:p>
        </p:txBody>
      </p:sp>
      <p:sp>
        <p:nvSpPr>
          <p:cNvPr id="158" name="Shape 156"/>
          <p:cNvSpPr/>
          <p:nvPr/>
        </p:nvSpPr>
        <p:spPr>
          <a:xfrm>
            <a:off x="3822192" y="4700016"/>
            <a:ext cx="8229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867912" y="4700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780" dirty="0"/>
          </a:p>
        </p:txBody>
      </p:sp>
      <p:sp>
        <p:nvSpPr>
          <p:cNvPr id="160" name="Shape 158"/>
          <p:cNvSpPr/>
          <p:nvPr/>
        </p:nvSpPr>
        <p:spPr>
          <a:xfrm>
            <a:off x="4645152" y="4700016"/>
            <a:ext cx="64008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690872" y="47000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80" dirty="0"/>
          </a:p>
        </p:txBody>
      </p:sp>
      <p:sp>
        <p:nvSpPr>
          <p:cNvPr id="162" name="Shape 160"/>
          <p:cNvSpPr/>
          <p:nvPr/>
        </p:nvSpPr>
        <p:spPr>
          <a:xfrm>
            <a:off x="5285232" y="4700016"/>
            <a:ext cx="9144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5330952" y="470001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164" name="Shape 162"/>
          <p:cNvSpPr/>
          <p:nvPr/>
        </p:nvSpPr>
        <p:spPr>
          <a:xfrm>
            <a:off x="6199632" y="4700016"/>
            <a:ext cx="25146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245352" y="47000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Peut valoir 2A / 2B</a:t>
            </a:r>
            <a:endParaRPr lang="en-US" sz="780" dirty="0"/>
          </a:p>
        </p:txBody>
      </p:sp>
      <p:sp>
        <p:nvSpPr>
          <p:cNvPr id="166" name="Shape 164"/>
          <p:cNvSpPr/>
          <p:nvPr/>
        </p:nvSpPr>
        <p:spPr>
          <a:xfrm>
            <a:off x="256032" y="4956048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301752" y="49560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commune</a:t>
            </a:r>
            <a:endParaRPr lang="en-US" sz="780" dirty="0"/>
          </a:p>
        </p:txBody>
      </p:sp>
      <p:sp>
        <p:nvSpPr>
          <p:cNvPr id="168" name="Shape 166"/>
          <p:cNvSpPr/>
          <p:nvPr/>
        </p:nvSpPr>
        <p:spPr>
          <a:xfrm>
            <a:off x="1536192" y="495604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581912" y="49560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de la commune</a:t>
            </a:r>
            <a:endParaRPr lang="en-US" sz="780" dirty="0"/>
          </a:p>
        </p:txBody>
      </p:sp>
      <p:sp>
        <p:nvSpPr>
          <p:cNvPr id="170" name="Shape 168"/>
          <p:cNvSpPr/>
          <p:nvPr/>
        </p:nvSpPr>
        <p:spPr>
          <a:xfrm>
            <a:off x="3822192" y="4956048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3867912" y="49560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780" dirty="0"/>
          </a:p>
        </p:txBody>
      </p:sp>
      <p:sp>
        <p:nvSpPr>
          <p:cNvPr id="172" name="Shape 170"/>
          <p:cNvSpPr/>
          <p:nvPr/>
        </p:nvSpPr>
        <p:spPr>
          <a:xfrm>
            <a:off x="4645152" y="4956048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690872" y="49560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80" dirty="0"/>
          </a:p>
        </p:txBody>
      </p:sp>
      <p:sp>
        <p:nvSpPr>
          <p:cNvPr id="174" name="Shape 172"/>
          <p:cNvSpPr/>
          <p:nvPr/>
        </p:nvSpPr>
        <p:spPr>
          <a:xfrm>
            <a:off x="5285232" y="4956048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330952" y="4956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176" name="Shape 174"/>
          <p:cNvSpPr/>
          <p:nvPr/>
        </p:nvSpPr>
        <p:spPr>
          <a:xfrm>
            <a:off x="6199632" y="4956048"/>
            <a:ext cx="2514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245352" y="49560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80" dirty="0"/>
          </a:p>
        </p:txBody>
      </p:sp>
      <p:sp>
        <p:nvSpPr>
          <p:cNvPr id="178" name="Shape 176"/>
          <p:cNvSpPr/>
          <p:nvPr/>
        </p:nvSpPr>
        <p:spPr>
          <a:xfrm>
            <a:off x="256032" y="5212080"/>
            <a:ext cx="12801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301752" y="5212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id_region</a:t>
            </a:r>
            <a:endParaRPr lang="en-US" sz="780" dirty="0"/>
          </a:p>
        </p:txBody>
      </p:sp>
      <p:sp>
        <p:nvSpPr>
          <p:cNvPr id="180" name="Shape 178"/>
          <p:cNvSpPr/>
          <p:nvPr/>
        </p:nvSpPr>
        <p:spPr>
          <a:xfrm>
            <a:off x="1536192" y="5212080"/>
            <a:ext cx="22860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581912" y="52120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région</a:t>
            </a:r>
            <a:endParaRPr lang="en-US" sz="780" dirty="0"/>
          </a:p>
        </p:txBody>
      </p:sp>
      <p:sp>
        <p:nvSpPr>
          <p:cNvPr id="182" name="Shape 180"/>
          <p:cNvSpPr/>
          <p:nvPr/>
        </p:nvSpPr>
        <p:spPr>
          <a:xfrm>
            <a:off x="3822192" y="5212080"/>
            <a:ext cx="8229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867912" y="52120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</a:t>
            </a:r>
            <a:endParaRPr lang="en-US" sz="780" dirty="0"/>
          </a:p>
        </p:txBody>
      </p:sp>
      <p:sp>
        <p:nvSpPr>
          <p:cNvPr id="184" name="Shape 182"/>
          <p:cNvSpPr/>
          <p:nvPr/>
        </p:nvSpPr>
        <p:spPr>
          <a:xfrm>
            <a:off x="4645152" y="5212080"/>
            <a:ext cx="64008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690872" y="52120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</a:t>
            </a:r>
            <a:endParaRPr lang="en-US" sz="780" dirty="0"/>
          </a:p>
        </p:txBody>
      </p:sp>
      <p:sp>
        <p:nvSpPr>
          <p:cNvPr id="186" name="Shape 184"/>
          <p:cNvSpPr/>
          <p:nvPr/>
        </p:nvSpPr>
        <p:spPr>
          <a:xfrm>
            <a:off x="5285232" y="5212080"/>
            <a:ext cx="9144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330952" y="52120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188" name="Shape 186"/>
          <p:cNvSpPr/>
          <p:nvPr/>
        </p:nvSpPr>
        <p:spPr>
          <a:xfrm>
            <a:off x="6199632" y="5212080"/>
            <a:ext cx="25146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6245352" y="5212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 → region</a:t>
            </a:r>
            <a:endParaRPr lang="en-US" sz="780" dirty="0"/>
          </a:p>
        </p:txBody>
      </p:sp>
      <p:sp>
        <p:nvSpPr>
          <p:cNvPr id="190" name="Shape 188"/>
          <p:cNvSpPr/>
          <p:nvPr/>
        </p:nvSpPr>
        <p:spPr>
          <a:xfrm>
            <a:off x="256032" y="5468112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01752" y="54681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id_region (reg)</a:t>
            </a:r>
            <a:endParaRPr lang="en-US" sz="780" dirty="0"/>
          </a:p>
        </p:txBody>
      </p:sp>
      <p:sp>
        <p:nvSpPr>
          <p:cNvPr id="192" name="Shape 190"/>
          <p:cNvSpPr/>
          <p:nvPr/>
        </p:nvSpPr>
        <p:spPr>
          <a:xfrm>
            <a:off x="1536192" y="546811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1581912" y="54681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de la région</a:t>
            </a:r>
            <a:endParaRPr lang="en-US" sz="780" dirty="0"/>
          </a:p>
        </p:txBody>
      </p:sp>
      <p:sp>
        <p:nvSpPr>
          <p:cNvPr id="194" name="Shape 192"/>
          <p:cNvSpPr/>
          <p:nvPr/>
        </p:nvSpPr>
        <p:spPr>
          <a:xfrm>
            <a:off x="3822192" y="5468112"/>
            <a:ext cx="822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867912" y="54681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</a:t>
            </a:r>
            <a:endParaRPr lang="en-US" sz="780" dirty="0"/>
          </a:p>
        </p:txBody>
      </p:sp>
      <p:sp>
        <p:nvSpPr>
          <p:cNvPr id="196" name="Shape 194"/>
          <p:cNvSpPr/>
          <p:nvPr/>
        </p:nvSpPr>
        <p:spPr>
          <a:xfrm>
            <a:off x="4645152" y="5468112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690872" y="54681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</a:t>
            </a:r>
            <a:endParaRPr lang="en-US" sz="780" dirty="0"/>
          </a:p>
        </p:txBody>
      </p:sp>
      <p:sp>
        <p:nvSpPr>
          <p:cNvPr id="198" name="Shape 196"/>
          <p:cNvSpPr/>
          <p:nvPr/>
        </p:nvSpPr>
        <p:spPr>
          <a:xfrm>
            <a:off x="5285232" y="5468112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330952" y="54681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200" name="Shape 198"/>
          <p:cNvSpPr/>
          <p:nvPr/>
        </p:nvSpPr>
        <p:spPr>
          <a:xfrm>
            <a:off x="6199632" y="5468112"/>
            <a:ext cx="2514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6245352" y="5468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PK, NOT NULL</a:t>
            </a:r>
            <a:endParaRPr lang="en-US" sz="780" dirty="0"/>
          </a:p>
        </p:txBody>
      </p:sp>
      <p:sp>
        <p:nvSpPr>
          <p:cNvPr id="202" name="Shape 200"/>
          <p:cNvSpPr/>
          <p:nvPr/>
        </p:nvSpPr>
        <p:spPr>
          <a:xfrm>
            <a:off x="256032" y="5724144"/>
            <a:ext cx="12801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301752" y="5724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nom_region</a:t>
            </a:r>
            <a:endParaRPr lang="en-US" sz="780" dirty="0"/>
          </a:p>
        </p:txBody>
      </p:sp>
      <p:sp>
        <p:nvSpPr>
          <p:cNvPr id="204" name="Shape 202"/>
          <p:cNvSpPr/>
          <p:nvPr/>
        </p:nvSpPr>
        <p:spPr>
          <a:xfrm>
            <a:off x="1536192" y="5724144"/>
            <a:ext cx="22860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1581912" y="57241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de la région</a:t>
            </a:r>
            <a:endParaRPr lang="en-US" sz="780" dirty="0"/>
          </a:p>
        </p:txBody>
      </p:sp>
      <p:sp>
        <p:nvSpPr>
          <p:cNvPr id="206" name="Shape 204"/>
          <p:cNvSpPr/>
          <p:nvPr/>
        </p:nvSpPr>
        <p:spPr>
          <a:xfrm>
            <a:off x="3822192" y="5724144"/>
            <a:ext cx="82296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3867912" y="57241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Varchar</a:t>
            </a:r>
            <a:endParaRPr lang="en-US" sz="780" dirty="0"/>
          </a:p>
        </p:txBody>
      </p:sp>
      <p:sp>
        <p:nvSpPr>
          <p:cNvPr id="208" name="Shape 206"/>
          <p:cNvSpPr/>
          <p:nvPr/>
        </p:nvSpPr>
        <p:spPr>
          <a:xfrm>
            <a:off x="4645152" y="5724144"/>
            <a:ext cx="64008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690872" y="57241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80" dirty="0"/>
          </a:p>
        </p:txBody>
      </p:sp>
      <p:sp>
        <p:nvSpPr>
          <p:cNvPr id="210" name="Shape 208"/>
          <p:cNvSpPr/>
          <p:nvPr/>
        </p:nvSpPr>
        <p:spPr>
          <a:xfrm>
            <a:off x="5285232" y="5724144"/>
            <a:ext cx="9144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5330952" y="572414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Élémentaire</a:t>
            </a:r>
            <a:endParaRPr lang="en-US" sz="780" dirty="0"/>
          </a:p>
        </p:txBody>
      </p:sp>
      <p:sp>
        <p:nvSpPr>
          <p:cNvPr id="212" name="Shape 210"/>
          <p:cNvSpPr/>
          <p:nvPr/>
        </p:nvSpPr>
        <p:spPr>
          <a:xfrm>
            <a:off x="6199632" y="5724144"/>
            <a:ext cx="2514600" cy="256032"/>
          </a:xfrm>
          <a:prstGeom prst="rect">
            <a:avLst/>
          </a:prstGeom>
          <a:solidFill>
            <a:srgbClr val="F3FAF9"/>
          </a:solidFill>
          <a:ln w="6350">
            <a:solidFill>
              <a:srgbClr val="D8ECEB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6245352" y="5724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relationnel normalisé (3FN)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749808"/>
            <a:ext cx="86410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4754880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tables · Clés primaires justifiées · Clés étrangères explicites · Données atomiques (1NF) · Dépendances transitives éliminées (3NF)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— Table region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49808"/>
            <a:ext cx="54864" cy="3474720"/>
          </a:xfrm>
          <a:prstGeom prst="rect">
            <a:avLst/>
          </a:prstGeom>
          <a:solidFill>
            <a:srgbClr val="1ABBA3"/>
          </a:solidFill>
          <a:ln w="12700">
            <a:solidFill>
              <a:srgbClr val="1ABB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49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de la table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1060704"/>
            <a:ext cx="502920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0" y="749808"/>
            <a:ext cx="31272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822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52160" y="1078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region;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417320"/>
            <a:ext cx="2743200" cy="822960"/>
          </a:xfrm>
          <a:prstGeom prst="rect">
            <a:avLst/>
          </a:prstGeom>
          <a:solidFill>
            <a:srgbClr val="EAF5F4"/>
          </a:solidFill>
          <a:ln w="6350">
            <a:solidFill>
              <a:srgbClr val="D0E8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lignes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760720" y="2816352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de référence. 14 régions métropolitaines + DOM.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— Table commune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49808"/>
            <a:ext cx="54864" cy="3474720"/>
          </a:xfrm>
          <a:prstGeom prst="rect">
            <a:avLst/>
          </a:prstGeom>
          <a:solidFill>
            <a:srgbClr val="1ABBA3"/>
          </a:solidFill>
          <a:ln w="12700">
            <a:solidFill>
              <a:srgbClr val="1ABB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49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de la table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1060704"/>
            <a:ext cx="502920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0" y="749808"/>
            <a:ext cx="31272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822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52160" y="1078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commune;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417320"/>
            <a:ext cx="2743200" cy="822960"/>
          </a:xfrm>
          <a:prstGeom prst="rect">
            <a:avLst/>
          </a:prstGeom>
          <a:solidFill>
            <a:srgbClr val="EAF5F4"/>
          </a:solidFill>
          <a:ln w="6350">
            <a:solidFill>
              <a:srgbClr val="D0E8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467 lignes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760720" y="2816352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primaire concaténée : code_dep + code_commune.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 : 34 + 172 = 34172 (Montpellier)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— Table bien_immo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49808"/>
            <a:ext cx="54864" cy="3474720"/>
          </a:xfrm>
          <a:prstGeom prst="rect">
            <a:avLst/>
          </a:prstGeom>
          <a:solidFill>
            <a:srgbClr val="1ABBA3"/>
          </a:solidFill>
          <a:ln w="12700">
            <a:solidFill>
              <a:srgbClr val="1ABB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49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de la table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1060704"/>
            <a:ext cx="502920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0" y="749808"/>
            <a:ext cx="31272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822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52160" y="1078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bien_immo;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417320"/>
            <a:ext cx="2743200" cy="822960"/>
          </a:xfrm>
          <a:prstGeom prst="rect">
            <a:avLst/>
          </a:prstGeom>
          <a:solidFill>
            <a:srgbClr val="EAF5F4"/>
          </a:solidFill>
          <a:ln w="6350">
            <a:solidFill>
              <a:srgbClr val="D0E8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1 107 lignes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760720" y="2816352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Contient les caractéristiques du bien.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données personnelles (RGPD).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— Table vente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49808"/>
            <a:ext cx="54864" cy="3474720"/>
          </a:xfrm>
          <a:prstGeom prst="rect">
            <a:avLst/>
          </a:prstGeom>
          <a:solidFill>
            <a:srgbClr val="1ABBA3"/>
          </a:solidFill>
          <a:ln w="12700">
            <a:solidFill>
              <a:srgbClr val="1ABB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49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de la table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1060704"/>
            <a:ext cx="502920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0" y="749808"/>
            <a:ext cx="31272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52160" y="822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F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52160" y="1078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3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vente;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417320"/>
            <a:ext cx="2743200" cy="822960"/>
          </a:xfrm>
          <a:prstGeom prst="rect">
            <a:avLst/>
          </a:prstGeom>
          <a:solidFill>
            <a:srgbClr val="EAF5F4"/>
          </a:solidFill>
          <a:ln w="6350">
            <a:solidFill>
              <a:srgbClr val="D0E8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1 047 lignes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760720" y="2816352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ligne = une transaction. Lien FK vers bien_immo.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foncière exprimée en €.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Q1 &amp; Q2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834640"/>
            <a:ext cx="8641080" cy="0"/>
          </a:xfrm>
          <a:prstGeom prst="line">
            <a:avLst/>
          </a:prstGeom>
          <a:noFill/>
          <a:ln w="9525">
            <a:solidFill>
              <a:srgbClr val="D0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49808"/>
            <a:ext cx="502920" cy="228600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total d'appartements vendus au 1er semestre 2020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4389120" cy="1490472"/>
          </a:xfrm>
          <a:prstGeom prst="rect">
            <a:avLst/>
          </a:prstGeom>
          <a:solidFill>
            <a:srgbClr val="1A2F2F"/>
          </a:solidFill>
          <a:ln w="12700">
            <a:solidFill>
              <a:srgbClr val="2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60704"/>
            <a:ext cx="4251960" cy="1426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nb_appartements_vendus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vente v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bien_immo b ON v.Id_bien = b.Id_bien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b.Type_local = 'Appartement'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v.Date_vente BETWEEN '2020-01-01' AND '2020-06-30'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24128"/>
            <a:ext cx="4160520" cy="1490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6032" y="2542032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968 appartements vendus au 1er semestre 2020, soit la quasi-totalité des ventes enregistrées dans la base (1 047 transactions au total).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" y="2880360"/>
            <a:ext cx="502920" cy="228600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2880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" y="2880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 ventes d'appartements par région — 1er semestre 2020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6032" y="3154680"/>
            <a:ext cx="4389120" cy="1490472"/>
          </a:xfrm>
          <a:prstGeom prst="rect">
            <a:avLst/>
          </a:prstGeom>
          <a:solidFill>
            <a:srgbClr val="1A2F2F"/>
          </a:solidFill>
          <a:ln w="12700">
            <a:solidFill>
              <a:srgbClr val="2A4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191256"/>
            <a:ext cx="4251960" cy="1426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r.nom_region, COUNT(*) AS nb_ventes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vente v JOIN bien_immo b ON v.Id_bien = b.Id_bien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commune c ON c.id_codedep_codecommune = b.id_codedep_codecommune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region r ON r.id_region = c.id_region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b.Type_local = 'Appartement'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v.Date_vente BETWEEN '2020-01-01' AND '2020-06-30'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r.nom_region ORDER BY nb_ventes DESC</a:t>
            </a:r>
            <a:endParaRPr lang="en-US" sz="7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3154680"/>
            <a:ext cx="4160520" cy="1490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6032" y="4672584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L'Île-de-France domine largement avec 404 ventes (42 %). PACA et ARA suivent. Le marché est très concentré sur 3 régions.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Q3 &amp; Q4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834640"/>
            <a:ext cx="8641080" cy="0"/>
          </a:xfrm>
          <a:prstGeom prst="line">
            <a:avLst/>
          </a:prstGeom>
          <a:noFill/>
          <a:ln w="9525">
            <a:solidFill>
              <a:srgbClr val="D0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49808"/>
            <a:ext cx="502920" cy="228600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 des ventes d'appartements par nombre de pièces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4389120" cy="1490472"/>
          </a:xfrm>
          <a:prstGeom prst="rect">
            <a:avLst/>
          </a:prstGeom>
          <a:solidFill>
            <a:srgbClr val="1A2F2F"/>
          </a:solidFill>
          <a:ln w="12700">
            <a:solidFill>
              <a:srgbClr val="2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60704"/>
            <a:ext cx="4251960" cy="1426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b.Total_piece, COUNT(*) AS nb_ventes,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ROUND(COUNT(*) * 100.0 / SUM(COUNT(*)) OVER (), 2) AS proportion_pct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vente v JOIN bien_immo b ON v.Id_bien = b.Id_bien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b.Type_local = 'Appartement'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b.Total_piece ORDER BY b.Total_piece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24128"/>
            <a:ext cx="4160520" cy="1490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6032" y="2542032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Les 2 et 3 pièces représentent 61 % des ventes — segment dominant du marché locatif et primo-accédants.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" y="2880360"/>
            <a:ext cx="502920" cy="228600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2880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" y="2880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départements — prix moyen au m² le plus élevé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6032" y="3154680"/>
            <a:ext cx="4389120" cy="1490472"/>
          </a:xfrm>
          <a:prstGeom prst="rect">
            <a:avLst/>
          </a:prstGeom>
          <a:solidFill>
            <a:srgbClr val="1A2F2F"/>
          </a:solidFill>
          <a:ln w="12700">
            <a:solidFill>
              <a:srgbClr val="2A4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191256"/>
            <a:ext cx="4251960" cy="1426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c.Code_departement,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ROUND(AVG(v.Valeur_fonciere / b.Surface), 2) AS prix_m2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vente v JOIN bien_immo b ON v.Id_bien = b.Id_bien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commune c ON c.id_codedep_codecommune = b.id_codedep_codecommune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b.Surface &gt; 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c.Code_departement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prix_m2 DESC LIMIT 10</a:t>
            </a:r>
            <a:endParaRPr lang="en-US" sz="7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3154680"/>
            <a:ext cx="4160520" cy="1490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6032" y="4672584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Paris (75) arrive en tête avec les prix au m² les plus élevés. Les Alpes-Maritimes et le Rhône complètent le podium.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Q5 &amp; Q6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834640"/>
            <a:ext cx="8641080" cy="0"/>
          </a:xfrm>
          <a:prstGeom prst="line">
            <a:avLst/>
          </a:prstGeom>
          <a:noFill/>
          <a:ln w="9525">
            <a:solidFill>
              <a:srgbClr val="D0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49808"/>
            <a:ext cx="502920" cy="228600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moyen du m² d'une maison en Île-de-France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4389120" cy="1490472"/>
          </a:xfrm>
          <a:prstGeom prst="rect">
            <a:avLst/>
          </a:prstGeom>
          <a:solidFill>
            <a:srgbClr val="1A2F2F"/>
          </a:solidFill>
          <a:ln w="12700">
            <a:solidFill>
              <a:srgbClr val="2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60704"/>
            <a:ext cx="4251960" cy="1426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ROUND(AVG(v.Valeur_fonciere / b.Surface), 2) AS prix_moyen_m2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vente v JOIN bien_immo b ON v.Id_bien = b.Id_bien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commune c ON c.id_codedep_codecommune = b.id_codedep_codecommune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region r ON r.id_region = c.id_region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b.Type_local = 'Maison'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r.nom_region = 'Île-de-France'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b.Surface &gt; 0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24128"/>
            <a:ext cx="4160520" cy="1490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6032" y="2542032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 prix moyen d'une maison en Île-de-France est de 3 729,58 €/m². Ce chiffre reflète la forte pression immobilière en périphérie parisienne.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" y="2880360"/>
            <a:ext cx="502920" cy="228600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2880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" y="2880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appartements les plus chers (région + surface)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6032" y="3154680"/>
            <a:ext cx="4389120" cy="1490472"/>
          </a:xfrm>
          <a:prstGeom prst="rect">
            <a:avLst/>
          </a:prstGeom>
          <a:solidFill>
            <a:srgbClr val="1A2F2F"/>
          </a:solidFill>
          <a:ln w="12700">
            <a:solidFill>
              <a:srgbClr val="2A4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191256"/>
            <a:ext cx="4251960" cy="1426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v.Id_vente, v.Valeur_fonciere, b.Surface, r.nom_region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vente v JOIN bien_immo b ON v.Id_bien = b.Id_bien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commune c ON c.id_codedep_codecommune = b.id_codedep_codecommune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region r ON r.id_region = c.id_region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b.Type_local = 'Appartement'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v.Valeur_fonciere DESC LIMIT 10</a:t>
            </a:r>
            <a:endParaRPr lang="en-US" sz="7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3154680"/>
            <a:ext cx="4160520" cy="1490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6032" y="4672584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Les 10 appartements les plus chers sont quasi-exclusivement situés en Île-de-France, avec des surfaces importantes dépassant souvent 100 m².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Q7 &amp; Q8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834640"/>
            <a:ext cx="8641080" cy="0"/>
          </a:xfrm>
          <a:prstGeom prst="line">
            <a:avLst/>
          </a:prstGeom>
          <a:noFill/>
          <a:ln w="9525">
            <a:solidFill>
              <a:srgbClr val="D0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49808"/>
            <a:ext cx="502920" cy="228600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d'évolution des ventes entre Q1 et Q2 2020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4389120" cy="1490472"/>
          </a:xfrm>
          <a:prstGeom prst="rect">
            <a:avLst/>
          </a:prstGeom>
          <a:solidFill>
            <a:srgbClr val="1A2F2F"/>
          </a:solidFill>
          <a:ln w="12700">
            <a:solidFill>
              <a:srgbClr val="2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60704"/>
            <a:ext cx="4251960" cy="1426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q1 AS 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COUNT(*) AS nb FROM vente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Date_vente BETWEEN '2020-01-01' AND '2020-03-31'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AS 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COUNT(*) AS nb FROM vente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Date_vente BETWEEN '2020-04-01' AND '2020-06-30'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q1.nb AS ventes_q1, q2.nb AS ventes_q2,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ROUND((q2.nb - q1.nb) * 100.0 / q1.nb, 2) AS taux_evolution_pct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24128"/>
            <a:ext cx="4160520" cy="1490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6032" y="2542032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541 ventes en Q1 vs 506 en Q2 → baisse de -6,47 %. Cette baisse correspond au confinement COVID-19 d'avril-mai 2020.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" y="2880360"/>
            <a:ext cx="502920" cy="228600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2880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" y="2880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Classement des régions par prix m² — appartements &gt; 4 pièces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6032" y="3154680"/>
            <a:ext cx="4389120" cy="1490472"/>
          </a:xfrm>
          <a:prstGeom prst="rect">
            <a:avLst/>
          </a:prstGeom>
          <a:solidFill>
            <a:srgbClr val="1A2F2F"/>
          </a:solidFill>
          <a:ln w="12700">
            <a:solidFill>
              <a:srgbClr val="2A4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191256"/>
            <a:ext cx="4251960" cy="1426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r.nom_region,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ROUND(AVG(v.Valeur_fonciere / b.Surface), 2) AS prix_m2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vente v JOIN bien_immo b ON v.Id_bien = b.Id_bien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commune c ON c.id_codedep_codecommune = b.id_codedep_codecommune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region r ON r.id_region = c.id_region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b.Type_local = 'Appartement'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b.Total_piece &gt; 4 AND b.Surface &gt; 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r.id_region ORDER BY prix_m2 DESC</a:t>
            </a:r>
            <a:endParaRPr lang="en-US" sz="7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3154680"/>
            <a:ext cx="4160520" cy="1490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6032" y="4672584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Les grands appartements (&gt; 4 pièces) sont les plus chers en Île-de-France et PACA. Ces biens de standing concentrent les prix les plus élevés.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Q9 &amp; Q10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834640"/>
            <a:ext cx="8641080" cy="0"/>
          </a:xfrm>
          <a:prstGeom prst="line">
            <a:avLst/>
          </a:prstGeom>
          <a:noFill/>
          <a:ln w="9525">
            <a:solidFill>
              <a:srgbClr val="D0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49808"/>
            <a:ext cx="502920" cy="228600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Communes avec ≥ 50 ventes au 1er trimestre 2020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4389120" cy="1490472"/>
          </a:xfrm>
          <a:prstGeom prst="rect">
            <a:avLst/>
          </a:prstGeom>
          <a:solidFill>
            <a:srgbClr val="1A2F2F"/>
          </a:solidFill>
          <a:ln w="12700">
            <a:solidFill>
              <a:srgbClr val="2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60704"/>
            <a:ext cx="4251960" cy="1426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c.Commune, COUNT(*) AS nb_ventes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vente v JOIN bien_immo b ON v.Id_bien = b.Id_bien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commune c ON c.id_codedep_codecommune = b.id_codedep_codecommune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v.Date_vente BETWEEN '2020-01-01' AND '2020-03-31'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c.id_codedep_codecommune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nb_ventes &gt;= 50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nb_ventes DESC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24128"/>
            <a:ext cx="4160520" cy="1490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6032" y="2542032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Aucune commune ne dépasse 50 ventes sur ce seul trimestre dans ce POC. Le jeu de données est un échantillon représentatif, pas exhaustif.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" y="2880360"/>
            <a:ext cx="502920" cy="228600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" y="2880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" y="28803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Différence % du prix m² entre appartements 2 et 3 pièces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6032" y="3154680"/>
            <a:ext cx="4389120" cy="1490472"/>
          </a:xfrm>
          <a:prstGeom prst="rect">
            <a:avLst/>
          </a:prstGeom>
          <a:solidFill>
            <a:srgbClr val="1A2F2F"/>
          </a:solidFill>
          <a:ln w="12700">
            <a:solidFill>
              <a:srgbClr val="2A4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191256"/>
            <a:ext cx="4251960" cy="1426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prix AS 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b.Total_piece,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AVG(v.Valeur_fonciere / b.Surface) AS prix_moyen_m2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vente v JOIN bien_immo b ON v.Id_bien = b.Id_bien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b.Type_local = 'Appartement'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b.Total_piece IN (2, 3) AND b.Surface &gt; 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b.Total_piece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ROUND(MAX(CASE WHEN Total_piece=2 THEN prix_moyen_m2 END),2) AS prix_2_pieces,</a:t>
            </a:r>
            <a:endParaRPr lang="en-US" sz="7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3154680"/>
            <a:ext cx="4160520" cy="1490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6032" y="4672584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 prix m² des 2 pièces (4 134 €) est plus élevé que les 3 pièces (3 429 €), soit -17 %. Les petites surfaces ont souvent un prix au m² supérieur.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64592"/>
            <a:ext cx="50292" cy="475488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Q11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667512"/>
            <a:ext cx="8641080" cy="0"/>
          </a:xfrm>
          <a:prstGeom prst="line">
            <a:avLst/>
          </a:prstGeom>
          <a:noFill/>
          <a:ln w="19050">
            <a:solidFill>
              <a:srgbClr val="1ABB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49808"/>
            <a:ext cx="502920" cy="228600"/>
          </a:xfrm>
          <a:prstGeom prst="rect">
            <a:avLst/>
          </a:prstGeom>
          <a:solidFill>
            <a:srgbClr val="158F7E"/>
          </a:solidFill>
          <a:ln w="12700">
            <a:solidFill>
              <a:srgbClr val="158F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7498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7498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communes par valeur foncière — dép. 6, 13, 33, 59, 69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4389120" cy="3520440"/>
          </a:xfrm>
          <a:prstGeom prst="rect">
            <a:avLst/>
          </a:prstGeom>
          <a:solidFill>
            <a:srgbClr val="1A2F2F"/>
          </a:solidFill>
          <a:ln w="12700">
            <a:solidFill>
              <a:srgbClr val="2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60704"/>
            <a:ext cx="4251960" cy="3456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Code_departement, Commune, moy_valeur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c.Code_departement, c.Commune,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ROUND(AVG(v.Valeur_fonciere), 2) AS moy_valeur,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ROW_NUMBER() OVER 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PARTITION BY c.Code_departement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 AVG(v.Valeur_fonciere) DESC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rn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vente v JOIN bien_immo b ON v.Id_bien = b.Id_bien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D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commune c ON c.id_codedep_codecommune = b.id_codedep_codecommune</a:t>
            </a:r>
            <a:endParaRPr lang="en-US" sz="7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24128"/>
            <a:ext cx="416052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4572000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4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Pour chaque département, les 3 communes avec la valeur foncière moyenne la plus élevée. Utilisation de ROW_NUMBER() (fenêtre) pour le classement intra-groupe.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DataImmo — Laplace Immo</dc:title>
  <dc:subject>PptxGenJS Presentation</dc:subject>
  <dc:creator>Heba Abu-rabia</dc:creator>
  <cp:lastModifiedBy>Heba Abu-rabia</cp:lastModifiedBy>
  <cp:revision>1</cp:revision>
  <dcterms:created xsi:type="dcterms:W3CDTF">2026-03-30T15:32:42Z</dcterms:created>
  <dcterms:modified xsi:type="dcterms:W3CDTF">2026-03-30T15:32:42Z</dcterms:modified>
</cp:coreProperties>
</file>