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838"/>
        </a:solidFill>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1ABBA3"/>
          </a:solidFill>
          <a:ln w="12700">
            <a:solidFill>
              <a:srgbClr val="1ABBA3"/>
            </a:solidFill>
            <a:prstDash val="solid"/>
          </a:ln>
        </p:spPr>
      </p:sp>
      <p:sp>
        <p:nvSpPr>
          <p:cNvPr id="3" name="Shape 1"/>
          <p:cNvSpPr/>
          <p:nvPr/>
        </p:nvSpPr>
        <p:spPr>
          <a:xfrm>
            <a:off x="347472" y="1417320"/>
            <a:ext cx="64008" cy="1325880"/>
          </a:xfrm>
          <a:prstGeom prst="rect">
            <a:avLst/>
          </a:prstGeom>
          <a:solidFill>
            <a:srgbClr val="1ABBA3"/>
          </a:solidFill>
          <a:ln w="12700">
            <a:solidFill>
              <a:srgbClr val="1ABBA3"/>
            </a:solidFill>
            <a:prstDash val="solid"/>
          </a:ln>
        </p:spPr>
      </p:sp>
      <p:sp>
        <p:nvSpPr>
          <p:cNvPr id="4" name="Text 2"/>
          <p:cNvSpPr/>
          <p:nvPr/>
        </p:nvSpPr>
        <p:spPr>
          <a:xfrm>
            <a:off x="502920" y="1371600"/>
            <a:ext cx="7772400" cy="731520"/>
          </a:xfrm>
          <a:prstGeom prst="rect">
            <a:avLst/>
          </a:prstGeom>
          <a:noFill/>
          <a:ln/>
        </p:spPr>
        <p:txBody>
          <a:bodyPr wrap="square" rtlCol="0" anchor="ctr"/>
          <a:lstStyle/>
          <a:p>
            <a:pPr indent="0" marL="0">
              <a:buNone/>
            </a:pPr>
            <a:r>
              <a:rPr lang="en-US" sz="4200" b="1" dirty="0">
                <a:solidFill>
                  <a:srgbClr val="FFFFFF"/>
                </a:solidFill>
                <a:latin typeface="Arial" pitchFamily="34" charset="0"/>
                <a:ea typeface="Arial" pitchFamily="34" charset="-122"/>
                <a:cs typeface="Arial" pitchFamily="34" charset="-120"/>
              </a:rPr>
              <a:t>DataImmo</a:t>
            </a:r>
            <a:endParaRPr lang="en-US" sz="4200" dirty="0"/>
          </a:p>
        </p:txBody>
      </p:sp>
      <p:sp>
        <p:nvSpPr>
          <p:cNvPr id="5" name="Text 3"/>
          <p:cNvSpPr/>
          <p:nvPr/>
        </p:nvSpPr>
        <p:spPr>
          <a:xfrm>
            <a:off x="502920" y="2103120"/>
            <a:ext cx="7772400" cy="548640"/>
          </a:xfrm>
          <a:prstGeom prst="rect">
            <a:avLst/>
          </a:prstGeom>
          <a:noFill/>
          <a:ln/>
        </p:spPr>
        <p:txBody>
          <a:bodyPr wrap="square" rtlCol="0" anchor="ctr"/>
          <a:lstStyle/>
          <a:p>
            <a:pPr indent="0" marL="0">
              <a:buNone/>
            </a:pPr>
            <a:r>
              <a:rPr lang="en-US" sz="2000" dirty="0">
                <a:solidFill>
                  <a:srgbClr val="1ABBA3"/>
                </a:solidFill>
                <a:latin typeface="Arial" pitchFamily="34" charset="0"/>
                <a:ea typeface="Arial" pitchFamily="34" charset="-122"/>
                <a:cs typeface="Arial" pitchFamily="34" charset="-120"/>
              </a:rPr>
              <a:t>Modélisation et analyse du marché immobilier français</a:t>
            </a:r>
            <a:endParaRPr lang="en-US" sz="2000" dirty="0"/>
          </a:p>
        </p:txBody>
      </p:sp>
      <p:sp>
        <p:nvSpPr>
          <p:cNvPr id="6" name="Text 4"/>
          <p:cNvSpPr/>
          <p:nvPr/>
        </p:nvSpPr>
        <p:spPr>
          <a:xfrm>
            <a:off x="347472" y="3584448"/>
            <a:ext cx="5486400" cy="347472"/>
          </a:xfrm>
          <a:prstGeom prst="rect">
            <a:avLst/>
          </a:prstGeom>
          <a:noFill/>
          <a:ln/>
        </p:spPr>
        <p:txBody>
          <a:bodyPr wrap="square" rtlCol="0" anchor="ctr"/>
          <a:lstStyle/>
          <a:p>
            <a:pPr indent="0" marL="0">
              <a:buNone/>
            </a:pPr>
            <a:r>
              <a:rPr lang="en-US" sz="1200" dirty="0">
                <a:solidFill>
                  <a:srgbClr val="1C3838"/>
                </a:solidFill>
                <a:latin typeface="Arial" pitchFamily="34" charset="0"/>
                <a:ea typeface="Arial" pitchFamily="34" charset="-122"/>
                <a:cs typeface="Arial" pitchFamily="34" charset="-120"/>
              </a:rPr>
              <a:t>Laplace Immo  ·  Mars 2026</a:t>
            </a:r>
            <a:endParaRPr lang="en-US" sz="1200" dirty="0"/>
          </a:p>
        </p:txBody>
      </p:sp>
      <p:sp>
        <p:nvSpPr>
          <p:cNvPr id="7" name="Text 5"/>
          <p:cNvSpPr/>
          <p:nvPr/>
        </p:nvSpPr>
        <p:spPr>
          <a:xfrm>
            <a:off x="347472" y="3950208"/>
            <a:ext cx="5486400" cy="320040"/>
          </a:xfrm>
          <a:prstGeom prst="rect">
            <a:avLst/>
          </a:prstGeom>
          <a:noFill/>
          <a:ln/>
        </p:spPr>
        <p:txBody>
          <a:bodyPr wrap="square" rtlCol="0" anchor="ctr"/>
          <a:lstStyle/>
          <a:p>
            <a:pPr indent="0" marL="0">
              <a:buNone/>
            </a:pPr>
            <a:r>
              <a:rPr lang="en-US" sz="1100" i="1" dirty="0">
                <a:solidFill>
                  <a:srgbClr val="1C3838"/>
                </a:solidFill>
                <a:latin typeface="Arial" pitchFamily="34" charset="0"/>
                <a:ea typeface="Arial" pitchFamily="34" charset="-122"/>
                <a:cs typeface="Arial" pitchFamily="34" charset="-120"/>
              </a:rPr>
              <a:t>Heba Abu-rabia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5F4"/>
        </a:solidFill>
      </p:bgPr>
    </p:bg>
    <p:spTree>
      <p:nvGrpSpPr>
        <p:cNvPr id="1" name=""/>
        <p:cNvGrpSpPr/>
        <p:nvPr/>
      </p:nvGrpSpPr>
      <p:grpSpPr>
        <a:xfrm>
          <a:off x="0" y="0"/>
          <a:ext cx="0" cy="0"/>
          <a:chOff x="0" y="0"/>
          <a:chExt cx="0" cy="0"/>
        </a:xfrm>
      </p:grpSpPr>
      <p:sp>
        <p:nvSpPr>
          <p:cNvPr id="2" name="Shape 0"/>
          <p:cNvSpPr/>
          <p:nvPr/>
        </p:nvSpPr>
        <p:spPr>
          <a:xfrm>
            <a:off x="256032" y="164592"/>
            <a:ext cx="50292" cy="475488"/>
          </a:xfrm>
          <a:prstGeom prst="rect">
            <a:avLst/>
          </a:prstGeom>
          <a:solidFill>
            <a:srgbClr val="158F7E"/>
          </a:solidFill>
          <a:ln w="12700">
            <a:solidFill>
              <a:srgbClr val="158F7E"/>
            </a:solidFill>
            <a:prstDash val="solid"/>
          </a:ln>
        </p:spPr>
      </p:sp>
      <p:sp>
        <p:nvSpPr>
          <p:cNvPr id="3" name="Text 1"/>
          <p:cNvSpPr/>
          <p:nvPr/>
        </p:nvSpPr>
        <p:spPr>
          <a:xfrm>
            <a:off x="365760" y="109728"/>
            <a:ext cx="8412480" cy="566928"/>
          </a:xfrm>
          <a:prstGeom prst="rect">
            <a:avLst/>
          </a:prstGeom>
          <a:noFill/>
          <a:ln/>
        </p:spPr>
        <p:txBody>
          <a:bodyPr wrap="square" rtlCol="0" anchor="ctr"/>
          <a:lstStyle/>
          <a:p>
            <a:pPr indent="0" marL="0">
              <a:buNone/>
            </a:pPr>
            <a:r>
              <a:rPr lang="en-US" sz="2000" b="1" dirty="0">
                <a:solidFill>
                  <a:srgbClr val="1C3838"/>
                </a:solidFill>
                <a:latin typeface="Arial" pitchFamily="34" charset="0"/>
                <a:ea typeface="Arial" pitchFamily="34" charset="-122"/>
                <a:cs typeface="Arial" pitchFamily="34" charset="-120"/>
              </a:rPr>
              <a:t>Contexte du projet</a:t>
            </a:r>
            <a:endParaRPr lang="en-US" sz="2000" dirty="0"/>
          </a:p>
        </p:txBody>
      </p:sp>
      <p:sp>
        <p:nvSpPr>
          <p:cNvPr id="4" name="Shape 2"/>
          <p:cNvSpPr/>
          <p:nvPr/>
        </p:nvSpPr>
        <p:spPr>
          <a:xfrm>
            <a:off x="256032" y="667512"/>
            <a:ext cx="8641080" cy="0"/>
          </a:xfrm>
          <a:prstGeom prst="line">
            <a:avLst/>
          </a:prstGeom>
          <a:noFill/>
          <a:ln w="19050">
            <a:solidFill>
              <a:srgbClr val="1ABBA3"/>
            </a:solidFill>
            <a:prstDash val="solid"/>
          </a:ln>
        </p:spPr>
      </p:sp>
      <p:sp>
        <p:nvSpPr>
          <p:cNvPr id="5" name="Shape 3"/>
          <p:cNvSpPr/>
          <p:nvPr/>
        </p:nvSpPr>
        <p:spPr>
          <a:xfrm>
            <a:off x="256032" y="749808"/>
            <a:ext cx="8641080" cy="1115568"/>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6" name="Shape 4"/>
          <p:cNvSpPr/>
          <p:nvPr/>
        </p:nvSpPr>
        <p:spPr>
          <a:xfrm>
            <a:off x="256032" y="749808"/>
            <a:ext cx="50292" cy="1115568"/>
          </a:xfrm>
          <a:prstGeom prst="rect">
            <a:avLst/>
          </a:prstGeom>
          <a:solidFill>
            <a:srgbClr val="1ABBA3"/>
          </a:solidFill>
          <a:ln w="12700">
            <a:solidFill>
              <a:srgbClr val="1ABBA3"/>
            </a:solidFill>
            <a:prstDash val="solid"/>
          </a:ln>
        </p:spPr>
      </p:sp>
      <p:sp>
        <p:nvSpPr>
          <p:cNvPr id="7" name="Text 5"/>
          <p:cNvSpPr/>
          <p:nvPr/>
        </p:nvSpPr>
        <p:spPr>
          <a:xfrm>
            <a:off x="384048" y="786384"/>
            <a:ext cx="8412480" cy="1042416"/>
          </a:xfrm>
          <a:prstGeom prst="rect">
            <a:avLst/>
          </a:prstGeom>
          <a:noFill/>
          <a:ln/>
        </p:spPr>
        <p:txBody>
          <a:bodyPr wrap="square" rtlCol="0" anchor="ctr"/>
          <a:lstStyle/>
          <a:p>
            <a:pPr indent="0" marL="0">
              <a:buNone/>
            </a:pPr>
            <a:r>
              <a:rPr lang="en-US" sz="1050" dirty="0">
                <a:solidFill>
                  <a:srgbClr val="1C3838"/>
                </a:solidFill>
                <a:latin typeface="Arial" pitchFamily="34" charset="0"/>
                <a:ea typeface="Arial" pitchFamily="34" charset="-122"/>
                <a:cs typeface="Arial" pitchFamily="34" charset="-120"/>
              </a:rPr>
              <a:t>Laplace Immo est un réseau national d'agences immobilières souhaitant exploiter les données pour mieux accompagner ses clients et se démarquer de la concurrence. En tant que Data Engineer, j'ai été chargé(e) de concevoir un Proof of Concept (POC) : collecter les transactions immobilières en France, créer une base de données relationnelle structurée et répondre aux besoins analytiques de l'entreprise.</a:t>
            </a:r>
            <a:endParaRPr lang="en-US" sz="1050" dirty="0"/>
          </a:p>
        </p:txBody>
      </p:sp>
      <p:sp>
        <p:nvSpPr>
          <p:cNvPr id="8" name="Shape 6"/>
          <p:cNvSpPr/>
          <p:nvPr/>
        </p:nvSpPr>
        <p:spPr>
          <a:xfrm>
            <a:off x="256032" y="1975104"/>
            <a:ext cx="2788920" cy="2834640"/>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9" name="Shape 7"/>
          <p:cNvSpPr/>
          <p:nvPr/>
        </p:nvSpPr>
        <p:spPr>
          <a:xfrm>
            <a:off x="256032" y="1975104"/>
            <a:ext cx="2788920" cy="329184"/>
          </a:xfrm>
          <a:prstGeom prst="rect">
            <a:avLst/>
          </a:prstGeom>
          <a:solidFill>
            <a:srgbClr val="158F7E"/>
          </a:solidFill>
          <a:ln w="12700">
            <a:solidFill>
              <a:srgbClr val="158F7E"/>
            </a:solidFill>
            <a:prstDash val="solid"/>
          </a:ln>
        </p:spPr>
      </p:sp>
      <p:sp>
        <p:nvSpPr>
          <p:cNvPr id="10" name="Text 8"/>
          <p:cNvSpPr/>
          <p:nvPr/>
        </p:nvSpPr>
        <p:spPr>
          <a:xfrm>
            <a:off x="347472" y="1975104"/>
            <a:ext cx="2651760" cy="329184"/>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Objectif</a:t>
            </a:r>
            <a:endParaRPr lang="en-US" sz="1050" dirty="0"/>
          </a:p>
        </p:txBody>
      </p:sp>
      <p:sp>
        <p:nvSpPr>
          <p:cNvPr id="11" name="Text 9"/>
          <p:cNvSpPr/>
          <p:nvPr/>
        </p:nvSpPr>
        <p:spPr>
          <a:xfrm>
            <a:off x="365760" y="2359152"/>
            <a:ext cx="2606040" cy="2359152"/>
          </a:xfrm>
          <a:prstGeom prst="rect">
            <a:avLst/>
          </a:prstGeom>
          <a:noFill/>
          <a:ln/>
        </p:spPr>
        <p:txBody>
          <a:bodyPr wrap="square" rtlCol="0" anchor="ctr"/>
          <a:lstStyle/>
          <a:p>
            <a:pPr indent="0" marL="0">
              <a:buNone/>
            </a:pPr>
            <a:r>
              <a:rPr lang="en-US" sz="1000" dirty="0">
                <a:solidFill>
                  <a:srgbClr val="1C3838"/>
                </a:solidFill>
                <a:latin typeface="Arial" pitchFamily="34" charset="0"/>
                <a:ea typeface="Arial" pitchFamily="34" charset="-122"/>
                <a:cs typeface="Arial" pitchFamily="34" charset="-120"/>
              </a:rPr>
              <a:t>Suivre l'évolution du prix au m² et identifier les régions où le marché immobilier est le plus porteur.</a:t>
            </a:r>
            <a:endParaRPr lang="en-US" sz="1000" dirty="0"/>
          </a:p>
        </p:txBody>
      </p:sp>
      <p:sp>
        <p:nvSpPr>
          <p:cNvPr id="12" name="Shape 10"/>
          <p:cNvSpPr/>
          <p:nvPr/>
        </p:nvSpPr>
        <p:spPr>
          <a:xfrm>
            <a:off x="3182112" y="1975104"/>
            <a:ext cx="2788920" cy="2834640"/>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13" name="Shape 11"/>
          <p:cNvSpPr/>
          <p:nvPr/>
        </p:nvSpPr>
        <p:spPr>
          <a:xfrm>
            <a:off x="3182112" y="1975104"/>
            <a:ext cx="2788920" cy="329184"/>
          </a:xfrm>
          <a:prstGeom prst="rect">
            <a:avLst/>
          </a:prstGeom>
          <a:solidFill>
            <a:srgbClr val="158F7E"/>
          </a:solidFill>
          <a:ln w="12700">
            <a:solidFill>
              <a:srgbClr val="158F7E"/>
            </a:solidFill>
            <a:prstDash val="solid"/>
          </a:ln>
        </p:spPr>
      </p:sp>
      <p:sp>
        <p:nvSpPr>
          <p:cNvPr id="14" name="Text 12"/>
          <p:cNvSpPr/>
          <p:nvPr/>
        </p:nvSpPr>
        <p:spPr>
          <a:xfrm>
            <a:off x="3273552" y="1975104"/>
            <a:ext cx="2651760" cy="329184"/>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Source de données</a:t>
            </a:r>
            <a:endParaRPr lang="en-US" sz="1050" dirty="0"/>
          </a:p>
        </p:txBody>
      </p:sp>
      <p:sp>
        <p:nvSpPr>
          <p:cNvPr id="15" name="Text 13"/>
          <p:cNvSpPr/>
          <p:nvPr/>
        </p:nvSpPr>
        <p:spPr>
          <a:xfrm>
            <a:off x="3291840" y="2359152"/>
            <a:ext cx="2606040" cy="2359152"/>
          </a:xfrm>
          <a:prstGeom prst="rect">
            <a:avLst/>
          </a:prstGeom>
          <a:noFill/>
          <a:ln/>
        </p:spPr>
        <p:txBody>
          <a:bodyPr wrap="square" rtlCol="0" anchor="ctr"/>
          <a:lstStyle/>
          <a:p>
            <a:pPr indent="0" marL="0">
              <a:buNone/>
            </a:pPr>
            <a:r>
              <a:rPr lang="en-US" sz="1000" dirty="0">
                <a:solidFill>
                  <a:srgbClr val="1C3838"/>
                </a:solidFill>
                <a:latin typeface="Arial" pitchFamily="34" charset="0"/>
                <a:ea typeface="Arial" pitchFamily="34" charset="-122"/>
                <a:cs typeface="Arial" pitchFamily="34" charset="-120"/>
              </a:rPr>
              <a:t>Fichier DVF — Demandes de Valeurs Foncières, fourni par l'État, données portant sur l'année 2020.</a:t>
            </a:r>
            <a:endParaRPr lang="en-US" sz="1000" dirty="0"/>
          </a:p>
        </p:txBody>
      </p:sp>
      <p:sp>
        <p:nvSpPr>
          <p:cNvPr id="16" name="Shape 14"/>
          <p:cNvSpPr/>
          <p:nvPr/>
        </p:nvSpPr>
        <p:spPr>
          <a:xfrm>
            <a:off x="6108192" y="1975104"/>
            <a:ext cx="2788920" cy="2834640"/>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17" name="Shape 15"/>
          <p:cNvSpPr/>
          <p:nvPr/>
        </p:nvSpPr>
        <p:spPr>
          <a:xfrm>
            <a:off x="6108192" y="1975104"/>
            <a:ext cx="2788920" cy="329184"/>
          </a:xfrm>
          <a:prstGeom prst="rect">
            <a:avLst/>
          </a:prstGeom>
          <a:solidFill>
            <a:srgbClr val="158F7E"/>
          </a:solidFill>
          <a:ln w="12700">
            <a:solidFill>
              <a:srgbClr val="158F7E"/>
            </a:solidFill>
            <a:prstDash val="solid"/>
          </a:ln>
        </p:spPr>
      </p:sp>
      <p:sp>
        <p:nvSpPr>
          <p:cNvPr id="18" name="Text 16"/>
          <p:cNvSpPr/>
          <p:nvPr/>
        </p:nvSpPr>
        <p:spPr>
          <a:xfrm>
            <a:off x="6199632" y="1975104"/>
            <a:ext cx="2651760" cy="329184"/>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Démarche</a:t>
            </a:r>
            <a:endParaRPr lang="en-US" sz="1050" dirty="0"/>
          </a:p>
        </p:txBody>
      </p:sp>
      <p:sp>
        <p:nvSpPr>
          <p:cNvPr id="19" name="Text 17"/>
          <p:cNvSpPr/>
          <p:nvPr/>
        </p:nvSpPr>
        <p:spPr>
          <a:xfrm>
            <a:off x="6217920" y="2359152"/>
            <a:ext cx="2606040" cy="2359152"/>
          </a:xfrm>
          <a:prstGeom prst="rect">
            <a:avLst/>
          </a:prstGeom>
          <a:noFill/>
          <a:ln/>
        </p:spPr>
        <p:txBody>
          <a:bodyPr wrap="square" rtlCol="0" anchor="ctr"/>
          <a:lstStyle/>
          <a:p>
            <a:pPr indent="0" marL="0">
              <a:buNone/>
            </a:pPr>
            <a:r>
              <a:rPr lang="en-US" sz="1000" dirty="0">
                <a:solidFill>
                  <a:srgbClr val="1C3838"/>
                </a:solidFill>
                <a:latin typeface="Arial" pitchFamily="34" charset="0"/>
                <a:ea typeface="Arial" pitchFamily="34" charset="-122"/>
                <a:cs typeface="Arial" pitchFamily="34" charset="-120"/>
              </a:rPr>
              <a:t>Compréhension → Dictionnaire → Schéma 3NF → Création BDD SQLite → Import CSV → Requêtes SQL analytiques.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5F4"/>
        </a:solidFill>
      </p:bgPr>
    </p:bg>
    <p:spTree>
      <p:nvGrpSpPr>
        <p:cNvPr id="1" name=""/>
        <p:cNvGrpSpPr/>
        <p:nvPr/>
      </p:nvGrpSpPr>
      <p:grpSpPr>
        <a:xfrm>
          <a:off x="0" y="0"/>
          <a:ext cx="0" cy="0"/>
          <a:chOff x="0" y="0"/>
          <a:chExt cx="0" cy="0"/>
        </a:xfrm>
      </p:grpSpPr>
      <p:sp>
        <p:nvSpPr>
          <p:cNvPr id="2" name="Shape 0"/>
          <p:cNvSpPr/>
          <p:nvPr/>
        </p:nvSpPr>
        <p:spPr>
          <a:xfrm>
            <a:off x="256032" y="164592"/>
            <a:ext cx="50292" cy="475488"/>
          </a:xfrm>
          <a:prstGeom prst="rect">
            <a:avLst/>
          </a:prstGeom>
          <a:solidFill>
            <a:srgbClr val="158F7E"/>
          </a:solidFill>
          <a:ln w="12700">
            <a:solidFill>
              <a:srgbClr val="158F7E"/>
            </a:solidFill>
            <a:prstDash val="solid"/>
          </a:ln>
        </p:spPr>
      </p:sp>
      <p:sp>
        <p:nvSpPr>
          <p:cNvPr id="3" name="Text 1"/>
          <p:cNvSpPr/>
          <p:nvPr/>
        </p:nvSpPr>
        <p:spPr>
          <a:xfrm>
            <a:off x="365760" y="109728"/>
            <a:ext cx="8412480" cy="566928"/>
          </a:xfrm>
          <a:prstGeom prst="rect">
            <a:avLst/>
          </a:prstGeom>
          <a:noFill/>
          <a:ln/>
        </p:spPr>
        <p:txBody>
          <a:bodyPr wrap="square" rtlCol="0" anchor="ctr"/>
          <a:lstStyle/>
          <a:p>
            <a:pPr indent="0" marL="0">
              <a:buNone/>
            </a:pPr>
            <a:r>
              <a:rPr lang="en-US" sz="2000" b="1" dirty="0">
                <a:solidFill>
                  <a:srgbClr val="1C3838"/>
                </a:solidFill>
                <a:latin typeface="Arial" pitchFamily="34" charset="0"/>
                <a:ea typeface="Arial" pitchFamily="34" charset="-122"/>
                <a:cs typeface="Arial" pitchFamily="34" charset="-120"/>
              </a:rPr>
              <a:t>Transformation des données</a:t>
            </a:r>
            <a:endParaRPr lang="en-US" sz="2000" dirty="0"/>
          </a:p>
        </p:txBody>
      </p:sp>
      <p:sp>
        <p:nvSpPr>
          <p:cNvPr id="4" name="Shape 2"/>
          <p:cNvSpPr/>
          <p:nvPr/>
        </p:nvSpPr>
        <p:spPr>
          <a:xfrm>
            <a:off x="256032" y="667512"/>
            <a:ext cx="8641080" cy="0"/>
          </a:xfrm>
          <a:prstGeom prst="line">
            <a:avLst/>
          </a:prstGeom>
          <a:noFill/>
          <a:ln w="19050">
            <a:solidFill>
              <a:srgbClr val="1ABBA3"/>
            </a:solidFill>
            <a:prstDash val="solid"/>
          </a:ln>
        </p:spPr>
      </p:sp>
      <p:sp>
        <p:nvSpPr>
          <p:cNvPr id="5" name="Shape 3"/>
          <p:cNvSpPr/>
          <p:nvPr/>
        </p:nvSpPr>
        <p:spPr>
          <a:xfrm>
            <a:off x="256032" y="749808"/>
            <a:ext cx="4160520" cy="4069080"/>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6" name="Shape 4"/>
          <p:cNvSpPr/>
          <p:nvPr/>
        </p:nvSpPr>
        <p:spPr>
          <a:xfrm>
            <a:off x="256032" y="749808"/>
            <a:ext cx="4160520" cy="329184"/>
          </a:xfrm>
          <a:prstGeom prst="rect">
            <a:avLst/>
          </a:prstGeom>
          <a:solidFill>
            <a:srgbClr val="158F7E"/>
          </a:solidFill>
          <a:ln w="12700">
            <a:solidFill>
              <a:srgbClr val="158F7E"/>
            </a:solidFill>
            <a:prstDash val="solid"/>
          </a:ln>
        </p:spPr>
      </p:sp>
      <p:sp>
        <p:nvSpPr>
          <p:cNvPr id="7" name="Text 5"/>
          <p:cNvSpPr/>
          <p:nvPr/>
        </p:nvSpPr>
        <p:spPr>
          <a:xfrm>
            <a:off x="347472" y="749808"/>
            <a:ext cx="3977640" cy="329184"/>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Colonnes conservées</a:t>
            </a:r>
            <a:endParaRPr lang="en-US" sz="1050" dirty="0"/>
          </a:p>
        </p:txBody>
      </p:sp>
      <p:sp>
        <p:nvSpPr>
          <p:cNvPr id="8" name="Shape 6"/>
          <p:cNvSpPr/>
          <p:nvPr/>
        </p:nvSpPr>
        <p:spPr>
          <a:xfrm>
            <a:off x="320040" y="1143000"/>
            <a:ext cx="4041648" cy="310896"/>
          </a:xfrm>
          <a:prstGeom prst="rect">
            <a:avLst/>
          </a:prstGeom>
          <a:solidFill>
            <a:srgbClr val="F3FAFA"/>
          </a:solidFill>
          <a:ln w="5080">
            <a:solidFill>
              <a:srgbClr val="E0EEEE"/>
            </a:solidFill>
            <a:prstDash val="solid"/>
          </a:ln>
        </p:spPr>
      </p:sp>
      <p:sp>
        <p:nvSpPr>
          <p:cNvPr id="9" name="Text 7"/>
          <p:cNvSpPr/>
          <p:nvPr/>
        </p:nvSpPr>
        <p:spPr>
          <a:xfrm>
            <a:off x="365760" y="1152144"/>
            <a:ext cx="1828800" cy="274320"/>
          </a:xfrm>
          <a:prstGeom prst="rect">
            <a:avLst/>
          </a:prstGeom>
          <a:noFill/>
          <a:ln/>
        </p:spPr>
        <p:txBody>
          <a:bodyPr wrap="square" rtlCol="0" anchor="ctr"/>
          <a:lstStyle/>
          <a:p>
            <a:pPr indent="0" marL="0">
              <a:buNone/>
            </a:pPr>
            <a:r>
              <a:rPr lang="en-US" sz="850" b="1" dirty="0">
                <a:solidFill>
                  <a:srgbClr val="158F7E"/>
                </a:solidFill>
                <a:latin typeface="Arial" pitchFamily="34" charset="0"/>
                <a:ea typeface="Arial" pitchFamily="34" charset="-122"/>
                <a:cs typeface="Arial" pitchFamily="34" charset="-120"/>
              </a:rPr>
              <a:t>Id_bien</a:t>
            </a:r>
            <a:endParaRPr lang="en-US" sz="850" dirty="0"/>
          </a:p>
        </p:txBody>
      </p:sp>
      <p:sp>
        <p:nvSpPr>
          <p:cNvPr id="10" name="Text 8"/>
          <p:cNvSpPr/>
          <p:nvPr/>
        </p:nvSpPr>
        <p:spPr>
          <a:xfrm>
            <a:off x="2212848" y="1152144"/>
            <a:ext cx="2011680" cy="274320"/>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PK auto-incrémenté (bien_immo)</a:t>
            </a:r>
            <a:endParaRPr lang="en-US" sz="800" dirty="0"/>
          </a:p>
        </p:txBody>
      </p:sp>
      <p:sp>
        <p:nvSpPr>
          <p:cNvPr id="11" name="Shape 9"/>
          <p:cNvSpPr/>
          <p:nvPr/>
        </p:nvSpPr>
        <p:spPr>
          <a:xfrm>
            <a:off x="320040" y="1472184"/>
            <a:ext cx="4041648" cy="310896"/>
          </a:xfrm>
          <a:prstGeom prst="rect">
            <a:avLst/>
          </a:prstGeom>
          <a:solidFill>
            <a:srgbClr val="FFFFFF"/>
          </a:solidFill>
          <a:ln w="5080">
            <a:solidFill>
              <a:srgbClr val="E0EEEE"/>
            </a:solidFill>
            <a:prstDash val="solid"/>
          </a:ln>
        </p:spPr>
      </p:sp>
      <p:sp>
        <p:nvSpPr>
          <p:cNvPr id="12" name="Text 10"/>
          <p:cNvSpPr/>
          <p:nvPr/>
        </p:nvSpPr>
        <p:spPr>
          <a:xfrm>
            <a:off x="365760" y="1481328"/>
            <a:ext cx="1828800" cy="274320"/>
          </a:xfrm>
          <a:prstGeom prst="rect">
            <a:avLst/>
          </a:prstGeom>
          <a:noFill/>
          <a:ln/>
        </p:spPr>
        <p:txBody>
          <a:bodyPr wrap="square" rtlCol="0" anchor="ctr"/>
          <a:lstStyle/>
          <a:p>
            <a:pPr indent="0" marL="0">
              <a:buNone/>
            </a:pPr>
            <a:r>
              <a:rPr lang="en-US" sz="850" b="1" dirty="0">
                <a:solidFill>
                  <a:srgbClr val="158F7E"/>
                </a:solidFill>
                <a:latin typeface="Arial" pitchFamily="34" charset="0"/>
                <a:ea typeface="Arial" pitchFamily="34" charset="-122"/>
                <a:cs typeface="Arial" pitchFamily="34" charset="-120"/>
              </a:rPr>
              <a:t>id_codedep_codecommune</a:t>
            </a:r>
            <a:endParaRPr lang="en-US" sz="850" dirty="0"/>
          </a:p>
        </p:txBody>
      </p:sp>
      <p:sp>
        <p:nvSpPr>
          <p:cNvPr id="13" name="Text 11"/>
          <p:cNvSpPr/>
          <p:nvPr/>
        </p:nvSpPr>
        <p:spPr>
          <a:xfrm>
            <a:off x="2212848" y="1481328"/>
            <a:ext cx="2011680" cy="274320"/>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PK concaténée — code_dep + code_commune</a:t>
            </a:r>
            <a:endParaRPr lang="en-US" sz="800" dirty="0"/>
          </a:p>
        </p:txBody>
      </p:sp>
      <p:sp>
        <p:nvSpPr>
          <p:cNvPr id="14" name="Shape 12"/>
          <p:cNvSpPr/>
          <p:nvPr/>
        </p:nvSpPr>
        <p:spPr>
          <a:xfrm>
            <a:off x="320040" y="1801368"/>
            <a:ext cx="4041648" cy="310896"/>
          </a:xfrm>
          <a:prstGeom prst="rect">
            <a:avLst/>
          </a:prstGeom>
          <a:solidFill>
            <a:srgbClr val="F3FAFA"/>
          </a:solidFill>
          <a:ln w="5080">
            <a:solidFill>
              <a:srgbClr val="E0EEEE"/>
            </a:solidFill>
            <a:prstDash val="solid"/>
          </a:ln>
        </p:spPr>
      </p:sp>
      <p:sp>
        <p:nvSpPr>
          <p:cNvPr id="15" name="Text 13"/>
          <p:cNvSpPr/>
          <p:nvPr/>
        </p:nvSpPr>
        <p:spPr>
          <a:xfrm>
            <a:off x="365760" y="1810512"/>
            <a:ext cx="1828800" cy="274320"/>
          </a:xfrm>
          <a:prstGeom prst="rect">
            <a:avLst/>
          </a:prstGeom>
          <a:noFill/>
          <a:ln/>
        </p:spPr>
        <p:txBody>
          <a:bodyPr wrap="square" rtlCol="0" anchor="ctr"/>
          <a:lstStyle/>
          <a:p>
            <a:pPr indent="0" marL="0">
              <a:buNone/>
            </a:pPr>
            <a:r>
              <a:rPr lang="en-US" sz="850" b="1" dirty="0">
                <a:solidFill>
                  <a:srgbClr val="158F7E"/>
                </a:solidFill>
                <a:latin typeface="Arial" pitchFamily="34" charset="0"/>
                <a:ea typeface="Arial" pitchFamily="34" charset="-122"/>
                <a:cs typeface="Arial" pitchFamily="34" charset="-120"/>
              </a:rPr>
              <a:t>Code_departement</a:t>
            </a:r>
            <a:endParaRPr lang="en-US" sz="850" dirty="0"/>
          </a:p>
        </p:txBody>
      </p:sp>
      <p:sp>
        <p:nvSpPr>
          <p:cNvPr id="16" name="Text 14"/>
          <p:cNvSpPr/>
          <p:nvPr/>
        </p:nvSpPr>
        <p:spPr>
          <a:xfrm>
            <a:off x="2212848" y="1810512"/>
            <a:ext cx="2011680" cy="274320"/>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Nécessaire pour les requêtes géographiques</a:t>
            </a:r>
            <a:endParaRPr lang="en-US" sz="800" dirty="0"/>
          </a:p>
        </p:txBody>
      </p:sp>
      <p:sp>
        <p:nvSpPr>
          <p:cNvPr id="17" name="Shape 15"/>
          <p:cNvSpPr/>
          <p:nvPr/>
        </p:nvSpPr>
        <p:spPr>
          <a:xfrm>
            <a:off x="320040" y="2130552"/>
            <a:ext cx="4041648" cy="310896"/>
          </a:xfrm>
          <a:prstGeom prst="rect">
            <a:avLst/>
          </a:prstGeom>
          <a:solidFill>
            <a:srgbClr val="FFFFFF"/>
          </a:solidFill>
          <a:ln w="5080">
            <a:solidFill>
              <a:srgbClr val="E0EEEE"/>
            </a:solidFill>
            <a:prstDash val="solid"/>
          </a:ln>
        </p:spPr>
      </p:sp>
      <p:sp>
        <p:nvSpPr>
          <p:cNvPr id="18" name="Text 16"/>
          <p:cNvSpPr/>
          <p:nvPr/>
        </p:nvSpPr>
        <p:spPr>
          <a:xfrm>
            <a:off x="365760" y="2139696"/>
            <a:ext cx="1828800" cy="274320"/>
          </a:xfrm>
          <a:prstGeom prst="rect">
            <a:avLst/>
          </a:prstGeom>
          <a:noFill/>
          <a:ln/>
        </p:spPr>
        <p:txBody>
          <a:bodyPr wrap="square" rtlCol="0" anchor="ctr"/>
          <a:lstStyle/>
          <a:p>
            <a:pPr indent="0" marL="0">
              <a:buNone/>
            </a:pPr>
            <a:r>
              <a:rPr lang="en-US" sz="850" b="1" dirty="0">
                <a:solidFill>
                  <a:srgbClr val="158F7E"/>
                </a:solidFill>
                <a:latin typeface="Arial" pitchFamily="34" charset="0"/>
                <a:ea typeface="Arial" pitchFamily="34" charset="-122"/>
                <a:cs typeface="Arial" pitchFamily="34" charset="-120"/>
              </a:rPr>
              <a:t>Commune</a:t>
            </a:r>
            <a:endParaRPr lang="en-US" sz="850" dirty="0"/>
          </a:p>
        </p:txBody>
      </p:sp>
      <p:sp>
        <p:nvSpPr>
          <p:cNvPr id="19" name="Text 17"/>
          <p:cNvSpPr/>
          <p:nvPr/>
        </p:nvSpPr>
        <p:spPr>
          <a:xfrm>
            <a:off x="2212848" y="2139696"/>
            <a:ext cx="2011680" cy="274320"/>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Nom de la commune</a:t>
            </a:r>
            <a:endParaRPr lang="en-US" sz="800" dirty="0"/>
          </a:p>
        </p:txBody>
      </p:sp>
      <p:sp>
        <p:nvSpPr>
          <p:cNvPr id="20" name="Shape 18"/>
          <p:cNvSpPr/>
          <p:nvPr/>
        </p:nvSpPr>
        <p:spPr>
          <a:xfrm>
            <a:off x="320040" y="2459736"/>
            <a:ext cx="4041648" cy="310896"/>
          </a:xfrm>
          <a:prstGeom prst="rect">
            <a:avLst/>
          </a:prstGeom>
          <a:solidFill>
            <a:srgbClr val="F3FAFA"/>
          </a:solidFill>
          <a:ln w="5080">
            <a:solidFill>
              <a:srgbClr val="E0EEEE"/>
            </a:solidFill>
            <a:prstDash val="solid"/>
          </a:ln>
        </p:spPr>
      </p:sp>
      <p:sp>
        <p:nvSpPr>
          <p:cNvPr id="21" name="Text 19"/>
          <p:cNvSpPr/>
          <p:nvPr/>
        </p:nvSpPr>
        <p:spPr>
          <a:xfrm>
            <a:off x="365760" y="2468880"/>
            <a:ext cx="1828800" cy="274320"/>
          </a:xfrm>
          <a:prstGeom prst="rect">
            <a:avLst/>
          </a:prstGeom>
          <a:noFill/>
          <a:ln/>
        </p:spPr>
        <p:txBody>
          <a:bodyPr wrap="square" rtlCol="0" anchor="ctr"/>
          <a:lstStyle/>
          <a:p>
            <a:pPr indent="0" marL="0">
              <a:buNone/>
            </a:pPr>
            <a:r>
              <a:rPr lang="en-US" sz="850" b="1" dirty="0">
                <a:solidFill>
                  <a:srgbClr val="158F7E"/>
                </a:solidFill>
                <a:latin typeface="Arial" pitchFamily="34" charset="0"/>
                <a:ea typeface="Arial" pitchFamily="34" charset="-122"/>
                <a:cs typeface="Arial" pitchFamily="34" charset="-120"/>
              </a:rPr>
              <a:t>id_region</a:t>
            </a:r>
            <a:endParaRPr lang="en-US" sz="850" dirty="0"/>
          </a:p>
        </p:txBody>
      </p:sp>
      <p:sp>
        <p:nvSpPr>
          <p:cNvPr id="22" name="Text 20"/>
          <p:cNvSpPr/>
          <p:nvPr/>
        </p:nvSpPr>
        <p:spPr>
          <a:xfrm>
            <a:off x="2212848" y="2468880"/>
            <a:ext cx="2011680" cy="274320"/>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FK vers la table region (3NF)</a:t>
            </a:r>
            <a:endParaRPr lang="en-US" sz="800" dirty="0"/>
          </a:p>
        </p:txBody>
      </p:sp>
      <p:sp>
        <p:nvSpPr>
          <p:cNvPr id="23" name="Shape 21"/>
          <p:cNvSpPr/>
          <p:nvPr/>
        </p:nvSpPr>
        <p:spPr>
          <a:xfrm>
            <a:off x="320040" y="2788920"/>
            <a:ext cx="4041648" cy="310896"/>
          </a:xfrm>
          <a:prstGeom prst="rect">
            <a:avLst/>
          </a:prstGeom>
          <a:solidFill>
            <a:srgbClr val="FFFFFF"/>
          </a:solidFill>
          <a:ln w="5080">
            <a:solidFill>
              <a:srgbClr val="E0EEEE"/>
            </a:solidFill>
            <a:prstDash val="solid"/>
          </a:ln>
        </p:spPr>
      </p:sp>
      <p:sp>
        <p:nvSpPr>
          <p:cNvPr id="24" name="Text 22"/>
          <p:cNvSpPr/>
          <p:nvPr/>
        </p:nvSpPr>
        <p:spPr>
          <a:xfrm>
            <a:off x="365760" y="2798064"/>
            <a:ext cx="1828800" cy="274320"/>
          </a:xfrm>
          <a:prstGeom prst="rect">
            <a:avLst/>
          </a:prstGeom>
          <a:noFill/>
          <a:ln/>
        </p:spPr>
        <p:txBody>
          <a:bodyPr wrap="square" rtlCol="0" anchor="ctr"/>
          <a:lstStyle/>
          <a:p>
            <a:pPr indent="0" marL="0">
              <a:buNone/>
            </a:pPr>
            <a:r>
              <a:rPr lang="en-US" sz="850" b="1" dirty="0">
                <a:solidFill>
                  <a:srgbClr val="158F7E"/>
                </a:solidFill>
                <a:latin typeface="Arial" pitchFamily="34" charset="0"/>
                <a:ea typeface="Arial" pitchFamily="34" charset="-122"/>
                <a:cs typeface="Arial" pitchFamily="34" charset="-120"/>
              </a:rPr>
              <a:t>nom_region</a:t>
            </a:r>
            <a:endParaRPr lang="en-US" sz="850" dirty="0"/>
          </a:p>
        </p:txBody>
      </p:sp>
      <p:sp>
        <p:nvSpPr>
          <p:cNvPr id="25" name="Text 23"/>
          <p:cNvSpPr/>
          <p:nvPr/>
        </p:nvSpPr>
        <p:spPr>
          <a:xfrm>
            <a:off x="2212848" y="2798064"/>
            <a:ext cx="2011680" cy="274320"/>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Nom officiel de la région</a:t>
            </a:r>
            <a:endParaRPr lang="en-US" sz="800" dirty="0"/>
          </a:p>
        </p:txBody>
      </p:sp>
      <p:sp>
        <p:nvSpPr>
          <p:cNvPr id="26" name="Shape 24"/>
          <p:cNvSpPr/>
          <p:nvPr/>
        </p:nvSpPr>
        <p:spPr>
          <a:xfrm>
            <a:off x="320040" y="3118104"/>
            <a:ext cx="4041648" cy="310896"/>
          </a:xfrm>
          <a:prstGeom prst="rect">
            <a:avLst/>
          </a:prstGeom>
          <a:solidFill>
            <a:srgbClr val="F3FAFA"/>
          </a:solidFill>
          <a:ln w="5080">
            <a:solidFill>
              <a:srgbClr val="E0EEEE"/>
            </a:solidFill>
            <a:prstDash val="solid"/>
          </a:ln>
        </p:spPr>
      </p:sp>
      <p:sp>
        <p:nvSpPr>
          <p:cNvPr id="27" name="Text 25"/>
          <p:cNvSpPr/>
          <p:nvPr/>
        </p:nvSpPr>
        <p:spPr>
          <a:xfrm>
            <a:off x="365760" y="3127248"/>
            <a:ext cx="1828800" cy="274320"/>
          </a:xfrm>
          <a:prstGeom prst="rect">
            <a:avLst/>
          </a:prstGeom>
          <a:noFill/>
          <a:ln/>
        </p:spPr>
        <p:txBody>
          <a:bodyPr wrap="square" rtlCol="0" anchor="ctr"/>
          <a:lstStyle/>
          <a:p>
            <a:pPr indent="0" marL="0">
              <a:buNone/>
            </a:pPr>
            <a:r>
              <a:rPr lang="en-US" sz="850" b="1" dirty="0">
                <a:solidFill>
                  <a:srgbClr val="158F7E"/>
                </a:solidFill>
                <a:latin typeface="Arial" pitchFamily="34" charset="0"/>
                <a:ea typeface="Arial" pitchFamily="34" charset="-122"/>
                <a:cs typeface="Arial" pitchFamily="34" charset="-120"/>
              </a:rPr>
              <a:t>Surface</a:t>
            </a:r>
            <a:endParaRPr lang="en-US" sz="850" dirty="0"/>
          </a:p>
        </p:txBody>
      </p:sp>
      <p:sp>
        <p:nvSpPr>
          <p:cNvPr id="28" name="Text 26"/>
          <p:cNvSpPr/>
          <p:nvPr/>
        </p:nvSpPr>
        <p:spPr>
          <a:xfrm>
            <a:off x="2212848" y="3127248"/>
            <a:ext cx="2011680" cy="274320"/>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Surface en m² — utilisée pour le prix/m²</a:t>
            </a:r>
            <a:endParaRPr lang="en-US" sz="800" dirty="0"/>
          </a:p>
        </p:txBody>
      </p:sp>
      <p:sp>
        <p:nvSpPr>
          <p:cNvPr id="29" name="Shape 27"/>
          <p:cNvSpPr/>
          <p:nvPr/>
        </p:nvSpPr>
        <p:spPr>
          <a:xfrm>
            <a:off x="320040" y="3447288"/>
            <a:ext cx="4041648" cy="310896"/>
          </a:xfrm>
          <a:prstGeom prst="rect">
            <a:avLst/>
          </a:prstGeom>
          <a:solidFill>
            <a:srgbClr val="FFFFFF"/>
          </a:solidFill>
          <a:ln w="5080">
            <a:solidFill>
              <a:srgbClr val="E0EEEE"/>
            </a:solidFill>
            <a:prstDash val="solid"/>
          </a:ln>
        </p:spPr>
      </p:sp>
      <p:sp>
        <p:nvSpPr>
          <p:cNvPr id="30" name="Text 28"/>
          <p:cNvSpPr/>
          <p:nvPr/>
        </p:nvSpPr>
        <p:spPr>
          <a:xfrm>
            <a:off x="365760" y="3456432"/>
            <a:ext cx="1828800" cy="274320"/>
          </a:xfrm>
          <a:prstGeom prst="rect">
            <a:avLst/>
          </a:prstGeom>
          <a:noFill/>
          <a:ln/>
        </p:spPr>
        <p:txBody>
          <a:bodyPr wrap="square" rtlCol="0" anchor="ctr"/>
          <a:lstStyle/>
          <a:p>
            <a:pPr indent="0" marL="0">
              <a:buNone/>
            </a:pPr>
            <a:r>
              <a:rPr lang="en-US" sz="850" b="1" dirty="0">
                <a:solidFill>
                  <a:srgbClr val="158F7E"/>
                </a:solidFill>
                <a:latin typeface="Arial" pitchFamily="34" charset="0"/>
                <a:ea typeface="Arial" pitchFamily="34" charset="-122"/>
                <a:cs typeface="Arial" pitchFamily="34" charset="-120"/>
              </a:rPr>
              <a:t>Type_local</a:t>
            </a:r>
            <a:endParaRPr lang="en-US" sz="850" dirty="0"/>
          </a:p>
        </p:txBody>
      </p:sp>
      <p:sp>
        <p:nvSpPr>
          <p:cNvPr id="31" name="Text 29"/>
          <p:cNvSpPr/>
          <p:nvPr/>
        </p:nvSpPr>
        <p:spPr>
          <a:xfrm>
            <a:off x="2212848" y="3456432"/>
            <a:ext cx="2011680" cy="274320"/>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Appartement / Maison — filtre clé des requêtes</a:t>
            </a:r>
            <a:endParaRPr lang="en-US" sz="800" dirty="0"/>
          </a:p>
        </p:txBody>
      </p:sp>
      <p:sp>
        <p:nvSpPr>
          <p:cNvPr id="32" name="Shape 30"/>
          <p:cNvSpPr/>
          <p:nvPr/>
        </p:nvSpPr>
        <p:spPr>
          <a:xfrm>
            <a:off x="320040" y="3776472"/>
            <a:ext cx="4041648" cy="310896"/>
          </a:xfrm>
          <a:prstGeom prst="rect">
            <a:avLst/>
          </a:prstGeom>
          <a:solidFill>
            <a:srgbClr val="F3FAFA"/>
          </a:solidFill>
          <a:ln w="5080">
            <a:solidFill>
              <a:srgbClr val="E0EEEE"/>
            </a:solidFill>
            <a:prstDash val="solid"/>
          </a:ln>
        </p:spPr>
      </p:sp>
      <p:sp>
        <p:nvSpPr>
          <p:cNvPr id="33" name="Text 31"/>
          <p:cNvSpPr/>
          <p:nvPr/>
        </p:nvSpPr>
        <p:spPr>
          <a:xfrm>
            <a:off x="365760" y="3785616"/>
            <a:ext cx="1828800" cy="274320"/>
          </a:xfrm>
          <a:prstGeom prst="rect">
            <a:avLst/>
          </a:prstGeom>
          <a:noFill/>
          <a:ln/>
        </p:spPr>
        <p:txBody>
          <a:bodyPr wrap="square" rtlCol="0" anchor="ctr"/>
          <a:lstStyle/>
          <a:p>
            <a:pPr indent="0" marL="0">
              <a:buNone/>
            </a:pPr>
            <a:r>
              <a:rPr lang="en-US" sz="850" b="1" dirty="0">
                <a:solidFill>
                  <a:srgbClr val="158F7E"/>
                </a:solidFill>
                <a:latin typeface="Arial" pitchFamily="34" charset="0"/>
                <a:ea typeface="Arial" pitchFamily="34" charset="-122"/>
                <a:cs typeface="Arial" pitchFamily="34" charset="-120"/>
              </a:rPr>
              <a:t>Total_piece</a:t>
            </a:r>
            <a:endParaRPr lang="en-US" sz="850" dirty="0"/>
          </a:p>
        </p:txBody>
      </p:sp>
      <p:sp>
        <p:nvSpPr>
          <p:cNvPr id="34" name="Text 32"/>
          <p:cNvSpPr/>
          <p:nvPr/>
        </p:nvSpPr>
        <p:spPr>
          <a:xfrm>
            <a:off x="2212848" y="3785616"/>
            <a:ext cx="2011680" cy="274320"/>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Nombre de pièces</a:t>
            </a:r>
            <a:endParaRPr lang="en-US" sz="800" dirty="0"/>
          </a:p>
        </p:txBody>
      </p:sp>
      <p:sp>
        <p:nvSpPr>
          <p:cNvPr id="35" name="Shape 33"/>
          <p:cNvSpPr/>
          <p:nvPr/>
        </p:nvSpPr>
        <p:spPr>
          <a:xfrm>
            <a:off x="320040" y="4105656"/>
            <a:ext cx="4041648" cy="310896"/>
          </a:xfrm>
          <a:prstGeom prst="rect">
            <a:avLst/>
          </a:prstGeom>
          <a:solidFill>
            <a:srgbClr val="FFFFFF"/>
          </a:solidFill>
          <a:ln w="5080">
            <a:solidFill>
              <a:srgbClr val="E0EEEE"/>
            </a:solidFill>
            <a:prstDash val="solid"/>
          </a:ln>
        </p:spPr>
      </p:sp>
      <p:sp>
        <p:nvSpPr>
          <p:cNvPr id="36" name="Text 34"/>
          <p:cNvSpPr/>
          <p:nvPr/>
        </p:nvSpPr>
        <p:spPr>
          <a:xfrm>
            <a:off x="365760" y="4114800"/>
            <a:ext cx="1828800" cy="274320"/>
          </a:xfrm>
          <a:prstGeom prst="rect">
            <a:avLst/>
          </a:prstGeom>
          <a:noFill/>
          <a:ln/>
        </p:spPr>
        <p:txBody>
          <a:bodyPr wrap="square" rtlCol="0" anchor="ctr"/>
          <a:lstStyle/>
          <a:p>
            <a:pPr indent="0" marL="0">
              <a:buNone/>
            </a:pPr>
            <a:r>
              <a:rPr lang="en-US" sz="850" b="1" dirty="0">
                <a:solidFill>
                  <a:srgbClr val="158F7E"/>
                </a:solidFill>
                <a:latin typeface="Arial" pitchFamily="34" charset="0"/>
                <a:ea typeface="Arial" pitchFamily="34" charset="-122"/>
                <a:cs typeface="Arial" pitchFamily="34" charset="-120"/>
              </a:rPr>
              <a:t>Id_vente / Date_vente</a:t>
            </a:r>
            <a:endParaRPr lang="en-US" sz="850" dirty="0"/>
          </a:p>
        </p:txBody>
      </p:sp>
      <p:sp>
        <p:nvSpPr>
          <p:cNvPr id="37" name="Text 35"/>
          <p:cNvSpPr/>
          <p:nvPr/>
        </p:nvSpPr>
        <p:spPr>
          <a:xfrm>
            <a:off x="2212848" y="4114800"/>
            <a:ext cx="2011680" cy="274320"/>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PK transaction + date de vente</a:t>
            </a:r>
            <a:endParaRPr lang="en-US" sz="800" dirty="0"/>
          </a:p>
        </p:txBody>
      </p:sp>
      <p:sp>
        <p:nvSpPr>
          <p:cNvPr id="38" name="Shape 36"/>
          <p:cNvSpPr/>
          <p:nvPr/>
        </p:nvSpPr>
        <p:spPr>
          <a:xfrm>
            <a:off x="320040" y="4434840"/>
            <a:ext cx="4041648" cy="310896"/>
          </a:xfrm>
          <a:prstGeom prst="rect">
            <a:avLst/>
          </a:prstGeom>
          <a:solidFill>
            <a:srgbClr val="F3FAFA"/>
          </a:solidFill>
          <a:ln w="5080">
            <a:solidFill>
              <a:srgbClr val="E0EEEE"/>
            </a:solidFill>
            <a:prstDash val="solid"/>
          </a:ln>
        </p:spPr>
      </p:sp>
      <p:sp>
        <p:nvSpPr>
          <p:cNvPr id="39" name="Text 37"/>
          <p:cNvSpPr/>
          <p:nvPr/>
        </p:nvSpPr>
        <p:spPr>
          <a:xfrm>
            <a:off x="365760" y="4443984"/>
            <a:ext cx="1828800" cy="274320"/>
          </a:xfrm>
          <a:prstGeom prst="rect">
            <a:avLst/>
          </a:prstGeom>
          <a:noFill/>
          <a:ln/>
        </p:spPr>
        <p:txBody>
          <a:bodyPr wrap="square" rtlCol="0" anchor="ctr"/>
          <a:lstStyle/>
          <a:p>
            <a:pPr indent="0" marL="0">
              <a:buNone/>
            </a:pPr>
            <a:r>
              <a:rPr lang="en-US" sz="850" b="1" dirty="0">
                <a:solidFill>
                  <a:srgbClr val="158F7E"/>
                </a:solidFill>
                <a:latin typeface="Arial" pitchFamily="34" charset="0"/>
                <a:ea typeface="Arial" pitchFamily="34" charset="-122"/>
                <a:cs typeface="Arial" pitchFamily="34" charset="-120"/>
              </a:rPr>
              <a:t>Valeur_fonciere</a:t>
            </a:r>
            <a:endParaRPr lang="en-US" sz="850" dirty="0"/>
          </a:p>
        </p:txBody>
      </p:sp>
      <p:sp>
        <p:nvSpPr>
          <p:cNvPr id="40" name="Text 38"/>
          <p:cNvSpPr/>
          <p:nvPr/>
        </p:nvSpPr>
        <p:spPr>
          <a:xfrm>
            <a:off x="2212848" y="4443984"/>
            <a:ext cx="2011680" cy="274320"/>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Prix de vente en € — donnée centrale</a:t>
            </a:r>
            <a:endParaRPr lang="en-US" sz="800" dirty="0"/>
          </a:p>
        </p:txBody>
      </p:sp>
      <p:sp>
        <p:nvSpPr>
          <p:cNvPr id="41" name="Shape 39"/>
          <p:cNvSpPr/>
          <p:nvPr/>
        </p:nvSpPr>
        <p:spPr>
          <a:xfrm>
            <a:off x="4736592" y="749808"/>
            <a:ext cx="4160520" cy="4069080"/>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42" name="Shape 40"/>
          <p:cNvSpPr/>
          <p:nvPr/>
        </p:nvSpPr>
        <p:spPr>
          <a:xfrm>
            <a:off x="4736592" y="749808"/>
            <a:ext cx="4160520" cy="329184"/>
          </a:xfrm>
          <a:prstGeom prst="rect">
            <a:avLst/>
          </a:prstGeom>
          <a:solidFill>
            <a:srgbClr val="B94A52"/>
          </a:solidFill>
          <a:ln w="12700">
            <a:solidFill>
              <a:srgbClr val="B94A52"/>
            </a:solidFill>
            <a:prstDash val="solid"/>
          </a:ln>
        </p:spPr>
      </p:sp>
      <p:sp>
        <p:nvSpPr>
          <p:cNvPr id="43" name="Text 41"/>
          <p:cNvSpPr/>
          <p:nvPr/>
        </p:nvSpPr>
        <p:spPr>
          <a:xfrm>
            <a:off x="4828032" y="749808"/>
            <a:ext cx="3977640" cy="329184"/>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Colonnes supprimées &amp; justification</a:t>
            </a:r>
            <a:endParaRPr lang="en-US" sz="1050" dirty="0"/>
          </a:p>
        </p:txBody>
      </p:sp>
      <p:sp>
        <p:nvSpPr>
          <p:cNvPr id="44" name="Shape 42"/>
          <p:cNvSpPr/>
          <p:nvPr/>
        </p:nvSpPr>
        <p:spPr>
          <a:xfrm>
            <a:off x="4800600" y="1143000"/>
            <a:ext cx="4041648" cy="384048"/>
          </a:xfrm>
          <a:prstGeom prst="rect">
            <a:avLst/>
          </a:prstGeom>
          <a:solidFill>
            <a:srgbClr val="FFF8F8"/>
          </a:solidFill>
          <a:ln w="5080">
            <a:solidFill>
              <a:srgbClr val="EEDCDC"/>
            </a:solidFill>
            <a:prstDash val="solid"/>
          </a:ln>
        </p:spPr>
      </p:sp>
      <p:sp>
        <p:nvSpPr>
          <p:cNvPr id="45" name="Text 43"/>
          <p:cNvSpPr/>
          <p:nvPr/>
        </p:nvSpPr>
        <p:spPr>
          <a:xfrm>
            <a:off x="4846320" y="1161288"/>
            <a:ext cx="1737360" cy="329184"/>
          </a:xfrm>
          <a:prstGeom prst="rect">
            <a:avLst/>
          </a:prstGeom>
          <a:noFill/>
          <a:ln/>
        </p:spPr>
        <p:txBody>
          <a:bodyPr wrap="square" rtlCol="0" anchor="ctr"/>
          <a:lstStyle/>
          <a:p>
            <a:pPr indent="0" marL="0">
              <a:buNone/>
            </a:pPr>
            <a:r>
              <a:rPr lang="en-US" sz="850" b="1" dirty="0">
                <a:solidFill>
                  <a:srgbClr val="B94A52"/>
                </a:solidFill>
                <a:latin typeface="Arial" pitchFamily="34" charset="0"/>
                <a:ea typeface="Arial" pitchFamily="34" charset="-122"/>
                <a:cs typeface="Arial" pitchFamily="34" charset="-120"/>
              </a:rPr>
              <a:t>No_voie</a:t>
            </a:r>
            <a:endParaRPr lang="en-US" sz="850" dirty="0"/>
          </a:p>
        </p:txBody>
      </p:sp>
      <p:sp>
        <p:nvSpPr>
          <p:cNvPr id="46" name="Text 44"/>
          <p:cNvSpPr/>
          <p:nvPr/>
        </p:nvSpPr>
        <p:spPr>
          <a:xfrm>
            <a:off x="6601968" y="1161288"/>
            <a:ext cx="2103120" cy="329184"/>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Adresse — donnée personnelle (RGPD)</a:t>
            </a:r>
            <a:endParaRPr lang="en-US" sz="800" dirty="0"/>
          </a:p>
        </p:txBody>
      </p:sp>
      <p:sp>
        <p:nvSpPr>
          <p:cNvPr id="47" name="Shape 45"/>
          <p:cNvSpPr/>
          <p:nvPr/>
        </p:nvSpPr>
        <p:spPr>
          <a:xfrm>
            <a:off x="4800600" y="1563624"/>
            <a:ext cx="4041648" cy="384048"/>
          </a:xfrm>
          <a:prstGeom prst="rect">
            <a:avLst/>
          </a:prstGeom>
          <a:solidFill>
            <a:srgbClr val="FFFFFF"/>
          </a:solidFill>
          <a:ln w="5080">
            <a:solidFill>
              <a:srgbClr val="EEDCDC"/>
            </a:solidFill>
            <a:prstDash val="solid"/>
          </a:ln>
        </p:spPr>
      </p:sp>
      <p:sp>
        <p:nvSpPr>
          <p:cNvPr id="48" name="Text 46"/>
          <p:cNvSpPr/>
          <p:nvPr/>
        </p:nvSpPr>
        <p:spPr>
          <a:xfrm>
            <a:off x="4846320" y="1581912"/>
            <a:ext cx="1737360" cy="329184"/>
          </a:xfrm>
          <a:prstGeom prst="rect">
            <a:avLst/>
          </a:prstGeom>
          <a:noFill/>
          <a:ln/>
        </p:spPr>
        <p:txBody>
          <a:bodyPr wrap="square" rtlCol="0" anchor="ctr"/>
          <a:lstStyle/>
          <a:p>
            <a:pPr indent="0" marL="0">
              <a:buNone/>
            </a:pPr>
            <a:r>
              <a:rPr lang="en-US" sz="850" b="1" dirty="0">
                <a:solidFill>
                  <a:srgbClr val="B94A52"/>
                </a:solidFill>
                <a:latin typeface="Arial" pitchFamily="34" charset="0"/>
                <a:ea typeface="Arial" pitchFamily="34" charset="-122"/>
                <a:cs typeface="Arial" pitchFamily="34" charset="-120"/>
              </a:rPr>
              <a:t>Type_de_voie</a:t>
            </a:r>
            <a:endParaRPr lang="en-US" sz="850" dirty="0"/>
          </a:p>
        </p:txBody>
      </p:sp>
      <p:sp>
        <p:nvSpPr>
          <p:cNvPr id="49" name="Text 47"/>
          <p:cNvSpPr/>
          <p:nvPr/>
        </p:nvSpPr>
        <p:spPr>
          <a:xfrm>
            <a:off x="6601968" y="1581912"/>
            <a:ext cx="2103120" cy="329184"/>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Adresse — non pertinent pour l'analyse</a:t>
            </a:r>
            <a:endParaRPr lang="en-US" sz="800" dirty="0"/>
          </a:p>
        </p:txBody>
      </p:sp>
      <p:sp>
        <p:nvSpPr>
          <p:cNvPr id="50" name="Shape 48"/>
          <p:cNvSpPr/>
          <p:nvPr/>
        </p:nvSpPr>
        <p:spPr>
          <a:xfrm>
            <a:off x="4800600" y="1984248"/>
            <a:ext cx="4041648" cy="384048"/>
          </a:xfrm>
          <a:prstGeom prst="rect">
            <a:avLst/>
          </a:prstGeom>
          <a:solidFill>
            <a:srgbClr val="FFF8F8"/>
          </a:solidFill>
          <a:ln w="5080">
            <a:solidFill>
              <a:srgbClr val="EEDCDC"/>
            </a:solidFill>
            <a:prstDash val="solid"/>
          </a:ln>
        </p:spPr>
      </p:sp>
      <p:sp>
        <p:nvSpPr>
          <p:cNvPr id="51" name="Text 49"/>
          <p:cNvSpPr/>
          <p:nvPr/>
        </p:nvSpPr>
        <p:spPr>
          <a:xfrm>
            <a:off x="4846320" y="2002536"/>
            <a:ext cx="1737360" cy="329184"/>
          </a:xfrm>
          <a:prstGeom prst="rect">
            <a:avLst/>
          </a:prstGeom>
          <a:noFill/>
          <a:ln/>
        </p:spPr>
        <p:txBody>
          <a:bodyPr wrap="square" rtlCol="0" anchor="ctr"/>
          <a:lstStyle/>
          <a:p>
            <a:pPr indent="0" marL="0">
              <a:buNone/>
            </a:pPr>
            <a:r>
              <a:rPr lang="en-US" sz="850" b="1" dirty="0">
                <a:solidFill>
                  <a:srgbClr val="B94A52"/>
                </a:solidFill>
                <a:latin typeface="Arial" pitchFamily="34" charset="0"/>
                <a:ea typeface="Arial" pitchFamily="34" charset="-122"/>
                <a:cs typeface="Arial" pitchFamily="34" charset="-120"/>
              </a:rPr>
              <a:t>Voie</a:t>
            </a:r>
            <a:endParaRPr lang="en-US" sz="850" dirty="0"/>
          </a:p>
        </p:txBody>
      </p:sp>
      <p:sp>
        <p:nvSpPr>
          <p:cNvPr id="52" name="Text 50"/>
          <p:cNvSpPr/>
          <p:nvPr/>
        </p:nvSpPr>
        <p:spPr>
          <a:xfrm>
            <a:off x="6601968" y="2002536"/>
            <a:ext cx="2103120" cy="329184"/>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Adresse — non pertinent pour l'analyse</a:t>
            </a:r>
            <a:endParaRPr lang="en-US" sz="800" dirty="0"/>
          </a:p>
        </p:txBody>
      </p:sp>
      <p:sp>
        <p:nvSpPr>
          <p:cNvPr id="53" name="Shape 51"/>
          <p:cNvSpPr/>
          <p:nvPr/>
        </p:nvSpPr>
        <p:spPr>
          <a:xfrm>
            <a:off x="4800600" y="2404872"/>
            <a:ext cx="4041648" cy="384048"/>
          </a:xfrm>
          <a:prstGeom prst="rect">
            <a:avLst/>
          </a:prstGeom>
          <a:solidFill>
            <a:srgbClr val="FFFFFF"/>
          </a:solidFill>
          <a:ln w="5080">
            <a:solidFill>
              <a:srgbClr val="EEDCDC"/>
            </a:solidFill>
            <a:prstDash val="solid"/>
          </a:ln>
        </p:spPr>
      </p:sp>
      <p:sp>
        <p:nvSpPr>
          <p:cNvPr id="54" name="Text 52"/>
          <p:cNvSpPr/>
          <p:nvPr/>
        </p:nvSpPr>
        <p:spPr>
          <a:xfrm>
            <a:off x="4846320" y="2423160"/>
            <a:ext cx="1737360" cy="329184"/>
          </a:xfrm>
          <a:prstGeom prst="rect">
            <a:avLst/>
          </a:prstGeom>
          <a:noFill/>
          <a:ln/>
        </p:spPr>
        <p:txBody>
          <a:bodyPr wrap="square" rtlCol="0" anchor="ctr"/>
          <a:lstStyle/>
          <a:p>
            <a:pPr indent="0" marL="0">
              <a:buNone/>
            </a:pPr>
            <a:r>
              <a:rPr lang="en-US" sz="850" b="1" dirty="0">
                <a:solidFill>
                  <a:srgbClr val="B94A52"/>
                </a:solidFill>
                <a:latin typeface="Arial" pitchFamily="34" charset="0"/>
                <a:ea typeface="Arial" pitchFamily="34" charset="-122"/>
                <a:cs typeface="Arial" pitchFamily="34" charset="-120"/>
              </a:rPr>
              <a:t>Code_commune</a:t>
            </a:r>
            <a:endParaRPr lang="en-US" sz="850" dirty="0"/>
          </a:p>
        </p:txBody>
      </p:sp>
      <p:sp>
        <p:nvSpPr>
          <p:cNvPr id="55" name="Text 53"/>
          <p:cNvSpPr/>
          <p:nvPr/>
        </p:nvSpPr>
        <p:spPr>
          <a:xfrm>
            <a:off x="6601968" y="2423160"/>
            <a:ext cx="2103120" cy="329184"/>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Redondant — inclus dans id_codedep_codecommune</a:t>
            </a:r>
            <a:endParaRPr lang="en-US" sz="800" dirty="0"/>
          </a:p>
        </p:txBody>
      </p:sp>
      <p:sp>
        <p:nvSpPr>
          <p:cNvPr id="56" name="Shape 54"/>
          <p:cNvSpPr/>
          <p:nvPr/>
        </p:nvSpPr>
        <p:spPr>
          <a:xfrm>
            <a:off x="4800600" y="2825496"/>
            <a:ext cx="4041648" cy="384048"/>
          </a:xfrm>
          <a:prstGeom prst="rect">
            <a:avLst/>
          </a:prstGeom>
          <a:solidFill>
            <a:srgbClr val="FFF8F8"/>
          </a:solidFill>
          <a:ln w="5080">
            <a:solidFill>
              <a:srgbClr val="EEDCDC"/>
            </a:solidFill>
            <a:prstDash val="solid"/>
          </a:ln>
        </p:spPr>
      </p:sp>
      <p:sp>
        <p:nvSpPr>
          <p:cNvPr id="57" name="Text 55"/>
          <p:cNvSpPr/>
          <p:nvPr/>
        </p:nvSpPr>
        <p:spPr>
          <a:xfrm>
            <a:off x="4846320" y="2843784"/>
            <a:ext cx="1737360" cy="329184"/>
          </a:xfrm>
          <a:prstGeom prst="rect">
            <a:avLst/>
          </a:prstGeom>
          <a:noFill/>
          <a:ln/>
        </p:spPr>
        <p:txBody>
          <a:bodyPr wrap="square" rtlCol="0" anchor="ctr"/>
          <a:lstStyle/>
          <a:p>
            <a:pPr indent="0" marL="0">
              <a:buNone/>
            </a:pPr>
            <a:r>
              <a:rPr lang="en-US" sz="850" b="1" dirty="0">
                <a:solidFill>
                  <a:srgbClr val="B94A52"/>
                </a:solidFill>
                <a:latin typeface="Arial" pitchFamily="34" charset="0"/>
                <a:ea typeface="Arial" pitchFamily="34" charset="-122"/>
                <a:cs typeface="Arial" pitchFamily="34" charset="-120"/>
              </a:rPr>
              <a:t>Code_postal</a:t>
            </a:r>
            <a:endParaRPr lang="en-US" sz="850" dirty="0"/>
          </a:p>
        </p:txBody>
      </p:sp>
      <p:sp>
        <p:nvSpPr>
          <p:cNvPr id="58" name="Text 56"/>
          <p:cNvSpPr/>
          <p:nvPr/>
        </p:nvSpPr>
        <p:spPr>
          <a:xfrm>
            <a:off x="6601968" y="2843784"/>
            <a:ext cx="2103120" cy="329184"/>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Redondant avec Code_departement pour le POC</a:t>
            </a:r>
            <a:endParaRPr lang="en-US" sz="800" dirty="0"/>
          </a:p>
        </p:txBody>
      </p:sp>
      <p:sp>
        <p:nvSpPr>
          <p:cNvPr id="59" name="Shape 57"/>
          <p:cNvSpPr/>
          <p:nvPr/>
        </p:nvSpPr>
        <p:spPr>
          <a:xfrm>
            <a:off x="4800600" y="3246120"/>
            <a:ext cx="4041648" cy="384048"/>
          </a:xfrm>
          <a:prstGeom prst="rect">
            <a:avLst/>
          </a:prstGeom>
          <a:solidFill>
            <a:srgbClr val="FFFFFF"/>
          </a:solidFill>
          <a:ln w="5080">
            <a:solidFill>
              <a:srgbClr val="EEDCDC"/>
            </a:solidFill>
            <a:prstDash val="solid"/>
          </a:ln>
        </p:spPr>
      </p:sp>
      <p:sp>
        <p:nvSpPr>
          <p:cNvPr id="60" name="Text 58"/>
          <p:cNvSpPr/>
          <p:nvPr/>
        </p:nvSpPr>
        <p:spPr>
          <a:xfrm>
            <a:off x="4846320" y="3264408"/>
            <a:ext cx="1737360" cy="329184"/>
          </a:xfrm>
          <a:prstGeom prst="rect">
            <a:avLst/>
          </a:prstGeom>
          <a:noFill/>
          <a:ln/>
        </p:spPr>
        <p:txBody>
          <a:bodyPr wrap="square" rtlCol="0" anchor="ctr"/>
          <a:lstStyle/>
          <a:p>
            <a:pPr indent="0" marL="0">
              <a:buNone/>
            </a:pPr>
            <a:r>
              <a:rPr lang="en-US" sz="850" b="1" dirty="0">
                <a:solidFill>
                  <a:srgbClr val="B94A52"/>
                </a:solidFill>
                <a:latin typeface="Arial" pitchFamily="34" charset="0"/>
                <a:ea typeface="Arial" pitchFamily="34" charset="-122"/>
                <a:cs typeface="Arial" pitchFamily="34" charset="-120"/>
              </a:rPr>
              <a:t>BTQ</a:t>
            </a:r>
            <a:endParaRPr lang="en-US" sz="850" dirty="0"/>
          </a:p>
        </p:txBody>
      </p:sp>
      <p:sp>
        <p:nvSpPr>
          <p:cNvPr id="61" name="Text 59"/>
          <p:cNvSpPr/>
          <p:nvPr/>
        </p:nvSpPr>
        <p:spPr>
          <a:xfrm>
            <a:off x="6601968" y="3264408"/>
            <a:ext cx="2103120" cy="329184"/>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Très peu renseigné (&lt; 1 % de valeurs)</a:t>
            </a:r>
            <a:endParaRPr lang="en-US" sz="800" dirty="0"/>
          </a:p>
        </p:txBody>
      </p:sp>
      <p:sp>
        <p:nvSpPr>
          <p:cNvPr id="62" name="Shape 60"/>
          <p:cNvSpPr/>
          <p:nvPr/>
        </p:nvSpPr>
        <p:spPr>
          <a:xfrm>
            <a:off x="4800600" y="3666744"/>
            <a:ext cx="4041648" cy="384048"/>
          </a:xfrm>
          <a:prstGeom prst="rect">
            <a:avLst/>
          </a:prstGeom>
          <a:solidFill>
            <a:srgbClr val="FFF8F8"/>
          </a:solidFill>
          <a:ln w="5080">
            <a:solidFill>
              <a:srgbClr val="EEDCDC"/>
            </a:solidFill>
            <a:prstDash val="solid"/>
          </a:ln>
        </p:spPr>
      </p:sp>
      <p:sp>
        <p:nvSpPr>
          <p:cNvPr id="63" name="Text 61"/>
          <p:cNvSpPr/>
          <p:nvPr/>
        </p:nvSpPr>
        <p:spPr>
          <a:xfrm>
            <a:off x="4846320" y="3685032"/>
            <a:ext cx="1737360" cy="329184"/>
          </a:xfrm>
          <a:prstGeom prst="rect">
            <a:avLst/>
          </a:prstGeom>
          <a:noFill/>
          <a:ln/>
        </p:spPr>
        <p:txBody>
          <a:bodyPr wrap="square" rtlCol="0" anchor="ctr"/>
          <a:lstStyle/>
          <a:p>
            <a:pPr indent="0" marL="0">
              <a:buNone/>
            </a:pPr>
            <a:r>
              <a:rPr lang="en-US" sz="850" b="1" dirty="0">
                <a:solidFill>
                  <a:srgbClr val="B94A52"/>
                </a:solidFill>
                <a:latin typeface="Arial" pitchFamily="34" charset="0"/>
                <a:ea typeface="Arial" pitchFamily="34" charset="-122"/>
                <a:cs typeface="Arial" pitchFamily="34" charset="-120"/>
              </a:rPr>
              <a:t>Code_voie</a:t>
            </a:r>
            <a:endParaRPr lang="en-US" sz="850" dirty="0"/>
          </a:p>
        </p:txBody>
      </p:sp>
      <p:sp>
        <p:nvSpPr>
          <p:cNvPr id="64" name="Text 62"/>
          <p:cNvSpPr/>
          <p:nvPr/>
        </p:nvSpPr>
        <p:spPr>
          <a:xfrm>
            <a:off x="6601968" y="3685032"/>
            <a:ext cx="2103120" cy="329184"/>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Identifiant cadastral — hors périmètre POC</a:t>
            </a:r>
            <a:endParaRPr lang="en-US" sz="800" dirty="0"/>
          </a:p>
        </p:txBody>
      </p:sp>
      <p:sp>
        <p:nvSpPr>
          <p:cNvPr id="65" name="Shape 63"/>
          <p:cNvSpPr/>
          <p:nvPr/>
        </p:nvSpPr>
        <p:spPr>
          <a:xfrm>
            <a:off x="4800600" y="4087368"/>
            <a:ext cx="4041648" cy="384048"/>
          </a:xfrm>
          <a:prstGeom prst="rect">
            <a:avLst/>
          </a:prstGeom>
          <a:solidFill>
            <a:srgbClr val="FFFFFF"/>
          </a:solidFill>
          <a:ln w="5080">
            <a:solidFill>
              <a:srgbClr val="EEDCDC"/>
            </a:solidFill>
            <a:prstDash val="solid"/>
          </a:ln>
        </p:spPr>
      </p:sp>
      <p:sp>
        <p:nvSpPr>
          <p:cNvPr id="66" name="Text 64"/>
          <p:cNvSpPr/>
          <p:nvPr/>
        </p:nvSpPr>
        <p:spPr>
          <a:xfrm>
            <a:off x="4846320" y="4105656"/>
            <a:ext cx="1737360" cy="329184"/>
          </a:xfrm>
          <a:prstGeom prst="rect">
            <a:avLst/>
          </a:prstGeom>
          <a:noFill/>
          <a:ln/>
        </p:spPr>
        <p:txBody>
          <a:bodyPr wrap="square" rtlCol="0" anchor="ctr"/>
          <a:lstStyle/>
          <a:p>
            <a:pPr indent="0" marL="0">
              <a:buNone/>
            </a:pPr>
            <a:r>
              <a:rPr lang="en-US" sz="850" b="1" dirty="0">
                <a:solidFill>
                  <a:srgbClr val="B94A52"/>
                </a:solidFill>
                <a:latin typeface="Arial" pitchFamily="34" charset="0"/>
                <a:ea typeface="Arial" pitchFamily="34" charset="-122"/>
                <a:cs typeface="Arial" pitchFamily="34" charset="-120"/>
              </a:rPr>
              <a:t>indice_prix_logement</a:t>
            </a:r>
            <a:endParaRPr lang="en-US" sz="850" dirty="0"/>
          </a:p>
        </p:txBody>
      </p:sp>
      <p:sp>
        <p:nvSpPr>
          <p:cNvPr id="67" name="Text 65"/>
          <p:cNvSpPr/>
          <p:nvPr/>
        </p:nvSpPr>
        <p:spPr>
          <a:xfrm>
            <a:off x="6601968" y="4105656"/>
            <a:ext cx="2103120" cy="329184"/>
          </a:xfrm>
          <a:prstGeom prst="rect">
            <a:avLst/>
          </a:prstGeom>
          <a:noFill/>
          <a:ln/>
        </p:spPr>
        <p:txBody>
          <a:bodyPr wrap="square" rtlCol="0" anchor="ctr"/>
          <a:lstStyle/>
          <a:p>
            <a:pPr indent="0" marL="0">
              <a:buNone/>
            </a:pPr>
            <a:r>
              <a:rPr lang="en-US" sz="800" dirty="0">
                <a:solidFill>
                  <a:srgbClr val="546E6E"/>
                </a:solidFill>
                <a:latin typeface="Arial" pitchFamily="34" charset="0"/>
                <a:ea typeface="Arial" pitchFamily="34" charset="-122"/>
                <a:cs typeface="Arial" pitchFamily="34" charset="-120"/>
              </a:rPr>
              <a:t>Hors schéma — nécessite table séparée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5F4"/>
        </a:solidFill>
      </p:bgPr>
    </p:bg>
    <p:spTree>
      <p:nvGrpSpPr>
        <p:cNvPr id="1" name=""/>
        <p:cNvGrpSpPr/>
        <p:nvPr/>
      </p:nvGrpSpPr>
      <p:grpSpPr>
        <a:xfrm>
          <a:off x="0" y="0"/>
          <a:ext cx="0" cy="0"/>
          <a:chOff x="0" y="0"/>
          <a:chExt cx="0" cy="0"/>
        </a:xfrm>
      </p:grpSpPr>
      <p:sp>
        <p:nvSpPr>
          <p:cNvPr id="2" name="Shape 0"/>
          <p:cNvSpPr/>
          <p:nvPr/>
        </p:nvSpPr>
        <p:spPr>
          <a:xfrm>
            <a:off x="256032" y="164592"/>
            <a:ext cx="50292" cy="475488"/>
          </a:xfrm>
          <a:prstGeom prst="rect">
            <a:avLst/>
          </a:prstGeom>
          <a:solidFill>
            <a:srgbClr val="158F7E"/>
          </a:solidFill>
          <a:ln w="12700">
            <a:solidFill>
              <a:srgbClr val="158F7E"/>
            </a:solidFill>
            <a:prstDash val="solid"/>
          </a:ln>
        </p:spPr>
      </p:sp>
      <p:sp>
        <p:nvSpPr>
          <p:cNvPr id="3" name="Text 1"/>
          <p:cNvSpPr/>
          <p:nvPr/>
        </p:nvSpPr>
        <p:spPr>
          <a:xfrm>
            <a:off x="365760" y="109728"/>
            <a:ext cx="8412480" cy="566928"/>
          </a:xfrm>
          <a:prstGeom prst="rect">
            <a:avLst/>
          </a:prstGeom>
          <a:noFill/>
          <a:ln/>
        </p:spPr>
        <p:txBody>
          <a:bodyPr wrap="square" rtlCol="0" anchor="ctr"/>
          <a:lstStyle/>
          <a:p>
            <a:pPr indent="0" marL="0">
              <a:buNone/>
            </a:pPr>
            <a:r>
              <a:rPr lang="en-US" sz="2000" b="1" dirty="0">
                <a:solidFill>
                  <a:srgbClr val="1C3838"/>
                </a:solidFill>
                <a:latin typeface="Arial" pitchFamily="34" charset="0"/>
                <a:ea typeface="Arial" pitchFamily="34" charset="-122"/>
                <a:cs typeface="Arial" pitchFamily="34" charset="-120"/>
              </a:rPr>
              <a:t>Extrait du dictionnaire des données</a:t>
            </a:r>
            <a:endParaRPr lang="en-US" sz="2000" dirty="0"/>
          </a:p>
        </p:txBody>
      </p:sp>
      <p:sp>
        <p:nvSpPr>
          <p:cNvPr id="4" name="Shape 2"/>
          <p:cNvSpPr/>
          <p:nvPr/>
        </p:nvSpPr>
        <p:spPr>
          <a:xfrm>
            <a:off x="256032" y="667512"/>
            <a:ext cx="8641080" cy="0"/>
          </a:xfrm>
          <a:prstGeom prst="line">
            <a:avLst/>
          </a:prstGeom>
          <a:noFill/>
          <a:ln w="19050">
            <a:solidFill>
              <a:srgbClr val="1ABBA3"/>
            </a:solidFill>
            <a:prstDash val="solid"/>
          </a:ln>
        </p:spPr>
      </p:sp>
      <p:sp>
        <p:nvSpPr>
          <p:cNvPr id="5" name="Text 3"/>
          <p:cNvSpPr/>
          <p:nvPr/>
        </p:nvSpPr>
        <p:spPr>
          <a:xfrm>
            <a:off x="256032" y="713232"/>
            <a:ext cx="8641080" cy="237744"/>
          </a:xfrm>
          <a:prstGeom prst="rect">
            <a:avLst/>
          </a:prstGeom>
          <a:noFill/>
          <a:ln/>
        </p:spPr>
        <p:txBody>
          <a:bodyPr wrap="square" rtlCol="0" anchor="ctr"/>
          <a:lstStyle/>
          <a:p>
            <a:pPr indent="0" marL="0">
              <a:buNone/>
            </a:pPr>
            <a:r>
              <a:rPr lang="en-US" sz="900" i="1" dirty="0">
                <a:solidFill>
                  <a:srgbClr val="546E6E"/>
                </a:solidFill>
                <a:latin typeface="Arial" pitchFamily="34" charset="0"/>
                <a:ea typeface="Arial" pitchFamily="34" charset="-122"/>
                <a:cs typeface="Arial" pitchFamily="34" charset="-120"/>
              </a:rPr>
              <a:t>Feuille 2 — Référentiel géographique (region + commune)</a:t>
            </a:r>
            <a:endParaRPr lang="en-US" sz="900" dirty="0"/>
          </a:p>
        </p:txBody>
      </p:sp>
      <p:pic>
        <p:nvPicPr>
          <p:cNvPr id="6" name="Image 0" descr="preencoded.png">    </p:cNvPr>
          <p:cNvPicPr>
            <a:picLocks noChangeAspect="1"/>
          </p:cNvPicPr>
          <p:nvPr/>
        </p:nvPicPr>
        <p:blipFill>
          <a:blip r:embed="rId1"/>
          <a:srcRect l="0" r="0" t="0" b="0"/>
          <a:stretch/>
        </p:blipFill>
        <p:spPr>
          <a:xfrm>
            <a:off x="256032" y="969264"/>
            <a:ext cx="8641080" cy="3840480"/>
          </a:xfrm>
          <a:prstGeom prst="rect">
            <a:avLst/>
          </a:prstGeom>
        </p:spPr>
      </p:pic>
      <p:sp>
        <p:nvSpPr>
          <p:cNvPr id="7" name="Text 4"/>
          <p:cNvSpPr/>
          <p:nvPr/>
        </p:nvSpPr>
        <p:spPr>
          <a:xfrm>
            <a:off x="256032" y="4828032"/>
            <a:ext cx="8641080" cy="228600"/>
          </a:xfrm>
          <a:prstGeom prst="rect">
            <a:avLst/>
          </a:prstGeom>
          <a:noFill/>
          <a:ln/>
        </p:spPr>
        <p:txBody>
          <a:bodyPr wrap="square" rtlCol="0" anchor="ctr"/>
          <a:lstStyle/>
          <a:p>
            <a:pPr algn="ctr" indent="0" marL="0">
              <a:buNone/>
            </a:pPr>
            <a:r>
              <a:rPr lang="en-US" sz="850" i="1" dirty="0">
                <a:solidFill>
                  <a:srgbClr val="546E6E"/>
                </a:solidFill>
                <a:latin typeface="Arial" pitchFamily="34" charset="0"/>
                <a:ea typeface="Arial" pitchFamily="34" charset="-122"/>
                <a:cs typeface="Arial" pitchFamily="34" charset="-120"/>
              </a:rPr>
              <a:t>Le dictionnaire complet est disponible dans le fichier livrable : Abu-rabia_Heba_1_dictionnaire_032026.xlsx</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5F4"/>
        </a:solidFill>
      </p:bgPr>
    </p:bg>
    <p:spTree>
      <p:nvGrpSpPr>
        <p:cNvPr id="1" name=""/>
        <p:cNvGrpSpPr/>
        <p:nvPr/>
      </p:nvGrpSpPr>
      <p:grpSpPr>
        <a:xfrm>
          <a:off x="0" y="0"/>
          <a:ext cx="0" cy="0"/>
          <a:chOff x="0" y="0"/>
          <a:chExt cx="0" cy="0"/>
        </a:xfrm>
      </p:grpSpPr>
      <p:sp>
        <p:nvSpPr>
          <p:cNvPr id="2" name="Shape 0"/>
          <p:cNvSpPr/>
          <p:nvPr/>
        </p:nvSpPr>
        <p:spPr>
          <a:xfrm>
            <a:off x="256032" y="164592"/>
            <a:ext cx="50292" cy="475488"/>
          </a:xfrm>
          <a:prstGeom prst="rect">
            <a:avLst/>
          </a:prstGeom>
          <a:solidFill>
            <a:srgbClr val="158F7E"/>
          </a:solidFill>
          <a:ln w="12700">
            <a:solidFill>
              <a:srgbClr val="158F7E"/>
            </a:solidFill>
            <a:prstDash val="solid"/>
          </a:ln>
        </p:spPr>
      </p:sp>
      <p:sp>
        <p:nvSpPr>
          <p:cNvPr id="3" name="Text 1"/>
          <p:cNvSpPr/>
          <p:nvPr/>
        </p:nvSpPr>
        <p:spPr>
          <a:xfrm>
            <a:off x="365760" y="109728"/>
            <a:ext cx="8412480" cy="566928"/>
          </a:xfrm>
          <a:prstGeom prst="rect">
            <a:avLst/>
          </a:prstGeom>
          <a:noFill/>
          <a:ln/>
        </p:spPr>
        <p:txBody>
          <a:bodyPr wrap="square" rtlCol="0" anchor="ctr"/>
          <a:lstStyle/>
          <a:p>
            <a:pPr indent="0" marL="0">
              <a:buNone/>
            </a:pPr>
            <a:r>
              <a:rPr lang="en-US" sz="2000" b="1" dirty="0">
                <a:solidFill>
                  <a:srgbClr val="1C3838"/>
                </a:solidFill>
                <a:latin typeface="Arial" pitchFamily="34" charset="0"/>
                <a:ea typeface="Arial" pitchFamily="34" charset="-122"/>
                <a:cs typeface="Arial" pitchFamily="34" charset="-120"/>
              </a:rPr>
              <a:t>Schéma relationnel normalisé (3FN)</a:t>
            </a:r>
            <a:endParaRPr lang="en-US" sz="2000" dirty="0"/>
          </a:p>
        </p:txBody>
      </p:sp>
      <p:sp>
        <p:nvSpPr>
          <p:cNvPr id="4" name="Shape 2"/>
          <p:cNvSpPr/>
          <p:nvPr/>
        </p:nvSpPr>
        <p:spPr>
          <a:xfrm>
            <a:off x="256032" y="667512"/>
            <a:ext cx="8641080" cy="0"/>
          </a:xfrm>
          <a:prstGeom prst="line">
            <a:avLst/>
          </a:prstGeom>
          <a:noFill/>
          <a:ln w="19050">
            <a:solidFill>
              <a:srgbClr val="1ABBA3"/>
            </a:solidFill>
            <a:prstDash val="solid"/>
          </a:ln>
        </p:spPr>
      </p:sp>
      <p:pic>
        <p:nvPicPr>
          <p:cNvPr id="5" name="Image 0" descr="preencoded.png">    </p:cNvPr>
          <p:cNvPicPr>
            <a:picLocks noChangeAspect="1"/>
          </p:cNvPicPr>
          <p:nvPr/>
        </p:nvPicPr>
        <p:blipFill>
          <a:blip r:embed="rId1"/>
          <a:srcRect l="0" r="0" t="0" b="0"/>
          <a:stretch/>
        </p:blipFill>
        <p:spPr>
          <a:xfrm>
            <a:off x="457200" y="749808"/>
            <a:ext cx="8229600" cy="4160520"/>
          </a:xfrm>
          <a:prstGeom prst="rect">
            <a:avLst/>
          </a:prstGeom>
        </p:spPr>
      </p:pic>
      <p:sp>
        <p:nvSpPr>
          <p:cNvPr id="6" name="Text 3"/>
          <p:cNvSpPr/>
          <p:nvPr/>
        </p:nvSpPr>
        <p:spPr>
          <a:xfrm>
            <a:off x="256032" y="4846320"/>
            <a:ext cx="8641080" cy="228600"/>
          </a:xfrm>
          <a:prstGeom prst="rect">
            <a:avLst/>
          </a:prstGeom>
          <a:noFill/>
          <a:ln/>
        </p:spPr>
        <p:txBody>
          <a:bodyPr wrap="square" rtlCol="0" anchor="ctr"/>
          <a:lstStyle/>
          <a:p>
            <a:pPr algn="ctr" indent="0" marL="0">
              <a:buNone/>
            </a:pPr>
            <a:r>
              <a:rPr lang="en-US" sz="850" i="1" dirty="0">
                <a:solidFill>
                  <a:srgbClr val="546E6E"/>
                </a:solidFill>
                <a:latin typeface="Arial" pitchFamily="34" charset="0"/>
                <a:ea typeface="Arial" pitchFamily="34" charset="-122"/>
                <a:cs typeface="Arial" pitchFamily="34" charset="-120"/>
              </a:rPr>
              <a:t>4 tables · Clés primaires et étrangères explicites · Données atomiques (1NF) · Dépendances transitives éliminées (3NF) · Conforme RGPD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F5F4"/>
        </a:solidFill>
      </p:bgPr>
    </p:bg>
    <p:spTree>
      <p:nvGrpSpPr>
        <p:cNvPr id="1" name=""/>
        <p:cNvGrpSpPr/>
        <p:nvPr/>
      </p:nvGrpSpPr>
      <p:grpSpPr>
        <a:xfrm>
          <a:off x="0" y="0"/>
          <a:ext cx="0" cy="0"/>
          <a:chOff x="0" y="0"/>
          <a:chExt cx="0" cy="0"/>
        </a:xfrm>
      </p:grpSpPr>
      <p:sp>
        <p:nvSpPr>
          <p:cNvPr id="2" name="Shape 0"/>
          <p:cNvSpPr/>
          <p:nvPr/>
        </p:nvSpPr>
        <p:spPr>
          <a:xfrm>
            <a:off x="256032" y="164592"/>
            <a:ext cx="50292" cy="475488"/>
          </a:xfrm>
          <a:prstGeom prst="rect">
            <a:avLst/>
          </a:prstGeom>
          <a:solidFill>
            <a:srgbClr val="158F7E"/>
          </a:solidFill>
          <a:ln w="12700">
            <a:solidFill>
              <a:srgbClr val="158F7E"/>
            </a:solidFill>
            <a:prstDash val="solid"/>
          </a:ln>
        </p:spPr>
      </p:sp>
      <p:sp>
        <p:nvSpPr>
          <p:cNvPr id="3" name="Text 1"/>
          <p:cNvSpPr/>
          <p:nvPr/>
        </p:nvSpPr>
        <p:spPr>
          <a:xfrm>
            <a:off x="365760" y="109728"/>
            <a:ext cx="8412480" cy="566928"/>
          </a:xfrm>
          <a:prstGeom prst="rect">
            <a:avLst/>
          </a:prstGeom>
          <a:noFill/>
          <a:ln/>
        </p:spPr>
        <p:txBody>
          <a:bodyPr wrap="square" rtlCol="0" anchor="ctr"/>
          <a:lstStyle/>
          <a:p>
            <a:pPr indent="0" marL="0">
              <a:buNone/>
            </a:pPr>
            <a:r>
              <a:rPr lang="en-US" sz="2000" b="1" dirty="0">
                <a:solidFill>
                  <a:srgbClr val="1C3838"/>
                </a:solidFill>
                <a:latin typeface="Arial" pitchFamily="34" charset="0"/>
                <a:ea typeface="Arial" pitchFamily="34" charset="-122"/>
                <a:cs typeface="Arial" pitchFamily="34" charset="-120"/>
              </a:rPr>
              <a:t>Base de données — Structure créée dans SQLiteStudio</a:t>
            </a:r>
            <a:endParaRPr lang="en-US" sz="2000" dirty="0"/>
          </a:p>
        </p:txBody>
      </p:sp>
      <p:sp>
        <p:nvSpPr>
          <p:cNvPr id="4" name="Shape 2"/>
          <p:cNvSpPr/>
          <p:nvPr/>
        </p:nvSpPr>
        <p:spPr>
          <a:xfrm>
            <a:off x="256032" y="667512"/>
            <a:ext cx="8641080" cy="0"/>
          </a:xfrm>
          <a:prstGeom prst="line">
            <a:avLst/>
          </a:prstGeom>
          <a:noFill/>
          <a:ln w="19050">
            <a:solidFill>
              <a:srgbClr val="1ABBA3"/>
            </a:solidFill>
            <a:prstDash val="solid"/>
          </a:ln>
        </p:spPr>
      </p:sp>
      <p:sp>
        <p:nvSpPr>
          <p:cNvPr id="5" name="Shape 3"/>
          <p:cNvSpPr/>
          <p:nvPr/>
        </p:nvSpPr>
        <p:spPr>
          <a:xfrm>
            <a:off x="256032" y="749808"/>
            <a:ext cx="3200400" cy="4133088"/>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6" name="Shape 4"/>
          <p:cNvSpPr/>
          <p:nvPr/>
        </p:nvSpPr>
        <p:spPr>
          <a:xfrm>
            <a:off x="256032" y="749808"/>
            <a:ext cx="3200400" cy="301752"/>
          </a:xfrm>
          <a:prstGeom prst="rect">
            <a:avLst/>
          </a:prstGeom>
          <a:solidFill>
            <a:srgbClr val="158F7E"/>
          </a:solidFill>
          <a:ln w="12700">
            <a:solidFill>
              <a:srgbClr val="158F7E"/>
            </a:solidFill>
            <a:prstDash val="solid"/>
          </a:ln>
        </p:spPr>
      </p:sp>
      <p:sp>
        <p:nvSpPr>
          <p:cNvPr id="7" name="Text 5"/>
          <p:cNvSpPr/>
          <p:nvPr/>
        </p:nvSpPr>
        <p:spPr>
          <a:xfrm>
            <a:off x="329184" y="749808"/>
            <a:ext cx="3035808" cy="301752"/>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Arborescence des tables</a:t>
            </a:r>
            <a:endParaRPr lang="en-US" sz="950" dirty="0"/>
          </a:p>
        </p:txBody>
      </p:sp>
      <p:pic>
        <p:nvPicPr>
          <p:cNvPr id="8" name="Image 0" descr="preencoded.png">    </p:cNvPr>
          <p:cNvPicPr>
            <a:picLocks noChangeAspect="1"/>
          </p:cNvPicPr>
          <p:nvPr/>
        </p:nvPicPr>
        <p:blipFill>
          <a:blip r:embed="rId1"/>
          <a:srcRect l="0" r="0" t="0" b="0"/>
          <a:stretch/>
        </p:blipFill>
        <p:spPr>
          <a:xfrm>
            <a:off x="320040" y="1078992"/>
            <a:ext cx="3063240" cy="3749040"/>
          </a:xfrm>
          <a:prstGeom prst="rect">
            <a:avLst/>
          </a:prstGeom>
        </p:spPr>
      </p:pic>
      <p:sp>
        <p:nvSpPr>
          <p:cNvPr id="9" name="Shape 6"/>
          <p:cNvSpPr/>
          <p:nvPr/>
        </p:nvSpPr>
        <p:spPr>
          <a:xfrm>
            <a:off x="3657600" y="749808"/>
            <a:ext cx="5239512" cy="4133088"/>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10" name="Shape 7"/>
          <p:cNvSpPr/>
          <p:nvPr/>
        </p:nvSpPr>
        <p:spPr>
          <a:xfrm>
            <a:off x="3657600" y="749808"/>
            <a:ext cx="5239512" cy="301752"/>
          </a:xfrm>
          <a:prstGeom prst="rect">
            <a:avLst/>
          </a:prstGeom>
          <a:solidFill>
            <a:srgbClr val="1A2F2F"/>
          </a:solidFill>
          <a:ln w="12700">
            <a:solidFill>
              <a:srgbClr val="1A2F2F"/>
            </a:solidFill>
            <a:prstDash val="solid"/>
          </a:ln>
        </p:spPr>
      </p:sp>
      <p:sp>
        <p:nvSpPr>
          <p:cNvPr id="11" name="Text 8"/>
          <p:cNvSpPr/>
          <p:nvPr/>
        </p:nvSpPr>
        <p:spPr>
          <a:xfrm>
            <a:off x="3730752" y="749808"/>
            <a:ext cx="5074920" cy="301752"/>
          </a:xfrm>
          <a:prstGeom prst="rect">
            <a:avLst/>
          </a:prstGeom>
          <a:noFill/>
          <a:ln/>
        </p:spPr>
        <p:txBody>
          <a:bodyPr wrap="square" rtlCol="0" anchor="ctr"/>
          <a:lstStyle/>
          <a:p>
            <a:pPr indent="0" marL="0">
              <a:buNone/>
            </a:pPr>
            <a:r>
              <a:rPr lang="en-US" sz="950" b="1" dirty="0">
                <a:solidFill>
                  <a:srgbClr val="1ABBA3"/>
                </a:solidFill>
                <a:latin typeface="Arial" pitchFamily="34" charset="0"/>
                <a:ea typeface="Arial" pitchFamily="34" charset="-122"/>
                <a:cs typeface="Arial" pitchFamily="34" charset="-120"/>
              </a:rPr>
              <a:t>CREATE TABLE — Code SQL</a:t>
            </a:r>
            <a:endParaRPr lang="en-US" sz="950" dirty="0"/>
          </a:p>
        </p:txBody>
      </p:sp>
      <p:pic>
        <p:nvPicPr>
          <p:cNvPr id="12" name="Image 1" descr="preencoded.png">    </p:cNvPr>
          <p:cNvPicPr>
            <a:picLocks noChangeAspect="1"/>
          </p:cNvPicPr>
          <p:nvPr/>
        </p:nvPicPr>
        <p:blipFill>
          <a:blip r:embed="rId2"/>
          <a:srcRect l="0" r="0" t="0" b="0"/>
          <a:stretch/>
        </p:blipFill>
        <p:spPr>
          <a:xfrm>
            <a:off x="3703320" y="1078992"/>
            <a:ext cx="5148072" cy="3749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5F4"/>
        </a:solidFill>
      </p:bgPr>
    </p:bg>
    <p:spTree>
      <p:nvGrpSpPr>
        <p:cNvPr id="1" name=""/>
        <p:cNvGrpSpPr/>
        <p:nvPr/>
      </p:nvGrpSpPr>
      <p:grpSpPr>
        <a:xfrm>
          <a:off x="0" y="0"/>
          <a:ext cx="0" cy="0"/>
          <a:chOff x="0" y="0"/>
          <a:chExt cx="0" cy="0"/>
        </a:xfrm>
      </p:grpSpPr>
      <p:sp>
        <p:nvSpPr>
          <p:cNvPr id="2" name="Shape 0"/>
          <p:cNvSpPr/>
          <p:nvPr/>
        </p:nvSpPr>
        <p:spPr>
          <a:xfrm>
            <a:off x="256032" y="164592"/>
            <a:ext cx="50292" cy="475488"/>
          </a:xfrm>
          <a:prstGeom prst="rect">
            <a:avLst/>
          </a:prstGeom>
          <a:solidFill>
            <a:srgbClr val="158F7E"/>
          </a:solidFill>
          <a:ln w="12700">
            <a:solidFill>
              <a:srgbClr val="158F7E"/>
            </a:solidFill>
            <a:prstDash val="solid"/>
          </a:ln>
        </p:spPr>
      </p:sp>
      <p:sp>
        <p:nvSpPr>
          <p:cNvPr id="3" name="Text 1"/>
          <p:cNvSpPr/>
          <p:nvPr/>
        </p:nvSpPr>
        <p:spPr>
          <a:xfrm>
            <a:off x="365760" y="109728"/>
            <a:ext cx="8412480" cy="566928"/>
          </a:xfrm>
          <a:prstGeom prst="rect">
            <a:avLst/>
          </a:prstGeom>
          <a:noFill/>
          <a:ln/>
        </p:spPr>
        <p:txBody>
          <a:bodyPr wrap="square" rtlCol="0" anchor="ctr"/>
          <a:lstStyle/>
          <a:p>
            <a:pPr indent="0" marL="0">
              <a:buNone/>
            </a:pPr>
            <a:r>
              <a:rPr lang="en-US" sz="2000" b="1" dirty="0">
                <a:solidFill>
                  <a:srgbClr val="1C3838"/>
                </a:solidFill>
                <a:latin typeface="Arial" pitchFamily="34" charset="0"/>
                <a:ea typeface="Arial" pitchFamily="34" charset="-122"/>
                <a:cs typeface="Arial" pitchFamily="34" charset="-120"/>
              </a:rPr>
              <a:t>Base de données — Table region</a:t>
            </a:r>
            <a:endParaRPr lang="en-US" sz="2000" dirty="0"/>
          </a:p>
        </p:txBody>
      </p:sp>
      <p:sp>
        <p:nvSpPr>
          <p:cNvPr id="4" name="Shape 2"/>
          <p:cNvSpPr/>
          <p:nvPr/>
        </p:nvSpPr>
        <p:spPr>
          <a:xfrm>
            <a:off x="256032" y="667512"/>
            <a:ext cx="8641080" cy="0"/>
          </a:xfrm>
          <a:prstGeom prst="line">
            <a:avLst/>
          </a:prstGeom>
          <a:noFill/>
          <a:ln w="19050">
            <a:solidFill>
              <a:srgbClr val="1ABBA3"/>
            </a:solidFill>
            <a:prstDash val="solid"/>
          </a:ln>
        </p:spPr>
      </p:sp>
      <p:sp>
        <p:nvSpPr>
          <p:cNvPr id="5" name="Shape 3"/>
          <p:cNvSpPr/>
          <p:nvPr/>
        </p:nvSpPr>
        <p:spPr>
          <a:xfrm>
            <a:off x="256032" y="749808"/>
            <a:ext cx="6217920" cy="4133088"/>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6" name="Shape 4"/>
          <p:cNvSpPr/>
          <p:nvPr/>
        </p:nvSpPr>
        <p:spPr>
          <a:xfrm>
            <a:off x="256032" y="749808"/>
            <a:ext cx="6217920" cy="301752"/>
          </a:xfrm>
          <a:prstGeom prst="rect">
            <a:avLst/>
          </a:prstGeom>
          <a:solidFill>
            <a:srgbClr val="1A2F2F"/>
          </a:solidFill>
          <a:ln w="12700">
            <a:solidFill>
              <a:srgbClr val="1A2F2F"/>
            </a:solidFill>
            <a:prstDash val="solid"/>
          </a:ln>
        </p:spPr>
      </p:sp>
      <p:sp>
        <p:nvSpPr>
          <p:cNvPr id="7" name="Text 5"/>
          <p:cNvSpPr/>
          <p:nvPr/>
        </p:nvSpPr>
        <p:spPr>
          <a:xfrm>
            <a:off x="347472" y="749808"/>
            <a:ext cx="6035040" cy="301752"/>
          </a:xfrm>
          <a:prstGeom prst="rect">
            <a:avLst/>
          </a:prstGeom>
          <a:noFill/>
          <a:ln/>
        </p:spPr>
        <p:txBody>
          <a:bodyPr wrap="square" rtlCol="0" anchor="ctr"/>
          <a:lstStyle/>
          <a:p>
            <a:pPr indent="0" marL="0">
              <a:buNone/>
            </a:pPr>
            <a:r>
              <a:rPr lang="en-US" sz="950" b="1" dirty="0">
                <a:solidFill>
                  <a:srgbClr val="1ABBA3"/>
                </a:solidFill>
                <a:latin typeface="Arial" pitchFamily="34" charset="0"/>
                <a:ea typeface="Arial" pitchFamily="34" charset="-122"/>
                <a:cs typeface="Arial" pitchFamily="34" charset="-120"/>
              </a:rPr>
              <a:t>SQLiteStudio — region</a:t>
            </a:r>
            <a:endParaRPr lang="en-US" sz="950" dirty="0"/>
          </a:p>
        </p:txBody>
      </p:sp>
      <p:pic>
        <p:nvPicPr>
          <p:cNvPr id="8" name="Image 0" descr="preencoded.png">    </p:cNvPr>
          <p:cNvPicPr>
            <a:picLocks noChangeAspect="1"/>
          </p:cNvPicPr>
          <p:nvPr/>
        </p:nvPicPr>
        <p:blipFill>
          <a:blip r:embed="rId1"/>
          <a:srcRect l="0" r="0" t="0" b="0"/>
          <a:stretch/>
        </p:blipFill>
        <p:spPr>
          <a:xfrm>
            <a:off x="301752" y="1078992"/>
            <a:ext cx="6108192" cy="3749040"/>
          </a:xfrm>
          <a:prstGeom prst="rect">
            <a:avLst/>
          </a:prstGeom>
        </p:spPr>
      </p:pic>
      <p:sp>
        <p:nvSpPr>
          <p:cNvPr id="9" name="Shape 6"/>
          <p:cNvSpPr/>
          <p:nvPr/>
        </p:nvSpPr>
        <p:spPr>
          <a:xfrm>
            <a:off x="6656832" y="749808"/>
            <a:ext cx="2240280" cy="1920240"/>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10" name="Shape 7"/>
          <p:cNvSpPr/>
          <p:nvPr/>
        </p:nvSpPr>
        <p:spPr>
          <a:xfrm>
            <a:off x="6656832" y="749808"/>
            <a:ext cx="2240280" cy="329184"/>
          </a:xfrm>
          <a:prstGeom prst="rect">
            <a:avLst/>
          </a:prstGeom>
          <a:solidFill>
            <a:srgbClr val="158F7E"/>
          </a:solidFill>
          <a:ln w="12700">
            <a:solidFill>
              <a:srgbClr val="158F7E"/>
            </a:solidFill>
            <a:prstDash val="solid"/>
          </a:ln>
        </p:spPr>
      </p:sp>
      <p:sp>
        <p:nvSpPr>
          <p:cNvPr id="11" name="Text 8"/>
          <p:cNvSpPr/>
          <p:nvPr/>
        </p:nvSpPr>
        <p:spPr>
          <a:xfrm>
            <a:off x="6748272" y="749808"/>
            <a:ext cx="2057400" cy="301752"/>
          </a:xfrm>
          <a:prstGeom prst="rect">
            <a:avLst/>
          </a:prstGeom>
          <a:noFill/>
          <a:ln/>
        </p:spPr>
        <p:txBody>
          <a:bodyPr wrap="square" rtlCol="0" anchor="ctr"/>
          <a:lstStyle/>
          <a:p>
            <a:pPr indent="0" marL="0">
              <a:buNone/>
            </a:pPr>
            <a:r>
              <a:rPr lang="en-US" sz="850" b="1" dirty="0">
                <a:solidFill>
                  <a:srgbClr val="FFFFFF"/>
                </a:solidFill>
                <a:latin typeface="Courier New" pitchFamily="34" charset="0"/>
                <a:ea typeface="Courier New" pitchFamily="34" charset="-122"/>
                <a:cs typeface="Courier New" pitchFamily="34" charset="-120"/>
              </a:rPr>
              <a:t>SELECT COUNT(*)</a:t>
            </a:r>
            <a:endParaRPr lang="en-US" sz="850" dirty="0"/>
          </a:p>
        </p:txBody>
      </p:sp>
      <p:sp>
        <p:nvSpPr>
          <p:cNvPr id="12" name="Shape 9"/>
          <p:cNvSpPr/>
          <p:nvPr/>
        </p:nvSpPr>
        <p:spPr>
          <a:xfrm>
            <a:off x="6784848" y="1170432"/>
            <a:ext cx="2029968" cy="1005840"/>
          </a:xfrm>
          <a:prstGeom prst="rect">
            <a:avLst/>
          </a:prstGeom>
          <a:solidFill>
            <a:srgbClr val="EAF5F4"/>
          </a:solidFill>
          <a:ln w="6350">
            <a:solidFill>
              <a:srgbClr val="D0E8E6"/>
            </a:solidFill>
            <a:prstDash val="solid"/>
          </a:ln>
        </p:spPr>
      </p:sp>
      <p:sp>
        <p:nvSpPr>
          <p:cNvPr id="13" name="Text 10"/>
          <p:cNvSpPr/>
          <p:nvPr/>
        </p:nvSpPr>
        <p:spPr>
          <a:xfrm>
            <a:off x="6784848" y="1170432"/>
            <a:ext cx="2029968" cy="640080"/>
          </a:xfrm>
          <a:prstGeom prst="rect">
            <a:avLst/>
          </a:prstGeom>
          <a:noFill/>
          <a:ln/>
        </p:spPr>
        <p:txBody>
          <a:bodyPr wrap="square" rtlCol="0" anchor="ctr"/>
          <a:lstStyle/>
          <a:p>
            <a:pPr algn="ctr" indent="0" marL="0">
              <a:buNone/>
            </a:pPr>
            <a:r>
              <a:rPr lang="en-US" sz="2800" b="1" dirty="0">
                <a:solidFill>
                  <a:srgbClr val="158F7E"/>
                </a:solidFill>
                <a:latin typeface="Arial" pitchFamily="34" charset="0"/>
                <a:ea typeface="Arial" pitchFamily="34" charset="-122"/>
                <a:cs typeface="Arial" pitchFamily="34" charset="-120"/>
              </a:rPr>
              <a:t>14</a:t>
            </a:r>
            <a:endParaRPr lang="en-US" sz="2800" dirty="0"/>
          </a:p>
        </p:txBody>
      </p:sp>
      <p:sp>
        <p:nvSpPr>
          <p:cNvPr id="14" name="Text 11"/>
          <p:cNvSpPr/>
          <p:nvPr/>
        </p:nvSpPr>
        <p:spPr>
          <a:xfrm>
            <a:off x="6784848" y="1719072"/>
            <a:ext cx="2029968" cy="365760"/>
          </a:xfrm>
          <a:prstGeom prst="rect">
            <a:avLst/>
          </a:prstGeom>
          <a:noFill/>
          <a:ln/>
        </p:spPr>
        <p:txBody>
          <a:bodyPr wrap="square" rtlCol="0" anchor="ctr"/>
          <a:lstStyle/>
          <a:p>
            <a:pPr algn="ctr" indent="0" marL="0">
              <a:buNone/>
            </a:pPr>
            <a:r>
              <a:rPr lang="en-US" sz="850" dirty="0">
                <a:solidFill>
                  <a:srgbClr val="546E6E"/>
                </a:solidFill>
                <a:latin typeface="Arial" pitchFamily="34" charset="0"/>
                <a:ea typeface="Arial" pitchFamily="34" charset="-122"/>
                <a:cs typeface="Arial" pitchFamily="34" charset="-120"/>
              </a:rPr>
              <a:t>lignes chargées</a:t>
            </a:r>
            <a:endParaRPr lang="en-US" sz="850" dirty="0"/>
          </a:p>
        </p:txBody>
      </p:sp>
      <p:sp>
        <p:nvSpPr>
          <p:cNvPr id="15" name="Shape 12"/>
          <p:cNvSpPr/>
          <p:nvPr/>
        </p:nvSpPr>
        <p:spPr>
          <a:xfrm>
            <a:off x="6656832" y="2798064"/>
            <a:ext cx="2240280" cy="2084832"/>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16" name="Text 13"/>
          <p:cNvSpPr/>
          <p:nvPr/>
        </p:nvSpPr>
        <p:spPr>
          <a:xfrm>
            <a:off x="6729984" y="2834640"/>
            <a:ext cx="2103120" cy="2011680"/>
          </a:xfrm>
          <a:prstGeom prst="rect">
            <a:avLst/>
          </a:prstGeom>
          <a:noFill/>
          <a:ln/>
        </p:spPr>
        <p:txBody>
          <a:bodyPr wrap="square" rtlCol="0" anchor="ctr"/>
          <a:lstStyle/>
          <a:p>
            <a:pPr indent="0" marL="0">
              <a:buNone/>
            </a:pPr>
            <a:r>
              <a:rPr lang="en-US" sz="850" dirty="0">
                <a:solidFill>
                  <a:srgbClr val="1C3838"/>
                </a:solidFill>
                <a:latin typeface="Arial" pitchFamily="34" charset="0"/>
                <a:ea typeface="Arial" pitchFamily="34" charset="-122"/>
                <a:cs typeface="Arial" pitchFamily="34" charset="-120"/>
              </a:rPr>
              <a:t>Table de référence : 14 régions françaises. Clé primaire auto-incrémentée. Nécessaire pour la 3NF (élimination de la dépendance transitive nom_region dans commune).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5F4"/>
        </a:solidFill>
      </p:bgPr>
    </p:bg>
    <p:spTree>
      <p:nvGrpSpPr>
        <p:cNvPr id="1" name=""/>
        <p:cNvGrpSpPr/>
        <p:nvPr/>
      </p:nvGrpSpPr>
      <p:grpSpPr>
        <a:xfrm>
          <a:off x="0" y="0"/>
          <a:ext cx="0" cy="0"/>
          <a:chOff x="0" y="0"/>
          <a:chExt cx="0" cy="0"/>
        </a:xfrm>
      </p:grpSpPr>
      <p:sp>
        <p:nvSpPr>
          <p:cNvPr id="2" name="Shape 0"/>
          <p:cNvSpPr/>
          <p:nvPr/>
        </p:nvSpPr>
        <p:spPr>
          <a:xfrm>
            <a:off x="256032" y="164592"/>
            <a:ext cx="50292" cy="475488"/>
          </a:xfrm>
          <a:prstGeom prst="rect">
            <a:avLst/>
          </a:prstGeom>
          <a:solidFill>
            <a:srgbClr val="158F7E"/>
          </a:solidFill>
          <a:ln w="12700">
            <a:solidFill>
              <a:srgbClr val="158F7E"/>
            </a:solidFill>
            <a:prstDash val="solid"/>
          </a:ln>
        </p:spPr>
      </p:sp>
      <p:sp>
        <p:nvSpPr>
          <p:cNvPr id="3" name="Text 1"/>
          <p:cNvSpPr/>
          <p:nvPr/>
        </p:nvSpPr>
        <p:spPr>
          <a:xfrm>
            <a:off x="365760" y="109728"/>
            <a:ext cx="8412480" cy="566928"/>
          </a:xfrm>
          <a:prstGeom prst="rect">
            <a:avLst/>
          </a:prstGeom>
          <a:noFill/>
          <a:ln/>
        </p:spPr>
        <p:txBody>
          <a:bodyPr wrap="square" rtlCol="0" anchor="ctr"/>
          <a:lstStyle/>
          <a:p>
            <a:pPr indent="0" marL="0">
              <a:buNone/>
            </a:pPr>
            <a:r>
              <a:rPr lang="en-US" sz="2000" b="1" dirty="0">
                <a:solidFill>
                  <a:srgbClr val="1C3838"/>
                </a:solidFill>
                <a:latin typeface="Arial" pitchFamily="34" charset="0"/>
                <a:ea typeface="Arial" pitchFamily="34" charset="-122"/>
                <a:cs typeface="Arial" pitchFamily="34" charset="-120"/>
              </a:rPr>
              <a:t>Base de données — Table commune</a:t>
            </a:r>
            <a:endParaRPr lang="en-US" sz="2000" dirty="0"/>
          </a:p>
        </p:txBody>
      </p:sp>
      <p:sp>
        <p:nvSpPr>
          <p:cNvPr id="4" name="Shape 2"/>
          <p:cNvSpPr/>
          <p:nvPr/>
        </p:nvSpPr>
        <p:spPr>
          <a:xfrm>
            <a:off x="256032" y="667512"/>
            <a:ext cx="8641080" cy="0"/>
          </a:xfrm>
          <a:prstGeom prst="line">
            <a:avLst/>
          </a:prstGeom>
          <a:noFill/>
          <a:ln w="19050">
            <a:solidFill>
              <a:srgbClr val="1ABBA3"/>
            </a:solidFill>
            <a:prstDash val="solid"/>
          </a:ln>
        </p:spPr>
      </p:sp>
      <p:sp>
        <p:nvSpPr>
          <p:cNvPr id="5" name="Shape 3"/>
          <p:cNvSpPr/>
          <p:nvPr/>
        </p:nvSpPr>
        <p:spPr>
          <a:xfrm>
            <a:off x="256032" y="749808"/>
            <a:ext cx="6217920" cy="4133088"/>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6" name="Shape 4"/>
          <p:cNvSpPr/>
          <p:nvPr/>
        </p:nvSpPr>
        <p:spPr>
          <a:xfrm>
            <a:off x="256032" y="749808"/>
            <a:ext cx="6217920" cy="301752"/>
          </a:xfrm>
          <a:prstGeom prst="rect">
            <a:avLst/>
          </a:prstGeom>
          <a:solidFill>
            <a:srgbClr val="1A2F2F"/>
          </a:solidFill>
          <a:ln w="12700">
            <a:solidFill>
              <a:srgbClr val="1A2F2F"/>
            </a:solidFill>
            <a:prstDash val="solid"/>
          </a:ln>
        </p:spPr>
      </p:sp>
      <p:sp>
        <p:nvSpPr>
          <p:cNvPr id="7" name="Text 5"/>
          <p:cNvSpPr/>
          <p:nvPr/>
        </p:nvSpPr>
        <p:spPr>
          <a:xfrm>
            <a:off x="347472" y="749808"/>
            <a:ext cx="6035040" cy="301752"/>
          </a:xfrm>
          <a:prstGeom prst="rect">
            <a:avLst/>
          </a:prstGeom>
          <a:noFill/>
          <a:ln/>
        </p:spPr>
        <p:txBody>
          <a:bodyPr wrap="square" rtlCol="0" anchor="ctr"/>
          <a:lstStyle/>
          <a:p>
            <a:pPr indent="0" marL="0">
              <a:buNone/>
            </a:pPr>
            <a:r>
              <a:rPr lang="en-US" sz="950" b="1" dirty="0">
                <a:solidFill>
                  <a:srgbClr val="1ABBA3"/>
                </a:solidFill>
                <a:latin typeface="Arial" pitchFamily="34" charset="0"/>
                <a:ea typeface="Arial" pitchFamily="34" charset="-122"/>
                <a:cs typeface="Arial" pitchFamily="34" charset="-120"/>
              </a:rPr>
              <a:t>SQLiteStudio — commune</a:t>
            </a:r>
            <a:endParaRPr lang="en-US" sz="950" dirty="0"/>
          </a:p>
        </p:txBody>
      </p:sp>
      <p:pic>
        <p:nvPicPr>
          <p:cNvPr id="8" name="Image 0" descr="preencoded.png">    </p:cNvPr>
          <p:cNvPicPr>
            <a:picLocks noChangeAspect="1"/>
          </p:cNvPicPr>
          <p:nvPr/>
        </p:nvPicPr>
        <p:blipFill>
          <a:blip r:embed="rId1"/>
          <a:srcRect l="0" r="0" t="0" b="0"/>
          <a:stretch/>
        </p:blipFill>
        <p:spPr>
          <a:xfrm>
            <a:off x="301752" y="1078992"/>
            <a:ext cx="6108192" cy="3749040"/>
          </a:xfrm>
          <a:prstGeom prst="rect">
            <a:avLst/>
          </a:prstGeom>
        </p:spPr>
      </p:pic>
      <p:sp>
        <p:nvSpPr>
          <p:cNvPr id="9" name="Shape 6"/>
          <p:cNvSpPr/>
          <p:nvPr/>
        </p:nvSpPr>
        <p:spPr>
          <a:xfrm>
            <a:off x="6656832" y="749808"/>
            <a:ext cx="2240280" cy="1920240"/>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10" name="Shape 7"/>
          <p:cNvSpPr/>
          <p:nvPr/>
        </p:nvSpPr>
        <p:spPr>
          <a:xfrm>
            <a:off x="6656832" y="749808"/>
            <a:ext cx="2240280" cy="329184"/>
          </a:xfrm>
          <a:prstGeom prst="rect">
            <a:avLst/>
          </a:prstGeom>
          <a:solidFill>
            <a:srgbClr val="158F7E"/>
          </a:solidFill>
          <a:ln w="12700">
            <a:solidFill>
              <a:srgbClr val="158F7E"/>
            </a:solidFill>
            <a:prstDash val="solid"/>
          </a:ln>
        </p:spPr>
      </p:sp>
      <p:sp>
        <p:nvSpPr>
          <p:cNvPr id="11" name="Text 8"/>
          <p:cNvSpPr/>
          <p:nvPr/>
        </p:nvSpPr>
        <p:spPr>
          <a:xfrm>
            <a:off x="6748272" y="749808"/>
            <a:ext cx="2057400" cy="301752"/>
          </a:xfrm>
          <a:prstGeom prst="rect">
            <a:avLst/>
          </a:prstGeom>
          <a:noFill/>
          <a:ln/>
        </p:spPr>
        <p:txBody>
          <a:bodyPr wrap="square" rtlCol="0" anchor="ctr"/>
          <a:lstStyle/>
          <a:p>
            <a:pPr indent="0" marL="0">
              <a:buNone/>
            </a:pPr>
            <a:r>
              <a:rPr lang="en-US" sz="850" b="1" dirty="0">
                <a:solidFill>
                  <a:srgbClr val="FFFFFF"/>
                </a:solidFill>
                <a:latin typeface="Courier New" pitchFamily="34" charset="0"/>
                <a:ea typeface="Courier New" pitchFamily="34" charset="-122"/>
                <a:cs typeface="Courier New" pitchFamily="34" charset="-120"/>
              </a:rPr>
              <a:t>SELECT COUNT(*)</a:t>
            </a:r>
            <a:endParaRPr lang="en-US" sz="850" dirty="0"/>
          </a:p>
        </p:txBody>
      </p:sp>
      <p:sp>
        <p:nvSpPr>
          <p:cNvPr id="12" name="Shape 9"/>
          <p:cNvSpPr/>
          <p:nvPr/>
        </p:nvSpPr>
        <p:spPr>
          <a:xfrm>
            <a:off x="6784848" y="1170432"/>
            <a:ext cx="2029968" cy="1005840"/>
          </a:xfrm>
          <a:prstGeom prst="rect">
            <a:avLst/>
          </a:prstGeom>
          <a:solidFill>
            <a:srgbClr val="EAF5F4"/>
          </a:solidFill>
          <a:ln w="6350">
            <a:solidFill>
              <a:srgbClr val="D0E8E6"/>
            </a:solidFill>
            <a:prstDash val="solid"/>
          </a:ln>
        </p:spPr>
      </p:sp>
      <p:sp>
        <p:nvSpPr>
          <p:cNvPr id="13" name="Text 10"/>
          <p:cNvSpPr/>
          <p:nvPr/>
        </p:nvSpPr>
        <p:spPr>
          <a:xfrm>
            <a:off x="6784848" y="1170432"/>
            <a:ext cx="2029968" cy="640080"/>
          </a:xfrm>
          <a:prstGeom prst="rect">
            <a:avLst/>
          </a:prstGeom>
          <a:noFill/>
          <a:ln/>
        </p:spPr>
        <p:txBody>
          <a:bodyPr wrap="square" rtlCol="0" anchor="ctr"/>
          <a:lstStyle/>
          <a:p>
            <a:pPr algn="ctr" indent="0" marL="0">
              <a:buNone/>
            </a:pPr>
            <a:r>
              <a:rPr lang="en-US" sz="2800" b="1" dirty="0">
                <a:solidFill>
                  <a:srgbClr val="158F7E"/>
                </a:solidFill>
                <a:latin typeface="Arial" pitchFamily="34" charset="0"/>
                <a:ea typeface="Arial" pitchFamily="34" charset="-122"/>
                <a:cs typeface="Arial" pitchFamily="34" charset="-120"/>
              </a:rPr>
              <a:t>467</a:t>
            </a:r>
            <a:endParaRPr lang="en-US" sz="2800" dirty="0"/>
          </a:p>
        </p:txBody>
      </p:sp>
      <p:sp>
        <p:nvSpPr>
          <p:cNvPr id="14" name="Text 11"/>
          <p:cNvSpPr/>
          <p:nvPr/>
        </p:nvSpPr>
        <p:spPr>
          <a:xfrm>
            <a:off x="6784848" y="1719072"/>
            <a:ext cx="2029968" cy="365760"/>
          </a:xfrm>
          <a:prstGeom prst="rect">
            <a:avLst/>
          </a:prstGeom>
          <a:noFill/>
          <a:ln/>
        </p:spPr>
        <p:txBody>
          <a:bodyPr wrap="square" rtlCol="0" anchor="ctr"/>
          <a:lstStyle/>
          <a:p>
            <a:pPr algn="ctr" indent="0" marL="0">
              <a:buNone/>
            </a:pPr>
            <a:r>
              <a:rPr lang="en-US" sz="850" dirty="0">
                <a:solidFill>
                  <a:srgbClr val="546E6E"/>
                </a:solidFill>
                <a:latin typeface="Arial" pitchFamily="34" charset="0"/>
                <a:ea typeface="Arial" pitchFamily="34" charset="-122"/>
                <a:cs typeface="Arial" pitchFamily="34" charset="-120"/>
              </a:rPr>
              <a:t>lignes chargées</a:t>
            </a:r>
            <a:endParaRPr lang="en-US" sz="850" dirty="0"/>
          </a:p>
        </p:txBody>
      </p:sp>
      <p:sp>
        <p:nvSpPr>
          <p:cNvPr id="15" name="Shape 12"/>
          <p:cNvSpPr/>
          <p:nvPr/>
        </p:nvSpPr>
        <p:spPr>
          <a:xfrm>
            <a:off x="6656832" y="2798064"/>
            <a:ext cx="2240280" cy="2084832"/>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16" name="Text 13"/>
          <p:cNvSpPr/>
          <p:nvPr/>
        </p:nvSpPr>
        <p:spPr>
          <a:xfrm>
            <a:off x="6729984" y="2834640"/>
            <a:ext cx="2103120" cy="2011680"/>
          </a:xfrm>
          <a:prstGeom prst="rect">
            <a:avLst/>
          </a:prstGeom>
          <a:noFill/>
          <a:ln/>
        </p:spPr>
        <p:txBody>
          <a:bodyPr wrap="square" rtlCol="0" anchor="ctr"/>
          <a:lstStyle/>
          <a:p>
            <a:pPr indent="0" marL="0">
              <a:buNone/>
            </a:pPr>
            <a:r>
              <a:rPr lang="en-US" sz="850" dirty="0">
                <a:solidFill>
                  <a:srgbClr val="1C3838"/>
                </a:solidFill>
                <a:latin typeface="Arial" pitchFamily="34" charset="0"/>
                <a:ea typeface="Arial" pitchFamily="34" charset="-122"/>
                <a:cs typeface="Arial" pitchFamily="34" charset="-120"/>
              </a:rPr>
              <a:t>Table géographique. Clé primaire concaténée id_codedep_codecommune = code_dep + code_commune (ex : 34172 pour Montpellier). Clé étrangère id_region vers region.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5F4"/>
        </a:solidFill>
      </p:bgPr>
    </p:bg>
    <p:spTree>
      <p:nvGrpSpPr>
        <p:cNvPr id="1" name=""/>
        <p:cNvGrpSpPr/>
        <p:nvPr/>
      </p:nvGrpSpPr>
      <p:grpSpPr>
        <a:xfrm>
          <a:off x="0" y="0"/>
          <a:ext cx="0" cy="0"/>
          <a:chOff x="0" y="0"/>
          <a:chExt cx="0" cy="0"/>
        </a:xfrm>
      </p:grpSpPr>
      <p:sp>
        <p:nvSpPr>
          <p:cNvPr id="2" name="Shape 0"/>
          <p:cNvSpPr/>
          <p:nvPr/>
        </p:nvSpPr>
        <p:spPr>
          <a:xfrm>
            <a:off x="256032" y="164592"/>
            <a:ext cx="50292" cy="475488"/>
          </a:xfrm>
          <a:prstGeom prst="rect">
            <a:avLst/>
          </a:prstGeom>
          <a:solidFill>
            <a:srgbClr val="158F7E"/>
          </a:solidFill>
          <a:ln w="12700">
            <a:solidFill>
              <a:srgbClr val="158F7E"/>
            </a:solidFill>
            <a:prstDash val="solid"/>
          </a:ln>
        </p:spPr>
      </p:sp>
      <p:sp>
        <p:nvSpPr>
          <p:cNvPr id="3" name="Text 1"/>
          <p:cNvSpPr/>
          <p:nvPr/>
        </p:nvSpPr>
        <p:spPr>
          <a:xfrm>
            <a:off x="365760" y="109728"/>
            <a:ext cx="8412480" cy="566928"/>
          </a:xfrm>
          <a:prstGeom prst="rect">
            <a:avLst/>
          </a:prstGeom>
          <a:noFill/>
          <a:ln/>
        </p:spPr>
        <p:txBody>
          <a:bodyPr wrap="square" rtlCol="0" anchor="ctr"/>
          <a:lstStyle/>
          <a:p>
            <a:pPr indent="0" marL="0">
              <a:buNone/>
            </a:pPr>
            <a:r>
              <a:rPr lang="en-US" sz="2000" b="1" dirty="0">
                <a:solidFill>
                  <a:srgbClr val="1C3838"/>
                </a:solidFill>
                <a:latin typeface="Arial" pitchFamily="34" charset="0"/>
                <a:ea typeface="Arial" pitchFamily="34" charset="-122"/>
                <a:cs typeface="Arial" pitchFamily="34" charset="-120"/>
              </a:rPr>
              <a:t>Base de données — Table bien_immo</a:t>
            </a:r>
            <a:endParaRPr lang="en-US" sz="2000" dirty="0"/>
          </a:p>
        </p:txBody>
      </p:sp>
      <p:sp>
        <p:nvSpPr>
          <p:cNvPr id="4" name="Shape 2"/>
          <p:cNvSpPr/>
          <p:nvPr/>
        </p:nvSpPr>
        <p:spPr>
          <a:xfrm>
            <a:off x="256032" y="667512"/>
            <a:ext cx="8641080" cy="0"/>
          </a:xfrm>
          <a:prstGeom prst="line">
            <a:avLst/>
          </a:prstGeom>
          <a:noFill/>
          <a:ln w="19050">
            <a:solidFill>
              <a:srgbClr val="1ABBA3"/>
            </a:solidFill>
            <a:prstDash val="solid"/>
          </a:ln>
        </p:spPr>
      </p:sp>
      <p:sp>
        <p:nvSpPr>
          <p:cNvPr id="5" name="Shape 3"/>
          <p:cNvSpPr/>
          <p:nvPr/>
        </p:nvSpPr>
        <p:spPr>
          <a:xfrm>
            <a:off x="256032" y="749808"/>
            <a:ext cx="6217920" cy="4133088"/>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6" name="Shape 4"/>
          <p:cNvSpPr/>
          <p:nvPr/>
        </p:nvSpPr>
        <p:spPr>
          <a:xfrm>
            <a:off x="256032" y="749808"/>
            <a:ext cx="6217920" cy="301752"/>
          </a:xfrm>
          <a:prstGeom prst="rect">
            <a:avLst/>
          </a:prstGeom>
          <a:solidFill>
            <a:srgbClr val="1A2F2F"/>
          </a:solidFill>
          <a:ln w="12700">
            <a:solidFill>
              <a:srgbClr val="1A2F2F"/>
            </a:solidFill>
            <a:prstDash val="solid"/>
          </a:ln>
        </p:spPr>
      </p:sp>
      <p:sp>
        <p:nvSpPr>
          <p:cNvPr id="7" name="Text 5"/>
          <p:cNvSpPr/>
          <p:nvPr/>
        </p:nvSpPr>
        <p:spPr>
          <a:xfrm>
            <a:off x="347472" y="749808"/>
            <a:ext cx="6035040" cy="301752"/>
          </a:xfrm>
          <a:prstGeom prst="rect">
            <a:avLst/>
          </a:prstGeom>
          <a:noFill/>
          <a:ln/>
        </p:spPr>
        <p:txBody>
          <a:bodyPr wrap="square" rtlCol="0" anchor="ctr"/>
          <a:lstStyle/>
          <a:p>
            <a:pPr indent="0" marL="0">
              <a:buNone/>
            </a:pPr>
            <a:r>
              <a:rPr lang="en-US" sz="950" b="1" dirty="0">
                <a:solidFill>
                  <a:srgbClr val="1ABBA3"/>
                </a:solidFill>
                <a:latin typeface="Arial" pitchFamily="34" charset="0"/>
                <a:ea typeface="Arial" pitchFamily="34" charset="-122"/>
                <a:cs typeface="Arial" pitchFamily="34" charset="-120"/>
              </a:rPr>
              <a:t>SQLiteStudio — bien_immo</a:t>
            </a:r>
            <a:endParaRPr lang="en-US" sz="950" dirty="0"/>
          </a:p>
        </p:txBody>
      </p:sp>
      <p:pic>
        <p:nvPicPr>
          <p:cNvPr id="8" name="Image 0" descr="preencoded.png">    </p:cNvPr>
          <p:cNvPicPr>
            <a:picLocks noChangeAspect="1"/>
          </p:cNvPicPr>
          <p:nvPr/>
        </p:nvPicPr>
        <p:blipFill>
          <a:blip r:embed="rId1"/>
          <a:srcRect l="0" r="0" t="0" b="0"/>
          <a:stretch/>
        </p:blipFill>
        <p:spPr>
          <a:xfrm>
            <a:off x="301752" y="1078992"/>
            <a:ext cx="6108192" cy="3749040"/>
          </a:xfrm>
          <a:prstGeom prst="rect">
            <a:avLst/>
          </a:prstGeom>
        </p:spPr>
      </p:pic>
      <p:sp>
        <p:nvSpPr>
          <p:cNvPr id="9" name="Shape 6"/>
          <p:cNvSpPr/>
          <p:nvPr/>
        </p:nvSpPr>
        <p:spPr>
          <a:xfrm>
            <a:off x="6656832" y="749808"/>
            <a:ext cx="2240280" cy="1920240"/>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10" name="Shape 7"/>
          <p:cNvSpPr/>
          <p:nvPr/>
        </p:nvSpPr>
        <p:spPr>
          <a:xfrm>
            <a:off x="6656832" y="749808"/>
            <a:ext cx="2240280" cy="329184"/>
          </a:xfrm>
          <a:prstGeom prst="rect">
            <a:avLst/>
          </a:prstGeom>
          <a:solidFill>
            <a:srgbClr val="158F7E"/>
          </a:solidFill>
          <a:ln w="12700">
            <a:solidFill>
              <a:srgbClr val="158F7E"/>
            </a:solidFill>
            <a:prstDash val="solid"/>
          </a:ln>
        </p:spPr>
      </p:sp>
      <p:sp>
        <p:nvSpPr>
          <p:cNvPr id="11" name="Text 8"/>
          <p:cNvSpPr/>
          <p:nvPr/>
        </p:nvSpPr>
        <p:spPr>
          <a:xfrm>
            <a:off x="6748272" y="749808"/>
            <a:ext cx="2057400" cy="301752"/>
          </a:xfrm>
          <a:prstGeom prst="rect">
            <a:avLst/>
          </a:prstGeom>
          <a:noFill/>
          <a:ln/>
        </p:spPr>
        <p:txBody>
          <a:bodyPr wrap="square" rtlCol="0" anchor="ctr"/>
          <a:lstStyle/>
          <a:p>
            <a:pPr indent="0" marL="0">
              <a:buNone/>
            </a:pPr>
            <a:r>
              <a:rPr lang="en-US" sz="850" b="1" dirty="0">
                <a:solidFill>
                  <a:srgbClr val="FFFFFF"/>
                </a:solidFill>
                <a:latin typeface="Courier New" pitchFamily="34" charset="0"/>
                <a:ea typeface="Courier New" pitchFamily="34" charset="-122"/>
                <a:cs typeface="Courier New" pitchFamily="34" charset="-120"/>
              </a:rPr>
              <a:t>SELECT COUNT(*)</a:t>
            </a:r>
            <a:endParaRPr lang="en-US" sz="850" dirty="0"/>
          </a:p>
        </p:txBody>
      </p:sp>
      <p:sp>
        <p:nvSpPr>
          <p:cNvPr id="12" name="Shape 9"/>
          <p:cNvSpPr/>
          <p:nvPr/>
        </p:nvSpPr>
        <p:spPr>
          <a:xfrm>
            <a:off x="6784848" y="1170432"/>
            <a:ext cx="2029968" cy="1005840"/>
          </a:xfrm>
          <a:prstGeom prst="rect">
            <a:avLst/>
          </a:prstGeom>
          <a:solidFill>
            <a:srgbClr val="EAF5F4"/>
          </a:solidFill>
          <a:ln w="6350">
            <a:solidFill>
              <a:srgbClr val="D0E8E6"/>
            </a:solidFill>
            <a:prstDash val="solid"/>
          </a:ln>
        </p:spPr>
      </p:sp>
      <p:sp>
        <p:nvSpPr>
          <p:cNvPr id="13" name="Text 10"/>
          <p:cNvSpPr/>
          <p:nvPr/>
        </p:nvSpPr>
        <p:spPr>
          <a:xfrm>
            <a:off x="6784848" y="1170432"/>
            <a:ext cx="2029968" cy="640080"/>
          </a:xfrm>
          <a:prstGeom prst="rect">
            <a:avLst/>
          </a:prstGeom>
          <a:noFill/>
          <a:ln/>
        </p:spPr>
        <p:txBody>
          <a:bodyPr wrap="square" rtlCol="0" anchor="ctr"/>
          <a:lstStyle/>
          <a:p>
            <a:pPr algn="ctr" indent="0" marL="0">
              <a:buNone/>
            </a:pPr>
            <a:r>
              <a:rPr lang="en-US" sz="2800" b="1" dirty="0">
                <a:solidFill>
                  <a:srgbClr val="158F7E"/>
                </a:solidFill>
                <a:latin typeface="Arial" pitchFamily="34" charset="0"/>
                <a:ea typeface="Arial" pitchFamily="34" charset="-122"/>
                <a:cs typeface="Arial" pitchFamily="34" charset="-120"/>
              </a:rPr>
              <a:t>1 107</a:t>
            </a:r>
            <a:endParaRPr lang="en-US" sz="2800" dirty="0"/>
          </a:p>
        </p:txBody>
      </p:sp>
      <p:sp>
        <p:nvSpPr>
          <p:cNvPr id="14" name="Text 11"/>
          <p:cNvSpPr/>
          <p:nvPr/>
        </p:nvSpPr>
        <p:spPr>
          <a:xfrm>
            <a:off x="6784848" y="1719072"/>
            <a:ext cx="2029968" cy="365760"/>
          </a:xfrm>
          <a:prstGeom prst="rect">
            <a:avLst/>
          </a:prstGeom>
          <a:noFill/>
          <a:ln/>
        </p:spPr>
        <p:txBody>
          <a:bodyPr wrap="square" rtlCol="0" anchor="ctr"/>
          <a:lstStyle/>
          <a:p>
            <a:pPr algn="ctr" indent="0" marL="0">
              <a:buNone/>
            </a:pPr>
            <a:r>
              <a:rPr lang="en-US" sz="850" dirty="0">
                <a:solidFill>
                  <a:srgbClr val="546E6E"/>
                </a:solidFill>
                <a:latin typeface="Arial" pitchFamily="34" charset="0"/>
                <a:ea typeface="Arial" pitchFamily="34" charset="-122"/>
                <a:cs typeface="Arial" pitchFamily="34" charset="-120"/>
              </a:rPr>
              <a:t>lignes chargées</a:t>
            </a:r>
            <a:endParaRPr lang="en-US" sz="850" dirty="0"/>
          </a:p>
        </p:txBody>
      </p:sp>
      <p:sp>
        <p:nvSpPr>
          <p:cNvPr id="15" name="Shape 12"/>
          <p:cNvSpPr/>
          <p:nvPr/>
        </p:nvSpPr>
        <p:spPr>
          <a:xfrm>
            <a:off x="6656832" y="2798064"/>
            <a:ext cx="2240280" cy="2084832"/>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16" name="Text 13"/>
          <p:cNvSpPr/>
          <p:nvPr/>
        </p:nvSpPr>
        <p:spPr>
          <a:xfrm>
            <a:off x="6729984" y="2834640"/>
            <a:ext cx="2103120" cy="2011680"/>
          </a:xfrm>
          <a:prstGeom prst="rect">
            <a:avLst/>
          </a:prstGeom>
          <a:noFill/>
          <a:ln/>
        </p:spPr>
        <p:txBody>
          <a:bodyPr wrap="square" rtlCol="0" anchor="ctr"/>
          <a:lstStyle/>
          <a:p>
            <a:pPr indent="0" marL="0">
              <a:buNone/>
            </a:pPr>
            <a:r>
              <a:rPr lang="en-US" sz="850" dirty="0">
                <a:solidFill>
                  <a:srgbClr val="1C3838"/>
                </a:solidFill>
                <a:latin typeface="Arial" pitchFamily="34" charset="0"/>
                <a:ea typeface="Arial" pitchFamily="34" charset="-122"/>
                <a:cs typeface="Arial" pitchFamily="34" charset="-120"/>
              </a:rPr>
              <a:t>Table principale du bien. Colonnes d'adresse (No_voie, Voie, Type_de_voie) supprimées : données personnelles RGPD et non nécessaires pour les requêtes analytiques.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5F4"/>
        </a:solidFill>
      </p:bgPr>
    </p:bg>
    <p:spTree>
      <p:nvGrpSpPr>
        <p:cNvPr id="1" name=""/>
        <p:cNvGrpSpPr/>
        <p:nvPr/>
      </p:nvGrpSpPr>
      <p:grpSpPr>
        <a:xfrm>
          <a:off x="0" y="0"/>
          <a:ext cx="0" cy="0"/>
          <a:chOff x="0" y="0"/>
          <a:chExt cx="0" cy="0"/>
        </a:xfrm>
      </p:grpSpPr>
      <p:sp>
        <p:nvSpPr>
          <p:cNvPr id="2" name="Shape 0"/>
          <p:cNvSpPr/>
          <p:nvPr/>
        </p:nvSpPr>
        <p:spPr>
          <a:xfrm>
            <a:off x="256032" y="164592"/>
            <a:ext cx="50292" cy="475488"/>
          </a:xfrm>
          <a:prstGeom prst="rect">
            <a:avLst/>
          </a:prstGeom>
          <a:solidFill>
            <a:srgbClr val="158F7E"/>
          </a:solidFill>
          <a:ln w="12700">
            <a:solidFill>
              <a:srgbClr val="158F7E"/>
            </a:solidFill>
            <a:prstDash val="solid"/>
          </a:ln>
        </p:spPr>
      </p:sp>
      <p:sp>
        <p:nvSpPr>
          <p:cNvPr id="3" name="Text 1"/>
          <p:cNvSpPr/>
          <p:nvPr/>
        </p:nvSpPr>
        <p:spPr>
          <a:xfrm>
            <a:off x="365760" y="109728"/>
            <a:ext cx="8412480" cy="566928"/>
          </a:xfrm>
          <a:prstGeom prst="rect">
            <a:avLst/>
          </a:prstGeom>
          <a:noFill/>
          <a:ln/>
        </p:spPr>
        <p:txBody>
          <a:bodyPr wrap="square" rtlCol="0" anchor="ctr"/>
          <a:lstStyle/>
          <a:p>
            <a:pPr indent="0" marL="0">
              <a:buNone/>
            </a:pPr>
            <a:r>
              <a:rPr lang="en-US" sz="2000" b="1" dirty="0">
                <a:solidFill>
                  <a:srgbClr val="1C3838"/>
                </a:solidFill>
                <a:latin typeface="Arial" pitchFamily="34" charset="0"/>
                <a:ea typeface="Arial" pitchFamily="34" charset="-122"/>
                <a:cs typeface="Arial" pitchFamily="34" charset="-120"/>
              </a:rPr>
              <a:t>Base de données — Table vente</a:t>
            </a:r>
            <a:endParaRPr lang="en-US" sz="2000" dirty="0"/>
          </a:p>
        </p:txBody>
      </p:sp>
      <p:sp>
        <p:nvSpPr>
          <p:cNvPr id="4" name="Shape 2"/>
          <p:cNvSpPr/>
          <p:nvPr/>
        </p:nvSpPr>
        <p:spPr>
          <a:xfrm>
            <a:off x="256032" y="667512"/>
            <a:ext cx="8641080" cy="0"/>
          </a:xfrm>
          <a:prstGeom prst="line">
            <a:avLst/>
          </a:prstGeom>
          <a:noFill/>
          <a:ln w="19050">
            <a:solidFill>
              <a:srgbClr val="1ABBA3"/>
            </a:solidFill>
            <a:prstDash val="solid"/>
          </a:ln>
        </p:spPr>
      </p:sp>
      <p:sp>
        <p:nvSpPr>
          <p:cNvPr id="5" name="Shape 3"/>
          <p:cNvSpPr/>
          <p:nvPr/>
        </p:nvSpPr>
        <p:spPr>
          <a:xfrm>
            <a:off x="256032" y="749808"/>
            <a:ext cx="6217920" cy="4133088"/>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6" name="Shape 4"/>
          <p:cNvSpPr/>
          <p:nvPr/>
        </p:nvSpPr>
        <p:spPr>
          <a:xfrm>
            <a:off x="256032" y="749808"/>
            <a:ext cx="6217920" cy="301752"/>
          </a:xfrm>
          <a:prstGeom prst="rect">
            <a:avLst/>
          </a:prstGeom>
          <a:solidFill>
            <a:srgbClr val="1A2F2F"/>
          </a:solidFill>
          <a:ln w="12700">
            <a:solidFill>
              <a:srgbClr val="1A2F2F"/>
            </a:solidFill>
            <a:prstDash val="solid"/>
          </a:ln>
        </p:spPr>
      </p:sp>
      <p:sp>
        <p:nvSpPr>
          <p:cNvPr id="7" name="Text 5"/>
          <p:cNvSpPr/>
          <p:nvPr/>
        </p:nvSpPr>
        <p:spPr>
          <a:xfrm>
            <a:off x="347472" y="749808"/>
            <a:ext cx="6035040" cy="301752"/>
          </a:xfrm>
          <a:prstGeom prst="rect">
            <a:avLst/>
          </a:prstGeom>
          <a:noFill/>
          <a:ln/>
        </p:spPr>
        <p:txBody>
          <a:bodyPr wrap="square" rtlCol="0" anchor="ctr"/>
          <a:lstStyle/>
          <a:p>
            <a:pPr indent="0" marL="0">
              <a:buNone/>
            </a:pPr>
            <a:r>
              <a:rPr lang="en-US" sz="950" b="1" dirty="0">
                <a:solidFill>
                  <a:srgbClr val="1ABBA3"/>
                </a:solidFill>
                <a:latin typeface="Arial" pitchFamily="34" charset="0"/>
                <a:ea typeface="Arial" pitchFamily="34" charset="-122"/>
                <a:cs typeface="Arial" pitchFamily="34" charset="-120"/>
              </a:rPr>
              <a:t>SQLiteStudio — vente</a:t>
            </a:r>
            <a:endParaRPr lang="en-US" sz="950" dirty="0"/>
          </a:p>
        </p:txBody>
      </p:sp>
      <p:pic>
        <p:nvPicPr>
          <p:cNvPr id="8" name="Image 0" descr="preencoded.png">    </p:cNvPr>
          <p:cNvPicPr>
            <a:picLocks noChangeAspect="1"/>
          </p:cNvPicPr>
          <p:nvPr/>
        </p:nvPicPr>
        <p:blipFill>
          <a:blip r:embed="rId1"/>
          <a:srcRect l="0" r="0" t="0" b="0"/>
          <a:stretch/>
        </p:blipFill>
        <p:spPr>
          <a:xfrm>
            <a:off x="301752" y="1078992"/>
            <a:ext cx="6108192" cy="3749040"/>
          </a:xfrm>
          <a:prstGeom prst="rect">
            <a:avLst/>
          </a:prstGeom>
        </p:spPr>
      </p:pic>
      <p:sp>
        <p:nvSpPr>
          <p:cNvPr id="9" name="Shape 6"/>
          <p:cNvSpPr/>
          <p:nvPr/>
        </p:nvSpPr>
        <p:spPr>
          <a:xfrm>
            <a:off x="6656832" y="749808"/>
            <a:ext cx="2240280" cy="1920240"/>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10" name="Shape 7"/>
          <p:cNvSpPr/>
          <p:nvPr/>
        </p:nvSpPr>
        <p:spPr>
          <a:xfrm>
            <a:off x="6656832" y="749808"/>
            <a:ext cx="2240280" cy="329184"/>
          </a:xfrm>
          <a:prstGeom prst="rect">
            <a:avLst/>
          </a:prstGeom>
          <a:solidFill>
            <a:srgbClr val="158F7E"/>
          </a:solidFill>
          <a:ln w="12700">
            <a:solidFill>
              <a:srgbClr val="158F7E"/>
            </a:solidFill>
            <a:prstDash val="solid"/>
          </a:ln>
        </p:spPr>
      </p:sp>
      <p:sp>
        <p:nvSpPr>
          <p:cNvPr id="11" name="Text 8"/>
          <p:cNvSpPr/>
          <p:nvPr/>
        </p:nvSpPr>
        <p:spPr>
          <a:xfrm>
            <a:off x="6748272" y="749808"/>
            <a:ext cx="2057400" cy="301752"/>
          </a:xfrm>
          <a:prstGeom prst="rect">
            <a:avLst/>
          </a:prstGeom>
          <a:noFill/>
          <a:ln/>
        </p:spPr>
        <p:txBody>
          <a:bodyPr wrap="square" rtlCol="0" anchor="ctr"/>
          <a:lstStyle/>
          <a:p>
            <a:pPr indent="0" marL="0">
              <a:buNone/>
            </a:pPr>
            <a:r>
              <a:rPr lang="en-US" sz="850" b="1" dirty="0">
                <a:solidFill>
                  <a:srgbClr val="FFFFFF"/>
                </a:solidFill>
                <a:latin typeface="Courier New" pitchFamily="34" charset="0"/>
                <a:ea typeface="Courier New" pitchFamily="34" charset="-122"/>
                <a:cs typeface="Courier New" pitchFamily="34" charset="-120"/>
              </a:rPr>
              <a:t>SELECT COUNT(*)</a:t>
            </a:r>
            <a:endParaRPr lang="en-US" sz="850" dirty="0"/>
          </a:p>
        </p:txBody>
      </p:sp>
      <p:sp>
        <p:nvSpPr>
          <p:cNvPr id="12" name="Shape 9"/>
          <p:cNvSpPr/>
          <p:nvPr/>
        </p:nvSpPr>
        <p:spPr>
          <a:xfrm>
            <a:off x="6784848" y="1170432"/>
            <a:ext cx="2029968" cy="1005840"/>
          </a:xfrm>
          <a:prstGeom prst="rect">
            <a:avLst/>
          </a:prstGeom>
          <a:solidFill>
            <a:srgbClr val="EAF5F4"/>
          </a:solidFill>
          <a:ln w="6350">
            <a:solidFill>
              <a:srgbClr val="D0E8E6"/>
            </a:solidFill>
            <a:prstDash val="solid"/>
          </a:ln>
        </p:spPr>
      </p:sp>
      <p:sp>
        <p:nvSpPr>
          <p:cNvPr id="13" name="Text 10"/>
          <p:cNvSpPr/>
          <p:nvPr/>
        </p:nvSpPr>
        <p:spPr>
          <a:xfrm>
            <a:off x="6784848" y="1170432"/>
            <a:ext cx="2029968" cy="640080"/>
          </a:xfrm>
          <a:prstGeom prst="rect">
            <a:avLst/>
          </a:prstGeom>
          <a:noFill/>
          <a:ln/>
        </p:spPr>
        <p:txBody>
          <a:bodyPr wrap="square" rtlCol="0" anchor="ctr"/>
          <a:lstStyle/>
          <a:p>
            <a:pPr algn="ctr" indent="0" marL="0">
              <a:buNone/>
            </a:pPr>
            <a:r>
              <a:rPr lang="en-US" sz="2800" b="1" dirty="0">
                <a:solidFill>
                  <a:srgbClr val="158F7E"/>
                </a:solidFill>
                <a:latin typeface="Arial" pitchFamily="34" charset="0"/>
                <a:ea typeface="Arial" pitchFamily="34" charset="-122"/>
                <a:cs typeface="Arial" pitchFamily="34" charset="-120"/>
              </a:rPr>
              <a:t>1 047</a:t>
            </a:r>
            <a:endParaRPr lang="en-US" sz="2800" dirty="0"/>
          </a:p>
        </p:txBody>
      </p:sp>
      <p:sp>
        <p:nvSpPr>
          <p:cNvPr id="14" name="Text 11"/>
          <p:cNvSpPr/>
          <p:nvPr/>
        </p:nvSpPr>
        <p:spPr>
          <a:xfrm>
            <a:off x="6784848" y="1719072"/>
            <a:ext cx="2029968" cy="365760"/>
          </a:xfrm>
          <a:prstGeom prst="rect">
            <a:avLst/>
          </a:prstGeom>
          <a:noFill/>
          <a:ln/>
        </p:spPr>
        <p:txBody>
          <a:bodyPr wrap="square" rtlCol="0" anchor="ctr"/>
          <a:lstStyle/>
          <a:p>
            <a:pPr algn="ctr" indent="0" marL="0">
              <a:buNone/>
            </a:pPr>
            <a:r>
              <a:rPr lang="en-US" sz="850" dirty="0">
                <a:solidFill>
                  <a:srgbClr val="546E6E"/>
                </a:solidFill>
                <a:latin typeface="Arial" pitchFamily="34" charset="0"/>
                <a:ea typeface="Arial" pitchFamily="34" charset="-122"/>
                <a:cs typeface="Arial" pitchFamily="34" charset="-120"/>
              </a:rPr>
              <a:t>lignes chargées</a:t>
            </a:r>
            <a:endParaRPr lang="en-US" sz="850" dirty="0"/>
          </a:p>
        </p:txBody>
      </p:sp>
      <p:sp>
        <p:nvSpPr>
          <p:cNvPr id="15" name="Shape 12"/>
          <p:cNvSpPr/>
          <p:nvPr/>
        </p:nvSpPr>
        <p:spPr>
          <a:xfrm>
            <a:off x="6656832" y="2798064"/>
            <a:ext cx="2240280" cy="2084832"/>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16" name="Text 13"/>
          <p:cNvSpPr/>
          <p:nvPr/>
        </p:nvSpPr>
        <p:spPr>
          <a:xfrm>
            <a:off x="6729984" y="2834640"/>
            <a:ext cx="2103120" cy="2011680"/>
          </a:xfrm>
          <a:prstGeom prst="rect">
            <a:avLst/>
          </a:prstGeom>
          <a:noFill/>
          <a:ln/>
        </p:spPr>
        <p:txBody>
          <a:bodyPr wrap="square" rtlCol="0" anchor="ctr"/>
          <a:lstStyle/>
          <a:p>
            <a:pPr indent="0" marL="0">
              <a:buNone/>
            </a:pPr>
            <a:r>
              <a:rPr lang="en-US" sz="850" dirty="0">
                <a:solidFill>
                  <a:srgbClr val="1C3838"/>
                </a:solidFill>
                <a:latin typeface="Arial" pitchFamily="34" charset="0"/>
                <a:ea typeface="Arial" pitchFamily="34" charset="-122"/>
                <a:cs typeface="Arial" pitchFamily="34" charset="-120"/>
              </a:rPr>
              <a:t>Table de transaction. Chaque ligne = 1 vente. Clé étrangère Id_bien vers bien_immo. Valeur_fonciere exprimée en euros.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F5F4"/>
        </a:solidFill>
      </p:bgPr>
    </p:bg>
    <p:spTree>
      <p:nvGrpSpPr>
        <p:cNvPr id="1" name=""/>
        <p:cNvGrpSpPr/>
        <p:nvPr/>
      </p:nvGrpSpPr>
      <p:grpSpPr>
        <a:xfrm>
          <a:off x="0" y="0"/>
          <a:ext cx="0" cy="0"/>
          <a:chOff x="0" y="0"/>
          <a:chExt cx="0" cy="0"/>
        </a:xfrm>
      </p:grpSpPr>
      <p:sp>
        <p:nvSpPr>
          <p:cNvPr id="2" name="Shape 0"/>
          <p:cNvSpPr/>
          <p:nvPr/>
        </p:nvSpPr>
        <p:spPr>
          <a:xfrm>
            <a:off x="256032" y="164592"/>
            <a:ext cx="50292" cy="475488"/>
          </a:xfrm>
          <a:prstGeom prst="rect">
            <a:avLst/>
          </a:prstGeom>
          <a:solidFill>
            <a:srgbClr val="158F7E"/>
          </a:solidFill>
          <a:ln w="12700">
            <a:solidFill>
              <a:srgbClr val="158F7E"/>
            </a:solidFill>
            <a:prstDash val="solid"/>
          </a:ln>
        </p:spPr>
      </p:sp>
      <p:sp>
        <p:nvSpPr>
          <p:cNvPr id="3" name="Text 1"/>
          <p:cNvSpPr/>
          <p:nvPr/>
        </p:nvSpPr>
        <p:spPr>
          <a:xfrm>
            <a:off x="365760" y="109728"/>
            <a:ext cx="8412480" cy="566928"/>
          </a:xfrm>
          <a:prstGeom prst="rect">
            <a:avLst/>
          </a:prstGeom>
          <a:noFill/>
          <a:ln/>
        </p:spPr>
        <p:txBody>
          <a:bodyPr wrap="square" rtlCol="0" anchor="ctr"/>
          <a:lstStyle/>
          <a:p>
            <a:pPr indent="0" marL="0">
              <a:buNone/>
            </a:pPr>
            <a:r>
              <a:rPr lang="en-US" sz="2000" b="1" dirty="0">
                <a:solidFill>
                  <a:srgbClr val="1C3838"/>
                </a:solidFill>
                <a:latin typeface="Arial" pitchFamily="34" charset="0"/>
                <a:ea typeface="Arial" pitchFamily="34" charset="-122"/>
                <a:cs typeface="Arial" pitchFamily="34" charset="-120"/>
              </a:rPr>
              <a:t>Requêtes Q1 &amp; Q2</a:t>
            </a:r>
            <a:endParaRPr lang="en-US" sz="2000" dirty="0"/>
          </a:p>
        </p:txBody>
      </p:sp>
      <p:sp>
        <p:nvSpPr>
          <p:cNvPr id="4" name="Shape 2"/>
          <p:cNvSpPr/>
          <p:nvPr/>
        </p:nvSpPr>
        <p:spPr>
          <a:xfrm>
            <a:off x="256032" y="667512"/>
            <a:ext cx="8641080" cy="0"/>
          </a:xfrm>
          <a:prstGeom prst="line">
            <a:avLst/>
          </a:prstGeom>
          <a:noFill/>
          <a:ln w="19050">
            <a:solidFill>
              <a:srgbClr val="1ABBA3"/>
            </a:solidFill>
            <a:prstDash val="solid"/>
          </a:ln>
        </p:spPr>
      </p:sp>
      <p:sp>
        <p:nvSpPr>
          <p:cNvPr id="5" name="Shape 3"/>
          <p:cNvSpPr/>
          <p:nvPr/>
        </p:nvSpPr>
        <p:spPr>
          <a:xfrm>
            <a:off x="4599432" y="713232"/>
            <a:ext cx="0" cy="4389120"/>
          </a:xfrm>
          <a:prstGeom prst="line">
            <a:avLst/>
          </a:prstGeom>
          <a:noFill/>
          <a:ln w="12700">
            <a:solidFill>
              <a:srgbClr val="D0E8E6"/>
            </a:solidFill>
            <a:prstDash val="solid"/>
          </a:ln>
        </p:spPr>
      </p:sp>
      <p:sp>
        <p:nvSpPr>
          <p:cNvPr id="6" name="Shape 4"/>
          <p:cNvSpPr/>
          <p:nvPr/>
        </p:nvSpPr>
        <p:spPr>
          <a:xfrm>
            <a:off x="256032" y="749808"/>
            <a:ext cx="457200" cy="228600"/>
          </a:xfrm>
          <a:prstGeom prst="rect">
            <a:avLst/>
          </a:prstGeom>
          <a:solidFill>
            <a:srgbClr val="158F7E"/>
          </a:solidFill>
          <a:ln w="12700">
            <a:solidFill>
              <a:srgbClr val="158F7E"/>
            </a:solidFill>
            <a:prstDash val="solid"/>
          </a:ln>
        </p:spPr>
      </p:sp>
      <p:sp>
        <p:nvSpPr>
          <p:cNvPr id="7" name="Text 5"/>
          <p:cNvSpPr/>
          <p:nvPr/>
        </p:nvSpPr>
        <p:spPr>
          <a:xfrm>
            <a:off x="256032" y="749808"/>
            <a:ext cx="457200" cy="2286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Q1</a:t>
            </a:r>
            <a:endParaRPr lang="en-US" sz="800" dirty="0"/>
          </a:p>
        </p:txBody>
      </p:sp>
      <p:sp>
        <p:nvSpPr>
          <p:cNvPr id="8" name="Text 6"/>
          <p:cNvSpPr/>
          <p:nvPr/>
        </p:nvSpPr>
        <p:spPr>
          <a:xfrm>
            <a:off x="768096" y="749808"/>
            <a:ext cx="3703320" cy="228600"/>
          </a:xfrm>
          <a:prstGeom prst="rect">
            <a:avLst/>
          </a:prstGeom>
          <a:noFill/>
          <a:ln/>
        </p:spPr>
        <p:txBody>
          <a:bodyPr wrap="square" rtlCol="0" anchor="ctr"/>
          <a:lstStyle/>
          <a:p>
            <a:pPr indent="0" marL="0">
              <a:buNone/>
            </a:pPr>
            <a:r>
              <a:rPr lang="en-US" sz="950" b="1" dirty="0">
                <a:solidFill>
                  <a:srgbClr val="1C3838"/>
                </a:solidFill>
                <a:latin typeface="Arial" pitchFamily="34" charset="0"/>
                <a:ea typeface="Arial" pitchFamily="34" charset="-122"/>
                <a:cs typeface="Arial" pitchFamily="34" charset="-120"/>
              </a:rPr>
              <a:t>Nombre total d'appartements vendus au 1er semestre 2020</a:t>
            </a:r>
            <a:endParaRPr lang="en-US" sz="950" dirty="0"/>
          </a:p>
        </p:txBody>
      </p:sp>
      <p:sp>
        <p:nvSpPr>
          <p:cNvPr id="9" name="Shape 7"/>
          <p:cNvSpPr/>
          <p:nvPr/>
        </p:nvSpPr>
        <p:spPr>
          <a:xfrm>
            <a:off x="256032" y="1024128"/>
            <a:ext cx="4251960" cy="3547872"/>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pic>
        <p:nvPicPr>
          <p:cNvPr id="10" name="Image 0" descr="preencoded.png">    </p:cNvPr>
          <p:cNvPicPr>
            <a:picLocks noChangeAspect="1"/>
          </p:cNvPicPr>
          <p:nvPr/>
        </p:nvPicPr>
        <p:blipFill>
          <a:blip r:embed="rId1"/>
          <a:srcRect l="0" r="0" t="0" b="0"/>
          <a:stretch/>
        </p:blipFill>
        <p:spPr>
          <a:xfrm>
            <a:off x="301752" y="1051560"/>
            <a:ext cx="4160520" cy="3429000"/>
          </a:xfrm>
          <a:prstGeom prst="rect">
            <a:avLst/>
          </a:prstGeom>
        </p:spPr>
      </p:pic>
      <p:sp>
        <p:nvSpPr>
          <p:cNvPr id="11" name="Text 8"/>
          <p:cNvSpPr/>
          <p:nvPr/>
        </p:nvSpPr>
        <p:spPr>
          <a:xfrm>
            <a:off x="256032" y="4608576"/>
            <a:ext cx="4251960" cy="438912"/>
          </a:xfrm>
          <a:prstGeom prst="rect">
            <a:avLst/>
          </a:prstGeom>
          <a:noFill/>
          <a:ln/>
        </p:spPr>
        <p:txBody>
          <a:bodyPr wrap="square" rtlCol="0" anchor="ctr"/>
          <a:lstStyle/>
          <a:p>
            <a:pPr indent="0" marL="0">
              <a:buNone/>
            </a:pPr>
            <a:r>
              <a:rPr lang="en-US" sz="800" i="1" dirty="0">
                <a:solidFill>
                  <a:srgbClr val="546E6E"/>
                </a:solidFill>
                <a:latin typeface="Arial" pitchFamily="34" charset="0"/>
                <a:ea typeface="Arial" pitchFamily="34" charset="-122"/>
                <a:cs typeface="Arial" pitchFamily="34" charset="-120"/>
              </a:rPr>
              <a:t>→ 968 appartements vendus au S1 2020, soit la quasi-totalité des 1 047 transactions de la base.</a:t>
            </a:r>
            <a:endParaRPr lang="en-US" sz="800" dirty="0"/>
          </a:p>
        </p:txBody>
      </p:sp>
      <p:sp>
        <p:nvSpPr>
          <p:cNvPr id="12" name="Shape 9"/>
          <p:cNvSpPr/>
          <p:nvPr/>
        </p:nvSpPr>
        <p:spPr>
          <a:xfrm>
            <a:off x="4681728" y="749808"/>
            <a:ext cx="457200" cy="228600"/>
          </a:xfrm>
          <a:prstGeom prst="rect">
            <a:avLst/>
          </a:prstGeom>
          <a:solidFill>
            <a:srgbClr val="158F7E"/>
          </a:solidFill>
          <a:ln w="12700">
            <a:solidFill>
              <a:srgbClr val="158F7E"/>
            </a:solidFill>
            <a:prstDash val="solid"/>
          </a:ln>
        </p:spPr>
      </p:sp>
      <p:sp>
        <p:nvSpPr>
          <p:cNvPr id="13" name="Text 10"/>
          <p:cNvSpPr/>
          <p:nvPr/>
        </p:nvSpPr>
        <p:spPr>
          <a:xfrm>
            <a:off x="4681728" y="749808"/>
            <a:ext cx="457200" cy="2286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Q2</a:t>
            </a:r>
            <a:endParaRPr lang="en-US" sz="800" dirty="0"/>
          </a:p>
        </p:txBody>
      </p:sp>
      <p:sp>
        <p:nvSpPr>
          <p:cNvPr id="14" name="Text 11"/>
          <p:cNvSpPr/>
          <p:nvPr/>
        </p:nvSpPr>
        <p:spPr>
          <a:xfrm>
            <a:off x="5193792" y="749808"/>
            <a:ext cx="3666744" cy="228600"/>
          </a:xfrm>
          <a:prstGeom prst="rect">
            <a:avLst/>
          </a:prstGeom>
          <a:noFill/>
          <a:ln/>
        </p:spPr>
        <p:txBody>
          <a:bodyPr wrap="square" rtlCol="0" anchor="ctr"/>
          <a:lstStyle/>
          <a:p>
            <a:pPr indent="0" marL="0">
              <a:buNone/>
            </a:pPr>
            <a:r>
              <a:rPr lang="en-US" sz="950" b="1" dirty="0">
                <a:solidFill>
                  <a:srgbClr val="1C3838"/>
                </a:solidFill>
                <a:latin typeface="Arial" pitchFamily="34" charset="0"/>
                <a:ea typeface="Arial" pitchFamily="34" charset="-122"/>
                <a:cs typeface="Arial" pitchFamily="34" charset="-120"/>
              </a:rPr>
              <a:t>Nombre de ventes d'appartements par région — 1er semestre 2020</a:t>
            </a:r>
            <a:endParaRPr lang="en-US" sz="950" dirty="0"/>
          </a:p>
        </p:txBody>
      </p:sp>
      <p:sp>
        <p:nvSpPr>
          <p:cNvPr id="15" name="Shape 12"/>
          <p:cNvSpPr/>
          <p:nvPr/>
        </p:nvSpPr>
        <p:spPr>
          <a:xfrm>
            <a:off x="4681728" y="1024128"/>
            <a:ext cx="4215384" cy="3547872"/>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pic>
        <p:nvPicPr>
          <p:cNvPr id="16" name="Image 1" descr="preencoded.png">    </p:cNvPr>
          <p:cNvPicPr>
            <a:picLocks noChangeAspect="1"/>
          </p:cNvPicPr>
          <p:nvPr/>
        </p:nvPicPr>
        <p:blipFill>
          <a:blip r:embed="rId2"/>
          <a:srcRect l="0" r="0" t="0" b="0"/>
          <a:stretch/>
        </p:blipFill>
        <p:spPr>
          <a:xfrm>
            <a:off x="4727448" y="1051560"/>
            <a:ext cx="4123944" cy="3429000"/>
          </a:xfrm>
          <a:prstGeom prst="rect">
            <a:avLst/>
          </a:prstGeom>
        </p:spPr>
      </p:pic>
      <p:sp>
        <p:nvSpPr>
          <p:cNvPr id="17" name="Text 13"/>
          <p:cNvSpPr/>
          <p:nvPr/>
        </p:nvSpPr>
        <p:spPr>
          <a:xfrm>
            <a:off x="4681728" y="4608576"/>
            <a:ext cx="4215384" cy="438912"/>
          </a:xfrm>
          <a:prstGeom prst="rect">
            <a:avLst/>
          </a:prstGeom>
          <a:noFill/>
          <a:ln/>
        </p:spPr>
        <p:txBody>
          <a:bodyPr wrap="square" rtlCol="0" anchor="ctr"/>
          <a:lstStyle/>
          <a:p>
            <a:pPr indent="0" marL="0">
              <a:buNone/>
            </a:pPr>
            <a:r>
              <a:rPr lang="en-US" sz="800" i="1" dirty="0">
                <a:solidFill>
                  <a:srgbClr val="546E6E"/>
                </a:solidFill>
                <a:latin typeface="Arial" pitchFamily="34" charset="0"/>
                <a:ea typeface="Arial" pitchFamily="34" charset="-122"/>
                <a:cs typeface="Arial" pitchFamily="34" charset="-120"/>
              </a:rPr>
              <a:t>→ L'Île-de-France représente 42 % des ventes. Le marché est très concentré sur 3 régions : IDF, PACA et ARA.</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AF5F4"/>
        </a:solidFill>
      </p:bgPr>
    </p:bg>
    <p:spTree>
      <p:nvGrpSpPr>
        <p:cNvPr id="1" name=""/>
        <p:cNvGrpSpPr/>
        <p:nvPr/>
      </p:nvGrpSpPr>
      <p:grpSpPr>
        <a:xfrm>
          <a:off x="0" y="0"/>
          <a:ext cx="0" cy="0"/>
          <a:chOff x="0" y="0"/>
          <a:chExt cx="0" cy="0"/>
        </a:xfrm>
      </p:grpSpPr>
      <p:sp>
        <p:nvSpPr>
          <p:cNvPr id="2" name="Shape 0"/>
          <p:cNvSpPr/>
          <p:nvPr/>
        </p:nvSpPr>
        <p:spPr>
          <a:xfrm>
            <a:off x="256032" y="164592"/>
            <a:ext cx="50292" cy="475488"/>
          </a:xfrm>
          <a:prstGeom prst="rect">
            <a:avLst/>
          </a:prstGeom>
          <a:solidFill>
            <a:srgbClr val="158F7E"/>
          </a:solidFill>
          <a:ln w="12700">
            <a:solidFill>
              <a:srgbClr val="158F7E"/>
            </a:solidFill>
            <a:prstDash val="solid"/>
          </a:ln>
        </p:spPr>
      </p:sp>
      <p:sp>
        <p:nvSpPr>
          <p:cNvPr id="3" name="Text 1"/>
          <p:cNvSpPr/>
          <p:nvPr/>
        </p:nvSpPr>
        <p:spPr>
          <a:xfrm>
            <a:off x="365760" y="109728"/>
            <a:ext cx="8412480" cy="566928"/>
          </a:xfrm>
          <a:prstGeom prst="rect">
            <a:avLst/>
          </a:prstGeom>
          <a:noFill/>
          <a:ln/>
        </p:spPr>
        <p:txBody>
          <a:bodyPr wrap="square" rtlCol="0" anchor="ctr"/>
          <a:lstStyle/>
          <a:p>
            <a:pPr indent="0" marL="0">
              <a:buNone/>
            </a:pPr>
            <a:r>
              <a:rPr lang="en-US" sz="2000" b="1" dirty="0">
                <a:solidFill>
                  <a:srgbClr val="1C3838"/>
                </a:solidFill>
                <a:latin typeface="Arial" pitchFamily="34" charset="0"/>
                <a:ea typeface="Arial" pitchFamily="34" charset="-122"/>
                <a:cs typeface="Arial" pitchFamily="34" charset="-120"/>
              </a:rPr>
              <a:t>Requêtes Q3 &amp; Q4</a:t>
            </a:r>
            <a:endParaRPr lang="en-US" sz="2000" dirty="0"/>
          </a:p>
        </p:txBody>
      </p:sp>
      <p:sp>
        <p:nvSpPr>
          <p:cNvPr id="4" name="Shape 2"/>
          <p:cNvSpPr/>
          <p:nvPr/>
        </p:nvSpPr>
        <p:spPr>
          <a:xfrm>
            <a:off x="256032" y="667512"/>
            <a:ext cx="8641080" cy="0"/>
          </a:xfrm>
          <a:prstGeom prst="line">
            <a:avLst/>
          </a:prstGeom>
          <a:noFill/>
          <a:ln w="19050">
            <a:solidFill>
              <a:srgbClr val="1ABBA3"/>
            </a:solidFill>
            <a:prstDash val="solid"/>
          </a:ln>
        </p:spPr>
      </p:sp>
      <p:sp>
        <p:nvSpPr>
          <p:cNvPr id="5" name="Shape 3"/>
          <p:cNvSpPr/>
          <p:nvPr/>
        </p:nvSpPr>
        <p:spPr>
          <a:xfrm>
            <a:off x="4599432" y="713232"/>
            <a:ext cx="0" cy="4389120"/>
          </a:xfrm>
          <a:prstGeom prst="line">
            <a:avLst/>
          </a:prstGeom>
          <a:noFill/>
          <a:ln w="12700">
            <a:solidFill>
              <a:srgbClr val="D0E8E6"/>
            </a:solidFill>
            <a:prstDash val="solid"/>
          </a:ln>
        </p:spPr>
      </p:sp>
      <p:sp>
        <p:nvSpPr>
          <p:cNvPr id="6" name="Shape 4"/>
          <p:cNvSpPr/>
          <p:nvPr/>
        </p:nvSpPr>
        <p:spPr>
          <a:xfrm>
            <a:off x="256032" y="749808"/>
            <a:ext cx="457200" cy="228600"/>
          </a:xfrm>
          <a:prstGeom prst="rect">
            <a:avLst/>
          </a:prstGeom>
          <a:solidFill>
            <a:srgbClr val="158F7E"/>
          </a:solidFill>
          <a:ln w="12700">
            <a:solidFill>
              <a:srgbClr val="158F7E"/>
            </a:solidFill>
            <a:prstDash val="solid"/>
          </a:ln>
        </p:spPr>
      </p:sp>
      <p:sp>
        <p:nvSpPr>
          <p:cNvPr id="7" name="Text 5"/>
          <p:cNvSpPr/>
          <p:nvPr/>
        </p:nvSpPr>
        <p:spPr>
          <a:xfrm>
            <a:off x="256032" y="749808"/>
            <a:ext cx="457200" cy="2286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Q3</a:t>
            </a:r>
            <a:endParaRPr lang="en-US" sz="800" dirty="0"/>
          </a:p>
        </p:txBody>
      </p:sp>
      <p:sp>
        <p:nvSpPr>
          <p:cNvPr id="8" name="Text 6"/>
          <p:cNvSpPr/>
          <p:nvPr/>
        </p:nvSpPr>
        <p:spPr>
          <a:xfrm>
            <a:off x="768096" y="749808"/>
            <a:ext cx="3703320" cy="228600"/>
          </a:xfrm>
          <a:prstGeom prst="rect">
            <a:avLst/>
          </a:prstGeom>
          <a:noFill/>
          <a:ln/>
        </p:spPr>
        <p:txBody>
          <a:bodyPr wrap="square" rtlCol="0" anchor="ctr"/>
          <a:lstStyle/>
          <a:p>
            <a:pPr indent="0" marL="0">
              <a:buNone/>
            </a:pPr>
            <a:r>
              <a:rPr lang="en-US" sz="950" b="1" dirty="0">
                <a:solidFill>
                  <a:srgbClr val="1C3838"/>
                </a:solidFill>
                <a:latin typeface="Arial" pitchFamily="34" charset="0"/>
                <a:ea typeface="Arial" pitchFamily="34" charset="-122"/>
                <a:cs typeface="Arial" pitchFamily="34" charset="-120"/>
              </a:rPr>
              <a:t>Proportion des ventes d'appartements par nombre de pièces</a:t>
            </a:r>
            <a:endParaRPr lang="en-US" sz="950" dirty="0"/>
          </a:p>
        </p:txBody>
      </p:sp>
      <p:sp>
        <p:nvSpPr>
          <p:cNvPr id="9" name="Shape 7"/>
          <p:cNvSpPr/>
          <p:nvPr/>
        </p:nvSpPr>
        <p:spPr>
          <a:xfrm>
            <a:off x="256032" y="1024128"/>
            <a:ext cx="4251960" cy="3547872"/>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pic>
        <p:nvPicPr>
          <p:cNvPr id="10" name="Image 0" descr="preencoded.png">    </p:cNvPr>
          <p:cNvPicPr>
            <a:picLocks noChangeAspect="1"/>
          </p:cNvPicPr>
          <p:nvPr/>
        </p:nvPicPr>
        <p:blipFill>
          <a:blip r:embed="rId1"/>
          <a:srcRect l="0" r="0" t="0" b="0"/>
          <a:stretch/>
        </p:blipFill>
        <p:spPr>
          <a:xfrm>
            <a:off x="301752" y="1051560"/>
            <a:ext cx="4160520" cy="3429000"/>
          </a:xfrm>
          <a:prstGeom prst="rect">
            <a:avLst/>
          </a:prstGeom>
        </p:spPr>
      </p:pic>
      <p:sp>
        <p:nvSpPr>
          <p:cNvPr id="11" name="Text 8"/>
          <p:cNvSpPr/>
          <p:nvPr/>
        </p:nvSpPr>
        <p:spPr>
          <a:xfrm>
            <a:off x="256032" y="4608576"/>
            <a:ext cx="4251960" cy="438912"/>
          </a:xfrm>
          <a:prstGeom prst="rect">
            <a:avLst/>
          </a:prstGeom>
          <a:noFill/>
          <a:ln/>
        </p:spPr>
        <p:txBody>
          <a:bodyPr wrap="square" rtlCol="0" anchor="ctr"/>
          <a:lstStyle/>
          <a:p>
            <a:pPr indent="0" marL="0">
              <a:buNone/>
            </a:pPr>
            <a:r>
              <a:rPr lang="en-US" sz="800" i="1" dirty="0">
                <a:solidFill>
                  <a:srgbClr val="546E6E"/>
                </a:solidFill>
                <a:latin typeface="Arial" pitchFamily="34" charset="0"/>
                <a:ea typeface="Arial" pitchFamily="34" charset="-122"/>
                <a:cs typeface="Arial" pitchFamily="34" charset="-120"/>
              </a:rPr>
              <a:t>→ Les 2 et 3 pièces représentent 61 % des ventes — segment dominant du marché locatif et primo-accédants.</a:t>
            </a:r>
            <a:endParaRPr lang="en-US" sz="800" dirty="0"/>
          </a:p>
        </p:txBody>
      </p:sp>
      <p:sp>
        <p:nvSpPr>
          <p:cNvPr id="12" name="Shape 9"/>
          <p:cNvSpPr/>
          <p:nvPr/>
        </p:nvSpPr>
        <p:spPr>
          <a:xfrm>
            <a:off x="4681728" y="749808"/>
            <a:ext cx="457200" cy="228600"/>
          </a:xfrm>
          <a:prstGeom prst="rect">
            <a:avLst/>
          </a:prstGeom>
          <a:solidFill>
            <a:srgbClr val="158F7E"/>
          </a:solidFill>
          <a:ln w="12700">
            <a:solidFill>
              <a:srgbClr val="158F7E"/>
            </a:solidFill>
            <a:prstDash val="solid"/>
          </a:ln>
        </p:spPr>
      </p:sp>
      <p:sp>
        <p:nvSpPr>
          <p:cNvPr id="13" name="Text 10"/>
          <p:cNvSpPr/>
          <p:nvPr/>
        </p:nvSpPr>
        <p:spPr>
          <a:xfrm>
            <a:off x="4681728" y="749808"/>
            <a:ext cx="457200" cy="2286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Q4</a:t>
            </a:r>
            <a:endParaRPr lang="en-US" sz="800" dirty="0"/>
          </a:p>
        </p:txBody>
      </p:sp>
      <p:sp>
        <p:nvSpPr>
          <p:cNvPr id="14" name="Text 11"/>
          <p:cNvSpPr/>
          <p:nvPr/>
        </p:nvSpPr>
        <p:spPr>
          <a:xfrm>
            <a:off x="5193792" y="749808"/>
            <a:ext cx="3666744" cy="228600"/>
          </a:xfrm>
          <a:prstGeom prst="rect">
            <a:avLst/>
          </a:prstGeom>
          <a:noFill/>
          <a:ln/>
        </p:spPr>
        <p:txBody>
          <a:bodyPr wrap="square" rtlCol="0" anchor="ctr"/>
          <a:lstStyle/>
          <a:p>
            <a:pPr indent="0" marL="0">
              <a:buNone/>
            </a:pPr>
            <a:r>
              <a:rPr lang="en-US" sz="950" b="1" dirty="0">
                <a:solidFill>
                  <a:srgbClr val="1C3838"/>
                </a:solidFill>
                <a:latin typeface="Arial" pitchFamily="34" charset="0"/>
                <a:ea typeface="Arial" pitchFamily="34" charset="-122"/>
                <a:cs typeface="Arial" pitchFamily="34" charset="-120"/>
              </a:rPr>
              <a:t>Top 10 des départements avec le prix au m² le plus élevé</a:t>
            </a:r>
            <a:endParaRPr lang="en-US" sz="950" dirty="0"/>
          </a:p>
        </p:txBody>
      </p:sp>
      <p:sp>
        <p:nvSpPr>
          <p:cNvPr id="15" name="Shape 12"/>
          <p:cNvSpPr/>
          <p:nvPr/>
        </p:nvSpPr>
        <p:spPr>
          <a:xfrm>
            <a:off x="4681728" y="1024128"/>
            <a:ext cx="4215384" cy="3547872"/>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pic>
        <p:nvPicPr>
          <p:cNvPr id="16" name="Image 1" descr="preencoded.png">    </p:cNvPr>
          <p:cNvPicPr>
            <a:picLocks noChangeAspect="1"/>
          </p:cNvPicPr>
          <p:nvPr/>
        </p:nvPicPr>
        <p:blipFill>
          <a:blip r:embed="rId2"/>
          <a:srcRect l="0" r="0" t="0" b="0"/>
          <a:stretch/>
        </p:blipFill>
        <p:spPr>
          <a:xfrm>
            <a:off x="4727448" y="1051560"/>
            <a:ext cx="4123944" cy="3429000"/>
          </a:xfrm>
          <a:prstGeom prst="rect">
            <a:avLst/>
          </a:prstGeom>
        </p:spPr>
      </p:pic>
      <p:sp>
        <p:nvSpPr>
          <p:cNvPr id="17" name="Text 13"/>
          <p:cNvSpPr/>
          <p:nvPr/>
        </p:nvSpPr>
        <p:spPr>
          <a:xfrm>
            <a:off x="4681728" y="4608576"/>
            <a:ext cx="4215384" cy="438912"/>
          </a:xfrm>
          <a:prstGeom prst="rect">
            <a:avLst/>
          </a:prstGeom>
          <a:noFill/>
          <a:ln/>
        </p:spPr>
        <p:txBody>
          <a:bodyPr wrap="square" rtlCol="0" anchor="ctr"/>
          <a:lstStyle/>
          <a:p>
            <a:pPr indent="0" marL="0">
              <a:buNone/>
            </a:pPr>
            <a:r>
              <a:rPr lang="en-US" sz="800" i="1" dirty="0">
                <a:solidFill>
                  <a:srgbClr val="546E6E"/>
                </a:solidFill>
                <a:latin typeface="Arial" pitchFamily="34" charset="0"/>
                <a:ea typeface="Arial" pitchFamily="34" charset="-122"/>
                <a:cs typeface="Arial" pitchFamily="34" charset="-120"/>
              </a:rPr>
              <a:t>→ Paris (75) domine avec 9 946 €/m². Forte concentration sur l'IDF et les zones touristiques (06, 78).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5F4"/>
        </a:solidFill>
      </p:bgPr>
    </p:bg>
    <p:spTree>
      <p:nvGrpSpPr>
        <p:cNvPr id="1" name=""/>
        <p:cNvGrpSpPr/>
        <p:nvPr/>
      </p:nvGrpSpPr>
      <p:grpSpPr>
        <a:xfrm>
          <a:off x="0" y="0"/>
          <a:ext cx="0" cy="0"/>
          <a:chOff x="0" y="0"/>
          <a:chExt cx="0" cy="0"/>
        </a:xfrm>
      </p:grpSpPr>
      <p:sp>
        <p:nvSpPr>
          <p:cNvPr id="2" name="Shape 0"/>
          <p:cNvSpPr/>
          <p:nvPr/>
        </p:nvSpPr>
        <p:spPr>
          <a:xfrm>
            <a:off x="256032" y="164592"/>
            <a:ext cx="50292" cy="475488"/>
          </a:xfrm>
          <a:prstGeom prst="rect">
            <a:avLst/>
          </a:prstGeom>
          <a:solidFill>
            <a:srgbClr val="158F7E"/>
          </a:solidFill>
          <a:ln w="12700">
            <a:solidFill>
              <a:srgbClr val="158F7E"/>
            </a:solidFill>
            <a:prstDash val="solid"/>
          </a:ln>
        </p:spPr>
      </p:sp>
      <p:sp>
        <p:nvSpPr>
          <p:cNvPr id="3" name="Text 1"/>
          <p:cNvSpPr/>
          <p:nvPr/>
        </p:nvSpPr>
        <p:spPr>
          <a:xfrm>
            <a:off x="365760" y="109728"/>
            <a:ext cx="8412480" cy="566928"/>
          </a:xfrm>
          <a:prstGeom prst="rect">
            <a:avLst/>
          </a:prstGeom>
          <a:noFill/>
          <a:ln/>
        </p:spPr>
        <p:txBody>
          <a:bodyPr wrap="square" rtlCol="0" anchor="ctr"/>
          <a:lstStyle/>
          <a:p>
            <a:pPr indent="0" marL="0">
              <a:buNone/>
            </a:pPr>
            <a:r>
              <a:rPr lang="en-US" sz="2000" b="1" dirty="0">
                <a:solidFill>
                  <a:srgbClr val="1C3838"/>
                </a:solidFill>
                <a:latin typeface="Arial" pitchFamily="34" charset="0"/>
                <a:ea typeface="Arial" pitchFamily="34" charset="-122"/>
                <a:cs typeface="Arial" pitchFamily="34" charset="-120"/>
              </a:rPr>
              <a:t>Requêtes Q5 &amp; Q6</a:t>
            </a:r>
            <a:endParaRPr lang="en-US" sz="2000" dirty="0"/>
          </a:p>
        </p:txBody>
      </p:sp>
      <p:sp>
        <p:nvSpPr>
          <p:cNvPr id="4" name="Shape 2"/>
          <p:cNvSpPr/>
          <p:nvPr/>
        </p:nvSpPr>
        <p:spPr>
          <a:xfrm>
            <a:off x="256032" y="667512"/>
            <a:ext cx="8641080" cy="0"/>
          </a:xfrm>
          <a:prstGeom prst="line">
            <a:avLst/>
          </a:prstGeom>
          <a:noFill/>
          <a:ln w="19050">
            <a:solidFill>
              <a:srgbClr val="1ABBA3"/>
            </a:solidFill>
            <a:prstDash val="solid"/>
          </a:ln>
        </p:spPr>
      </p:sp>
      <p:sp>
        <p:nvSpPr>
          <p:cNvPr id="5" name="Shape 3"/>
          <p:cNvSpPr/>
          <p:nvPr/>
        </p:nvSpPr>
        <p:spPr>
          <a:xfrm>
            <a:off x="4599432" y="713232"/>
            <a:ext cx="0" cy="4389120"/>
          </a:xfrm>
          <a:prstGeom prst="line">
            <a:avLst/>
          </a:prstGeom>
          <a:noFill/>
          <a:ln w="12700">
            <a:solidFill>
              <a:srgbClr val="D0E8E6"/>
            </a:solidFill>
            <a:prstDash val="solid"/>
          </a:ln>
        </p:spPr>
      </p:sp>
      <p:sp>
        <p:nvSpPr>
          <p:cNvPr id="6" name="Shape 4"/>
          <p:cNvSpPr/>
          <p:nvPr/>
        </p:nvSpPr>
        <p:spPr>
          <a:xfrm>
            <a:off x="256032" y="749808"/>
            <a:ext cx="457200" cy="228600"/>
          </a:xfrm>
          <a:prstGeom prst="rect">
            <a:avLst/>
          </a:prstGeom>
          <a:solidFill>
            <a:srgbClr val="158F7E"/>
          </a:solidFill>
          <a:ln w="12700">
            <a:solidFill>
              <a:srgbClr val="158F7E"/>
            </a:solidFill>
            <a:prstDash val="solid"/>
          </a:ln>
        </p:spPr>
      </p:sp>
      <p:sp>
        <p:nvSpPr>
          <p:cNvPr id="7" name="Text 5"/>
          <p:cNvSpPr/>
          <p:nvPr/>
        </p:nvSpPr>
        <p:spPr>
          <a:xfrm>
            <a:off x="256032" y="749808"/>
            <a:ext cx="457200" cy="2286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Q5</a:t>
            </a:r>
            <a:endParaRPr lang="en-US" sz="800" dirty="0"/>
          </a:p>
        </p:txBody>
      </p:sp>
      <p:sp>
        <p:nvSpPr>
          <p:cNvPr id="8" name="Text 6"/>
          <p:cNvSpPr/>
          <p:nvPr/>
        </p:nvSpPr>
        <p:spPr>
          <a:xfrm>
            <a:off x="768096" y="749808"/>
            <a:ext cx="3703320" cy="228600"/>
          </a:xfrm>
          <a:prstGeom prst="rect">
            <a:avLst/>
          </a:prstGeom>
          <a:noFill/>
          <a:ln/>
        </p:spPr>
        <p:txBody>
          <a:bodyPr wrap="square" rtlCol="0" anchor="ctr"/>
          <a:lstStyle/>
          <a:p>
            <a:pPr indent="0" marL="0">
              <a:buNone/>
            </a:pPr>
            <a:r>
              <a:rPr lang="en-US" sz="950" b="1" dirty="0">
                <a:solidFill>
                  <a:srgbClr val="1C3838"/>
                </a:solidFill>
                <a:latin typeface="Arial" pitchFamily="34" charset="0"/>
                <a:ea typeface="Arial" pitchFamily="34" charset="-122"/>
                <a:cs typeface="Arial" pitchFamily="34" charset="-120"/>
              </a:rPr>
              <a:t>Prix moyen du m² d'une maison en Île-de-France</a:t>
            </a:r>
            <a:endParaRPr lang="en-US" sz="950" dirty="0"/>
          </a:p>
        </p:txBody>
      </p:sp>
      <p:sp>
        <p:nvSpPr>
          <p:cNvPr id="9" name="Shape 7"/>
          <p:cNvSpPr/>
          <p:nvPr/>
        </p:nvSpPr>
        <p:spPr>
          <a:xfrm>
            <a:off x="256032" y="1024128"/>
            <a:ext cx="4251960" cy="3547872"/>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pic>
        <p:nvPicPr>
          <p:cNvPr id="10" name="Image 0" descr="preencoded.png">    </p:cNvPr>
          <p:cNvPicPr>
            <a:picLocks noChangeAspect="1"/>
          </p:cNvPicPr>
          <p:nvPr/>
        </p:nvPicPr>
        <p:blipFill>
          <a:blip r:embed="rId1"/>
          <a:srcRect l="0" r="0" t="0" b="0"/>
          <a:stretch/>
        </p:blipFill>
        <p:spPr>
          <a:xfrm>
            <a:off x="301752" y="1051560"/>
            <a:ext cx="4160520" cy="3429000"/>
          </a:xfrm>
          <a:prstGeom prst="rect">
            <a:avLst/>
          </a:prstGeom>
        </p:spPr>
      </p:pic>
      <p:sp>
        <p:nvSpPr>
          <p:cNvPr id="11" name="Text 8"/>
          <p:cNvSpPr/>
          <p:nvPr/>
        </p:nvSpPr>
        <p:spPr>
          <a:xfrm>
            <a:off x="256032" y="4608576"/>
            <a:ext cx="4251960" cy="438912"/>
          </a:xfrm>
          <a:prstGeom prst="rect">
            <a:avLst/>
          </a:prstGeom>
          <a:noFill/>
          <a:ln/>
        </p:spPr>
        <p:txBody>
          <a:bodyPr wrap="square" rtlCol="0" anchor="ctr"/>
          <a:lstStyle/>
          <a:p>
            <a:pPr indent="0" marL="0">
              <a:buNone/>
            </a:pPr>
            <a:r>
              <a:rPr lang="en-US" sz="800" i="1" dirty="0">
                <a:solidFill>
                  <a:srgbClr val="546E6E"/>
                </a:solidFill>
                <a:latin typeface="Arial" pitchFamily="34" charset="0"/>
                <a:ea typeface="Arial" pitchFamily="34" charset="-122"/>
                <a:cs typeface="Arial" pitchFamily="34" charset="-120"/>
              </a:rPr>
              <a:t>→ 3 729,58 €/m² en moyenne pour une maison en IDF — reflet de la forte pression foncière en périphérie parisienne.</a:t>
            </a:r>
            <a:endParaRPr lang="en-US" sz="800" dirty="0"/>
          </a:p>
        </p:txBody>
      </p:sp>
      <p:sp>
        <p:nvSpPr>
          <p:cNvPr id="12" name="Shape 9"/>
          <p:cNvSpPr/>
          <p:nvPr/>
        </p:nvSpPr>
        <p:spPr>
          <a:xfrm>
            <a:off x="4681728" y="749808"/>
            <a:ext cx="457200" cy="228600"/>
          </a:xfrm>
          <a:prstGeom prst="rect">
            <a:avLst/>
          </a:prstGeom>
          <a:solidFill>
            <a:srgbClr val="158F7E"/>
          </a:solidFill>
          <a:ln w="12700">
            <a:solidFill>
              <a:srgbClr val="158F7E"/>
            </a:solidFill>
            <a:prstDash val="solid"/>
          </a:ln>
        </p:spPr>
      </p:sp>
      <p:sp>
        <p:nvSpPr>
          <p:cNvPr id="13" name="Text 10"/>
          <p:cNvSpPr/>
          <p:nvPr/>
        </p:nvSpPr>
        <p:spPr>
          <a:xfrm>
            <a:off x="4681728" y="749808"/>
            <a:ext cx="457200" cy="2286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Q6</a:t>
            </a:r>
            <a:endParaRPr lang="en-US" sz="800" dirty="0"/>
          </a:p>
        </p:txBody>
      </p:sp>
      <p:sp>
        <p:nvSpPr>
          <p:cNvPr id="14" name="Text 11"/>
          <p:cNvSpPr/>
          <p:nvPr/>
        </p:nvSpPr>
        <p:spPr>
          <a:xfrm>
            <a:off x="5193792" y="749808"/>
            <a:ext cx="3666744" cy="228600"/>
          </a:xfrm>
          <a:prstGeom prst="rect">
            <a:avLst/>
          </a:prstGeom>
          <a:noFill/>
          <a:ln/>
        </p:spPr>
        <p:txBody>
          <a:bodyPr wrap="square" rtlCol="0" anchor="ctr"/>
          <a:lstStyle/>
          <a:p>
            <a:pPr indent="0" marL="0">
              <a:buNone/>
            </a:pPr>
            <a:r>
              <a:rPr lang="en-US" sz="950" b="1" dirty="0">
                <a:solidFill>
                  <a:srgbClr val="1C3838"/>
                </a:solidFill>
                <a:latin typeface="Arial" pitchFamily="34" charset="0"/>
                <a:ea typeface="Arial" pitchFamily="34" charset="-122"/>
                <a:cs typeface="Arial" pitchFamily="34" charset="-120"/>
              </a:rPr>
              <a:t>Top 10 des appartements les plus chers — région et surface</a:t>
            </a:r>
            <a:endParaRPr lang="en-US" sz="950" dirty="0"/>
          </a:p>
        </p:txBody>
      </p:sp>
      <p:sp>
        <p:nvSpPr>
          <p:cNvPr id="15" name="Shape 12"/>
          <p:cNvSpPr/>
          <p:nvPr/>
        </p:nvSpPr>
        <p:spPr>
          <a:xfrm>
            <a:off x="4681728" y="1024128"/>
            <a:ext cx="4215384" cy="3547872"/>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pic>
        <p:nvPicPr>
          <p:cNvPr id="16" name="Image 1" descr="preencoded.png">    </p:cNvPr>
          <p:cNvPicPr>
            <a:picLocks noChangeAspect="1"/>
          </p:cNvPicPr>
          <p:nvPr/>
        </p:nvPicPr>
        <p:blipFill>
          <a:blip r:embed="rId2"/>
          <a:srcRect l="0" r="0" t="0" b="0"/>
          <a:stretch/>
        </p:blipFill>
        <p:spPr>
          <a:xfrm>
            <a:off x="4727448" y="1051560"/>
            <a:ext cx="4123944" cy="3429000"/>
          </a:xfrm>
          <a:prstGeom prst="rect">
            <a:avLst/>
          </a:prstGeom>
        </p:spPr>
      </p:pic>
      <p:sp>
        <p:nvSpPr>
          <p:cNvPr id="17" name="Text 13"/>
          <p:cNvSpPr/>
          <p:nvPr/>
        </p:nvSpPr>
        <p:spPr>
          <a:xfrm>
            <a:off x="4681728" y="4608576"/>
            <a:ext cx="4215384" cy="438912"/>
          </a:xfrm>
          <a:prstGeom prst="rect">
            <a:avLst/>
          </a:prstGeom>
          <a:noFill/>
          <a:ln/>
        </p:spPr>
        <p:txBody>
          <a:bodyPr wrap="square" rtlCol="0" anchor="ctr"/>
          <a:lstStyle/>
          <a:p>
            <a:pPr indent="0" marL="0">
              <a:buNone/>
            </a:pPr>
            <a:r>
              <a:rPr lang="en-US" sz="800" i="1" dirty="0">
                <a:solidFill>
                  <a:srgbClr val="546E6E"/>
                </a:solidFill>
                <a:latin typeface="Arial" pitchFamily="34" charset="0"/>
                <a:ea typeface="Arial" pitchFamily="34" charset="-122"/>
                <a:cs typeface="Arial" pitchFamily="34" charset="-120"/>
              </a:rPr>
              <a:t>→ Les 10 appartements les plus onéreux sont tous situés en Île-de-France. Les surfaces dépassent 68 m².</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AF5F4"/>
        </a:solidFill>
      </p:bgPr>
    </p:bg>
    <p:spTree>
      <p:nvGrpSpPr>
        <p:cNvPr id="1" name=""/>
        <p:cNvGrpSpPr/>
        <p:nvPr/>
      </p:nvGrpSpPr>
      <p:grpSpPr>
        <a:xfrm>
          <a:off x="0" y="0"/>
          <a:ext cx="0" cy="0"/>
          <a:chOff x="0" y="0"/>
          <a:chExt cx="0" cy="0"/>
        </a:xfrm>
      </p:grpSpPr>
      <p:sp>
        <p:nvSpPr>
          <p:cNvPr id="2" name="Shape 0"/>
          <p:cNvSpPr/>
          <p:nvPr/>
        </p:nvSpPr>
        <p:spPr>
          <a:xfrm>
            <a:off x="256032" y="164592"/>
            <a:ext cx="50292" cy="475488"/>
          </a:xfrm>
          <a:prstGeom prst="rect">
            <a:avLst/>
          </a:prstGeom>
          <a:solidFill>
            <a:srgbClr val="158F7E"/>
          </a:solidFill>
          <a:ln w="12700">
            <a:solidFill>
              <a:srgbClr val="158F7E"/>
            </a:solidFill>
            <a:prstDash val="solid"/>
          </a:ln>
        </p:spPr>
      </p:sp>
      <p:sp>
        <p:nvSpPr>
          <p:cNvPr id="3" name="Text 1"/>
          <p:cNvSpPr/>
          <p:nvPr/>
        </p:nvSpPr>
        <p:spPr>
          <a:xfrm>
            <a:off x="365760" y="109728"/>
            <a:ext cx="8412480" cy="566928"/>
          </a:xfrm>
          <a:prstGeom prst="rect">
            <a:avLst/>
          </a:prstGeom>
          <a:noFill/>
          <a:ln/>
        </p:spPr>
        <p:txBody>
          <a:bodyPr wrap="square" rtlCol="0" anchor="ctr"/>
          <a:lstStyle/>
          <a:p>
            <a:pPr indent="0" marL="0">
              <a:buNone/>
            </a:pPr>
            <a:r>
              <a:rPr lang="en-US" sz="2000" b="1" dirty="0">
                <a:solidFill>
                  <a:srgbClr val="1C3838"/>
                </a:solidFill>
                <a:latin typeface="Arial" pitchFamily="34" charset="0"/>
                <a:ea typeface="Arial" pitchFamily="34" charset="-122"/>
                <a:cs typeface="Arial" pitchFamily="34" charset="-120"/>
              </a:rPr>
              <a:t>Requêtes Q7 &amp; Q8</a:t>
            </a:r>
            <a:endParaRPr lang="en-US" sz="2000" dirty="0"/>
          </a:p>
        </p:txBody>
      </p:sp>
      <p:sp>
        <p:nvSpPr>
          <p:cNvPr id="4" name="Shape 2"/>
          <p:cNvSpPr/>
          <p:nvPr/>
        </p:nvSpPr>
        <p:spPr>
          <a:xfrm>
            <a:off x="256032" y="667512"/>
            <a:ext cx="8641080" cy="0"/>
          </a:xfrm>
          <a:prstGeom prst="line">
            <a:avLst/>
          </a:prstGeom>
          <a:noFill/>
          <a:ln w="19050">
            <a:solidFill>
              <a:srgbClr val="1ABBA3"/>
            </a:solidFill>
            <a:prstDash val="solid"/>
          </a:ln>
        </p:spPr>
      </p:sp>
      <p:sp>
        <p:nvSpPr>
          <p:cNvPr id="5" name="Shape 3"/>
          <p:cNvSpPr/>
          <p:nvPr/>
        </p:nvSpPr>
        <p:spPr>
          <a:xfrm>
            <a:off x="4599432" y="713232"/>
            <a:ext cx="0" cy="4389120"/>
          </a:xfrm>
          <a:prstGeom prst="line">
            <a:avLst/>
          </a:prstGeom>
          <a:noFill/>
          <a:ln w="12700">
            <a:solidFill>
              <a:srgbClr val="D0E8E6"/>
            </a:solidFill>
            <a:prstDash val="solid"/>
          </a:ln>
        </p:spPr>
      </p:sp>
      <p:sp>
        <p:nvSpPr>
          <p:cNvPr id="6" name="Shape 4"/>
          <p:cNvSpPr/>
          <p:nvPr/>
        </p:nvSpPr>
        <p:spPr>
          <a:xfrm>
            <a:off x="256032" y="749808"/>
            <a:ext cx="457200" cy="228600"/>
          </a:xfrm>
          <a:prstGeom prst="rect">
            <a:avLst/>
          </a:prstGeom>
          <a:solidFill>
            <a:srgbClr val="158F7E"/>
          </a:solidFill>
          <a:ln w="12700">
            <a:solidFill>
              <a:srgbClr val="158F7E"/>
            </a:solidFill>
            <a:prstDash val="solid"/>
          </a:ln>
        </p:spPr>
      </p:sp>
      <p:sp>
        <p:nvSpPr>
          <p:cNvPr id="7" name="Text 5"/>
          <p:cNvSpPr/>
          <p:nvPr/>
        </p:nvSpPr>
        <p:spPr>
          <a:xfrm>
            <a:off x="256032" y="749808"/>
            <a:ext cx="457200" cy="2286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Q7</a:t>
            </a:r>
            <a:endParaRPr lang="en-US" sz="800" dirty="0"/>
          </a:p>
        </p:txBody>
      </p:sp>
      <p:sp>
        <p:nvSpPr>
          <p:cNvPr id="8" name="Text 6"/>
          <p:cNvSpPr/>
          <p:nvPr/>
        </p:nvSpPr>
        <p:spPr>
          <a:xfrm>
            <a:off x="768096" y="749808"/>
            <a:ext cx="3703320" cy="228600"/>
          </a:xfrm>
          <a:prstGeom prst="rect">
            <a:avLst/>
          </a:prstGeom>
          <a:noFill/>
          <a:ln/>
        </p:spPr>
        <p:txBody>
          <a:bodyPr wrap="square" rtlCol="0" anchor="ctr"/>
          <a:lstStyle/>
          <a:p>
            <a:pPr indent="0" marL="0">
              <a:buNone/>
            </a:pPr>
            <a:r>
              <a:rPr lang="en-US" sz="950" b="1" dirty="0">
                <a:solidFill>
                  <a:srgbClr val="1C3838"/>
                </a:solidFill>
                <a:latin typeface="Arial" pitchFamily="34" charset="0"/>
                <a:ea typeface="Arial" pitchFamily="34" charset="-122"/>
                <a:cs typeface="Arial" pitchFamily="34" charset="-120"/>
              </a:rPr>
              <a:t>Taux d'évolution des ventes entre le Q1 et le Q2 2020</a:t>
            </a:r>
            <a:endParaRPr lang="en-US" sz="950" dirty="0"/>
          </a:p>
        </p:txBody>
      </p:sp>
      <p:sp>
        <p:nvSpPr>
          <p:cNvPr id="9" name="Shape 7"/>
          <p:cNvSpPr/>
          <p:nvPr/>
        </p:nvSpPr>
        <p:spPr>
          <a:xfrm>
            <a:off x="256032" y="1024128"/>
            <a:ext cx="4251960" cy="3547872"/>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pic>
        <p:nvPicPr>
          <p:cNvPr id="10" name="Image 0" descr="preencoded.png">    </p:cNvPr>
          <p:cNvPicPr>
            <a:picLocks noChangeAspect="1"/>
          </p:cNvPicPr>
          <p:nvPr/>
        </p:nvPicPr>
        <p:blipFill>
          <a:blip r:embed="rId1"/>
          <a:srcRect l="0" r="0" t="0" b="0"/>
          <a:stretch/>
        </p:blipFill>
        <p:spPr>
          <a:xfrm>
            <a:off x="301752" y="1051560"/>
            <a:ext cx="4160520" cy="3429000"/>
          </a:xfrm>
          <a:prstGeom prst="rect">
            <a:avLst/>
          </a:prstGeom>
        </p:spPr>
      </p:pic>
      <p:sp>
        <p:nvSpPr>
          <p:cNvPr id="11" name="Text 8"/>
          <p:cNvSpPr/>
          <p:nvPr/>
        </p:nvSpPr>
        <p:spPr>
          <a:xfrm>
            <a:off x="256032" y="4608576"/>
            <a:ext cx="4251960" cy="438912"/>
          </a:xfrm>
          <a:prstGeom prst="rect">
            <a:avLst/>
          </a:prstGeom>
          <a:noFill/>
          <a:ln/>
        </p:spPr>
        <p:txBody>
          <a:bodyPr wrap="square" rtlCol="0" anchor="ctr"/>
          <a:lstStyle/>
          <a:p>
            <a:pPr indent="0" marL="0">
              <a:buNone/>
            </a:pPr>
            <a:r>
              <a:rPr lang="en-US" sz="800" i="1" dirty="0">
                <a:solidFill>
                  <a:srgbClr val="546E6E"/>
                </a:solidFill>
                <a:latin typeface="Arial" pitchFamily="34" charset="0"/>
                <a:ea typeface="Arial" pitchFamily="34" charset="-122"/>
                <a:cs typeface="Arial" pitchFamily="34" charset="-120"/>
              </a:rPr>
              <a:t>→ −6 % de ventes entre Q1 (541) et Q2 (506). Baisse cohérente avec le confinement COVID-19 d'avril-mai 2020.</a:t>
            </a:r>
            <a:endParaRPr lang="en-US" sz="800" dirty="0"/>
          </a:p>
        </p:txBody>
      </p:sp>
      <p:sp>
        <p:nvSpPr>
          <p:cNvPr id="12" name="Shape 9"/>
          <p:cNvSpPr/>
          <p:nvPr/>
        </p:nvSpPr>
        <p:spPr>
          <a:xfrm>
            <a:off x="4681728" y="749808"/>
            <a:ext cx="457200" cy="228600"/>
          </a:xfrm>
          <a:prstGeom prst="rect">
            <a:avLst/>
          </a:prstGeom>
          <a:solidFill>
            <a:srgbClr val="158F7E"/>
          </a:solidFill>
          <a:ln w="12700">
            <a:solidFill>
              <a:srgbClr val="158F7E"/>
            </a:solidFill>
            <a:prstDash val="solid"/>
          </a:ln>
        </p:spPr>
      </p:sp>
      <p:sp>
        <p:nvSpPr>
          <p:cNvPr id="13" name="Text 10"/>
          <p:cNvSpPr/>
          <p:nvPr/>
        </p:nvSpPr>
        <p:spPr>
          <a:xfrm>
            <a:off x="4681728" y="749808"/>
            <a:ext cx="457200" cy="2286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Q8</a:t>
            </a:r>
            <a:endParaRPr lang="en-US" sz="800" dirty="0"/>
          </a:p>
        </p:txBody>
      </p:sp>
      <p:sp>
        <p:nvSpPr>
          <p:cNvPr id="14" name="Text 11"/>
          <p:cNvSpPr/>
          <p:nvPr/>
        </p:nvSpPr>
        <p:spPr>
          <a:xfrm>
            <a:off x="5193792" y="749808"/>
            <a:ext cx="3666744" cy="228600"/>
          </a:xfrm>
          <a:prstGeom prst="rect">
            <a:avLst/>
          </a:prstGeom>
          <a:noFill/>
          <a:ln/>
        </p:spPr>
        <p:txBody>
          <a:bodyPr wrap="square" rtlCol="0" anchor="ctr"/>
          <a:lstStyle/>
          <a:p>
            <a:pPr indent="0" marL="0">
              <a:buNone/>
            </a:pPr>
            <a:r>
              <a:rPr lang="en-US" sz="950" b="1" dirty="0">
                <a:solidFill>
                  <a:srgbClr val="1C3838"/>
                </a:solidFill>
                <a:latin typeface="Arial" pitchFamily="34" charset="0"/>
                <a:ea typeface="Arial" pitchFamily="34" charset="-122"/>
                <a:cs typeface="Arial" pitchFamily="34" charset="-120"/>
              </a:rPr>
              <a:t>Classement des régions par prix m² — appartements &gt; 4 pièces</a:t>
            </a:r>
            <a:endParaRPr lang="en-US" sz="950" dirty="0"/>
          </a:p>
        </p:txBody>
      </p:sp>
      <p:sp>
        <p:nvSpPr>
          <p:cNvPr id="15" name="Shape 12"/>
          <p:cNvSpPr/>
          <p:nvPr/>
        </p:nvSpPr>
        <p:spPr>
          <a:xfrm>
            <a:off x="4681728" y="1024128"/>
            <a:ext cx="4215384" cy="3547872"/>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pic>
        <p:nvPicPr>
          <p:cNvPr id="16" name="Image 1" descr="preencoded.png">    </p:cNvPr>
          <p:cNvPicPr>
            <a:picLocks noChangeAspect="1"/>
          </p:cNvPicPr>
          <p:nvPr/>
        </p:nvPicPr>
        <p:blipFill>
          <a:blip r:embed="rId2"/>
          <a:srcRect l="0" r="0" t="0" b="0"/>
          <a:stretch/>
        </p:blipFill>
        <p:spPr>
          <a:xfrm>
            <a:off x="4727448" y="1051560"/>
            <a:ext cx="4123944" cy="3429000"/>
          </a:xfrm>
          <a:prstGeom prst="rect">
            <a:avLst/>
          </a:prstGeom>
        </p:spPr>
      </p:pic>
      <p:sp>
        <p:nvSpPr>
          <p:cNvPr id="17" name="Text 13"/>
          <p:cNvSpPr/>
          <p:nvPr/>
        </p:nvSpPr>
        <p:spPr>
          <a:xfrm>
            <a:off x="4681728" y="4608576"/>
            <a:ext cx="4215384" cy="438912"/>
          </a:xfrm>
          <a:prstGeom prst="rect">
            <a:avLst/>
          </a:prstGeom>
          <a:noFill/>
          <a:ln/>
        </p:spPr>
        <p:txBody>
          <a:bodyPr wrap="square" rtlCol="0" anchor="ctr"/>
          <a:lstStyle/>
          <a:p>
            <a:pPr indent="0" marL="0">
              <a:buNone/>
            </a:pPr>
            <a:r>
              <a:rPr lang="en-US" sz="800" i="1" dirty="0">
                <a:solidFill>
                  <a:srgbClr val="546E6E"/>
                </a:solidFill>
                <a:latin typeface="Arial" pitchFamily="34" charset="0"/>
                <a:ea typeface="Arial" pitchFamily="34" charset="-122"/>
                <a:cs typeface="Arial" pitchFamily="34" charset="-120"/>
              </a:rPr>
              <a:t>→ L'IDF arrive en tête (6 082 €/m²) pour les grands appartements. Les 9 régions représentées montrent de fortes disparités.</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AF5F4"/>
        </a:solidFill>
      </p:bgPr>
    </p:bg>
    <p:spTree>
      <p:nvGrpSpPr>
        <p:cNvPr id="1" name=""/>
        <p:cNvGrpSpPr/>
        <p:nvPr/>
      </p:nvGrpSpPr>
      <p:grpSpPr>
        <a:xfrm>
          <a:off x="0" y="0"/>
          <a:ext cx="0" cy="0"/>
          <a:chOff x="0" y="0"/>
          <a:chExt cx="0" cy="0"/>
        </a:xfrm>
      </p:grpSpPr>
      <p:sp>
        <p:nvSpPr>
          <p:cNvPr id="2" name="Shape 0"/>
          <p:cNvSpPr/>
          <p:nvPr/>
        </p:nvSpPr>
        <p:spPr>
          <a:xfrm>
            <a:off x="256032" y="164592"/>
            <a:ext cx="50292" cy="475488"/>
          </a:xfrm>
          <a:prstGeom prst="rect">
            <a:avLst/>
          </a:prstGeom>
          <a:solidFill>
            <a:srgbClr val="158F7E"/>
          </a:solidFill>
          <a:ln w="12700">
            <a:solidFill>
              <a:srgbClr val="158F7E"/>
            </a:solidFill>
            <a:prstDash val="solid"/>
          </a:ln>
        </p:spPr>
      </p:sp>
      <p:sp>
        <p:nvSpPr>
          <p:cNvPr id="3" name="Text 1"/>
          <p:cNvSpPr/>
          <p:nvPr/>
        </p:nvSpPr>
        <p:spPr>
          <a:xfrm>
            <a:off x="365760" y="109728"/>
            <a:ext cx="8412480" cy="566928"/>
          </a:xfrm>
          <a:prstGeom prst="rect">
            <a:avLst/>
          </a:prstGeom>
          <a:noFill/>
          <a:ln/>
        </p:spPr>
        <p:txBody>
          <a:bodyPr wrap="square" rtlCol="0" anchor="ctr"/>
          <a:lstStyle/>
          <a:p>
            <a:pPr indent="0" marL="0">
              <a:buNone/>
            </a:pPr>
            <a:r>
              <a:rPr lang="en-US" sz="2000" b="1" dirty="0">
                <a:solidFill>
                  <a:srgbClr val="1C3838"/>
                </a:solidFill>
                <a:latin typeface="Arial" pitchFamily="34" charset="0"/>
                <a:ea typeface="Arial" pitchFamily="34" charset="-122"/>
                <a:cs typeface="Arial" pitchFamily="34" charset="-120"/>
              </a:rPr>
              <a:t>Requêtes Q9 &amp; Q10</a:t>
            </a:r>
            <a:endParaRPr lang="en-US" sz="2000" dirty="0"/>
          </a:p>
        </p:txBody>
      </p:sp>
      <p:sp>
        <p:nvSpPr>
          <p:cNvPr id="4" name="Shape 2"/>
          <p:cNvSpPr/>
          <p:nvPr/>
        </p:nvSpPr>
        <p:spPr>
          <a:xfrm>
            <a:off x="256032" y="667512"/>
            <a:ext cx="8641080" cy="0"/>
          </a:xfrm>
          <a:prstGeom prst="line">
            <a:avLst/>
          </a:prstGeom>
          <a:noFill/>
          <a:ln w="19050">
            <a:solidFill>
              <a:srgbClr val="1ABBA3"/>
            </a:solidFill>
            <a:prstDash val="solid"/>
          </a:ln>
        </p:spPr>
      </p:sp>
      <p:sp>
        <p:nvSpPr>
          <p:cNvPr id="5" name="Shape 3"/>
          <p:cNvSpPr/>
          <p:nvPr/>
        </p:nvSpPr>
        <p:spPr>
          <a:xfrm>
            <a:off x="4599432" y="713232"/>
            <a:ext cx="0" cy="4389120"/>
          </a:xfrm>
          <a:prstGeom prst="line">
            <a:avLst/>
          </a:prstGeom>
          <a:noFill/>
          <a:ln w="12700">
            <a:solidFill>
              <a:srgbClr val="D0E8E6"/>
            </a:solidFill>
            <a:prstDash val="solid"/>
          </a:ln>
        </p:spPr>
      </p:sp>
      <p:sp>
        <p:nvSpPr>
          <p:cNvPr id="6" name="Shape 4"/>
          <p:cNvSpPr/>
          <p:nvPr/>
        </p:nvSpPr>
        <p:spPr>
          <a:xfrm>
            <a:off x="256032" y="749808"/>
            <a:ext cx="457200" cy="228600"/>
          </a:xfrm>
          <a:prstGeom prst="rect">
            <a:avLst/>
          </a:prstGeom>
          <a:solidFill>
            <a:srgbClr val="158F7E"/>
          </a:solidFill>
          <a:ln w="12700">
            <a:solidFill>
              <a:srgbClr val="158F7E"/>
            </a:solidFill>
            <a:prstDash val="solid"/>
          </a:ln>
        </p:spPr>
      </p:sp>
      <p:sp>
        <p:nvSpPr>
          <p:cNvPr id="7" name="Text 5"/>
          <p:cNvSpPr/>
          <p:nvPr/>
        </p:nvSpPr>
        <p:spPr>
          <a:xfrm>
            <a:off x="256032" y="749808"/>
            <a:ext cx="457200" cy="2286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Q9</a:t>
            </a:r>
            <a:endParaRPr lang="en-US" sz="800" dirty="0"/>
          </a:p>
        </p:txBody>
      </p:sp>
      <p:sp>
        <p:nvSpPr>
          <p:cNvPr id="8" name="Text 6"/>
          <p:cNvSpPr/>
          <p:nvPr/>
        </p:nvSpPr>
        <p:spPr>
          <a:xfrm>
            <a:off x="768096" y="749808"/>
            <a:ext cx="3703320" cy="228600"/>
          </a:xfrm>
          <a:prstGeom prst="rect">
            <a:avLst/>
          </a:prstGeom>
          <a:noFill/>
          <a:ln/>
        </p:spPr>
        <p:txBody>
          <a:bodyPr wrap="square" rtlCol="0" anchor="ctr"/>
          <a:lstStyle/>
          <a:p>
            <a:pPr indent="0" marL="0">
              <a:buNone/>
            </a:pPr>
            <a:r>
              <a:rPr lang="en-US" sz="950" b="1" dirty="0">
                <a:solidFill>
                  <a:srgbClr val="1C3838"/>
                </a:solidFill>
                <a:latin typeface="Arial" pitchFamily="34" charset="0"/>
                <a:ea typeface="Arial" pitchFamily="34" charset="-122"/>
                <a:cs typeface="Arial" pitchFamily="34" charset="-120"/>
              </a:rPr>
              <a:t>Communes ayant eu au moins 50 ventes au 1er trimestre 2020</a:t>
            </a:r>
            <a:endParaRPr lang="en-US" sz="950" dirty="0"/>
          </a:p>
        </p:txBody>
      </p:sp>
      <p:sp>
        <p:nvSpPr>
          <p:cNvPr id="9" name="Shape 7"/>
          <p:cNvSpPr/>
          <p:nvPr/>
        </p:nvSpPr>
        <p:spPr>
          <a:xfrm>
            <a:off x="256032" y="1024128"/>
            <a:ext cx="4251960" cy="3547872"/>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pic>
        <p:nvPicPr>
          <p:cNvPr id="10" name="Image 0" descr="preencoded.png">    </p:cNvPr>
          <p:cNvPicPr>
            <a:picLocks noChangeAspect="1"/>
          </p:cNvPicPr>
          <p:nvPr/>
        </p:nvPicPr>
        <p:blipFill>
          <a:blip r:embed="rId1"/>
          <a:srcRect l="0" r="0" t="0" b="0"/>
          <a:stretch/>
        </p:blipFill>
        <p:spPr>
          <a:xfrm>
            <a:off x="301752" y="1051560"/>
            <a:ext cx="4160520" cy="3429000"/>
          </a:xfrm>
          <a:prstGeom prst="rect">
            <a:avLst/>
          </a:prstGeom>
        </p:spPr>
      </p:pic>
      <p:sp>
        <p:nvSpPr>
          <p:cNvPr id="11" name="Text 8"/>
          <p:cNvSpPr/>
          <p:nvPr/>
        </p:nvSpPr>
        <p:spPr>
          <a:xfrm>
            <a:off x="256032" y="4608576"/>
            <a:ext cx="4251960" cy="438912"/>
          </a:xfrm>
          <a:prstGeom prst="rect">
            <a:avLst/>
          </a:prstGeom>
          <a:noFill/>
          <a:ln/>
        </p:spPr>
        <p:txBody>
          <a:bodyPr wrap="square" rtlCol="0" anchor="ctr"/>
          <a:lstStyle/>
          <a:p>
            <a:pPr indent="0" marL="0">
              <a:buNone/>
            </a:pPr>
            <a:r>
              <a:rPr lang="en-US" sz="800" i="1" dirty="0">
                <a:solidFill>
                  <a:srgbClr val="546E6E"/>
                </a:solidFill>
                <a:latin typeface="Arial" pitchFamily="34" charset="0"/>
                <a:ea typeface="Arial" pitchFamily="34" charset="-122"/>
                <a:cs typeface="Arial" pitchFamily="34" charset="-120"/>
              </a:rPr>
              <a:t>→ Aucun résultat : le jeu de données est un échantillon POC. Les ventes sont réparties sur 467 communes, aucune ne dépasse ce seuil.</a:t>
            </a:r>
            <a:endParaRPr lang="en-US" sz="800" dirty="0"/>
          </a:p>
        </p:txBody>
      </p:sp>
      <p:sp>
        <p:nvSpPr>
          <p:cNvPr id="12" name="Shape 9"/>
          <p:cNvSpPr/>
          <p:nvPr/>
        </p:nvSpPr>
        <p:spPr>
          <a:xfrm>
            <a:off x="4681728" y="749808"/>
            <a:ext cx="457200" cy="228600"/>
          </a:xfrm>
          <a:prstGeom prst="rect">
            <a:avLst/>
          </a:prstGeom>
          <a:solidFill>
            <a:srgbClr val="158F7E"/>
          </a:solidFill>
          <a:ln w="12700">
            <a:solidFill>
              <a:srgbClr val="158F7E"/>
            </a:solidFill>
            <a:prstDash val="solid"/>
          </a:ln>
        </p:spPr>
      </p:sp>
      <p:sp>
        <p:nvSpPr>
          <p:cNvPr id="13" name="Text 10"/>
          <p:cNvSpPr/>
          <p:nvPr/>
        </p:nvSpPr>
        <p:spPr>
          <a:xfrm>
            <a:off x="4681728" y="749808"/>
            <a:ext cx="457200" cy="2286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Q10</a:t>
            </a:r>
            <a:endParaRPr lang="en-US" sz="800" dirty="0"/>
          </a:p>
        </p:txBody>
      </p:sp>
      <p:sp>
        <p:nvSpPr>
          <p:cNvPr id="14" name="Text 11"/>
          <p:cNvSpPr/>
          <p:nvPr/>
        </p:nvSpPr>
        <p:spPr>
          <a:xfrm>
            <a:off x="5193792" y="749808"/>
            <a:ext cx="3666744" cy="228600"/>
          </a:xfrm>
          <a:prstGeom prst="rect">
            <a:avLst/>
          </a:prstGeom>
          <a:noFill/>
          <a:ln/>
        </p:spPr>
        <p:txBody>
          <a:bodyPr wrap="square" rtlCol="0" anchor="ctr"/>
          <a:lstStyle/>
          <a:p>
            <a:pPr indent="0" marL="0">
              <a:buNone/>
            </a:pPr>
            <a:r>
              <a:rPr lang="en-US" sz="950" b="1" dirty="0">
                <a:solidFill>
                  <a:srgbClr val="1C3838"/>
                </a:solidFill>
                <a:latin typeface="Arial" pitchFamily="34" charset="0"/>
                <a:ea typeface="Arial" pitchFamily="34" charset="-122"/>
                <a:cs typeface="Arial" pitchFamily="34" charset="-120"/>
              </a:rPr>
              <a:t>Différence en % du prix au m² entre appartements 2 et 3 pièces</a:t>
            </a:r>
            <a:endParaRPr lang="en-US" sz="950" dirty="0"/>
          </a:p>
        </p:txBody>
      </p:sp>
      <p:sp>
        <p:nvSpPr>
          <p:cNvPr id="15" name="Shape 12"/>
          <p:cNvSpPr/>
          <p:nvPr/>
        </p:nvSpPr>
        <p:spPr>
          <a:xfrm>
            <a:off x="4681728" y="1024128"/>
            <a:ext cx="4215384" cy="3547872"/>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pic>
        <p:nvPicPr>
          <p:cNvPr id="16" name="Image 1" descr="preencoded.png">    </p:cNvPr>
          <p:cNvPicPr>
            <a:picLocks noChangeAspect="1"/>
          </p:cNvPicPr>
          <p:nvPr/>
        </p:nvPicPr>
        <p:blipFill>
          <a:blip r:embed="rId2"/>
          <a:srcRect l="0" r="0" t="0" b="0"/>
          <a:stretch/>
        </p:blipFill>
        <p:spPr>
          <a:xfrm>
            <a:off x="4727448" y="1051560"/>
            <a:ext cx="4123944" cy="3429000"/>
          </a:xfrm>
          <a:prstGeom prst="rect">
            <a:avLst/>
          </a:prstGeom>
        </p:spPr>
      </p:pic>
      <p:sp>
        <p:nvSpPr>
          <p:cNvPr id="17" name="Text 13"/>
          <p:cNvSpPr/>
          <p:nvPr/>
        </p:nvSpPr>
        <p:spPr>
          <a:xfrm>
            <a:off x="4681728" y="4608576"/>
            <a:ext cx="4215384" cy="438912"/>
          </a:xfrm>
          <a:prstGeom prst="rect">
            <a:avLst/>
          </a:prstGeom>
          <a:noFill/>
          <a:ln/>
        </p:spPr>
        <p:txBody>
          <a:bodyPr wrap="square" rtlCol="0" anchor="ctr"/>
          <a:lstStyle/>
          <a:p>
            <a:pPr indent="0" marL="0">
              <a:buNone/>
            </a:pPr>
            <a:r>
              <a:rPr lang="en-US" sz="800" i="1" dirty="0">
                <a:solidFill>
                  <a:srgbClr val="546E6E"/>
                </a:solidFill>
                <a:latin typeface="Arial" pitchFamily="34" charset="0"/>
                <a:ea typeface="Arial" pitchFamily="34" charset="-122"/>
                <a:cs typeface="Arial" pitchFamily="34" charset="-120"/>
              </a:rPr>
              <a:t>→ −17 % : un 2 pièces coûte plus cher au m² (4 134 €) qu'un 3 pièces (3 429 €). Les petites surfaces ont un premium au m².</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AF5F4"/>
        </a:solidFill>
      </p:bgPr>
    </p:bg>
    <p:spTree>
      <p:nvGrpSpPr>
        <p:cNvPr id="1" name=""/>
        <p:cNvGrpSpPr/>
        <p:nvPr/>
      </p:nvGrpSpPr>
      <p:grpSpPr>
        <a:xfrm>
          <a:off x="0" y="0"/>
          <a:ext cx="0" cy="0"/>
          <a:chOff x="0" y="0"/>
          <a:chExt cx="0" cy="0"/>
        </a:xfrm>
      </p:grpSpPr>
      <p:sp>
        <p:nvSpPr>
          <p:cNvPr id="2" name="Shape 0"/>
          <p:cNvSpPr/>
          <p:nvPr/>
        </p:nvSpPr>
        <p:spPr>
          <a:xfrm>
            <a:off x="256032" y="164592"/>
            <a:ext cx="50292" cy="475488"/>
          </a:xfrm>
          <a:prstGeom prst="rect">
            <a:avLst/>
          </a:prstGeom>
          <a:solidFill>
            <a:srgbClr val="158F7E"/>
          </a:solidFill>
          <a:ln w="12700">
            <a:solidFill>
              <a:srgbClr val="158F7E"/>
            </a:solidFill>
            <a:prstDash val="solid"/>
          </a:ln>
        </p:spPr>
      </p:sp>
      <p:sp>
        <p:nvSpPr>
          <p:cNvPr id="3" name="Text 1"/>
          <p:cNvSpPr/>
          <p:nvPr/>
        </p:nvSpPr>
        <p:spPr>
          <a:xfrm>
            <a:off x="365760" y="109728"/>
            <a:ext cx="8412480" cy="566928"/>
          </a:xfrm>
          <a:prstGeom prst="rect">
            <a:avLst/>
          </a:prstGeom>
          <a:noFill/>
          <a:ln/>
        </p:spPr>
        <p:txBody>
          <a:bodyPr wrap="square" rtlCol="0" anchor="ctr"/>
          <a:lstStyle/>
          <a:p>
            <a:pPr indent="0" marL="0">
              <a:buNone/>
            </a:pPr>
            <a:r>
              <a:rPr lang="en-US" sz="2000" b="1" dirty="0">
                <a:solidFill>
                  <a:srgbClr val="1C3838"/>
                </a:solidFill>
                <a:latin typeface="Arial" pitchFamily="34" charset="0"/>
                <a:ea typeface="Arial" pitchFamily="34" charset="-122"/>
                <a:cs typeface="Arial" pitchFamily="34" charset="-120"/>
              </a:rPr>
              <a:t>Requête Q11</a:t>
            </a:r>
            <a:endParaRPr lang="en-US" sz="2000" dirty="0"/>
          </a:p>
        </p:txBody>
      </p:sp>
      <p:sp>
        <p:nvSpPr>
          <p:cNvPr id="4" name="Shape 2"/>
          <p:cNvSpPr/>
          <p:nvPr/>
        </p:nvSpPr>
        <p:spPr>
          <a:xfrm>
            <a:off x="256032" y="667512"/>
            <a:ext cx="8641080" cy="0"/>
          </a:xfrm>
          <a:prstGeom prst="line">
            <a:avLst/>
          </a:prstGeom>
          <a:noFill/>
          <a:ln w="19050">
            <a:solidFill>
              <a:srgbClr val="1ABBA3"/>
            </a:solidFill>
            <a:prstDash val="solid"/>
          </a:ln>
        </p:spPr>
      </p:sp>
      <p:sp>
        <p:nvSpPr>
          <p:cNvPr id="5" name="Shape 3"/>
          <p:cNvSpPr/>
          <p:nvPr/>
        </p:nvSpPr>
        <p:spPr>
          <a:xfrm>
            <a:off x="256032" y="749808"/>
            <a:ext cx="457200" cy="228600"/>
          </a:xfrm>
          <a:prstGeom prst="rect">
            <a:avLst/>
          </a:prstGeom>
          <a:solidFill>
            <a:srgbClr val="158F7E"/>
          </a:solidFill>
          <a:ln w="12700">
            <a:solidFill>
              <a:srgbClr val="158F7E"/>
            </a:solidFill>
            <a:prstDash val="solid"/>
          </a:ln>
        </p:spPr>
      </p:sp>
      <p:sp>
        <p:nvSpPr>
          <p:cNvPr id="6" name="Text 4"/>
          <p:cNvSpPr/>
          <p:nvPr/>
        </p:nvSpPr>
        <p:spPr>
          <a:xfrm>
            <a:off x="256032" y="749808"/>
            <a:ext cx="457200" cy="2286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Q11</a:t>
            </a:r>
            <a:endParaRPr lang="en-US" sz="800" dirty="0"/>
          </a:p>
        </p:txBody>
      </p:sp>
      <p:sp>
        <p:nvSpPr>
          <p:cNvPr id="7" name="Text 5"/>
          <p:cNvSpPr/>
          <p:nvPr/>
        </p:nvSpPr>
        <p:spPr>
          <a:xfrm>
            <a:off x="768096" y="749808"/>
            <a:ext cx="8092440" cy="228600"/>
          </a:xfrm>
          <a:prstGeom prst="rect">
            <a:avLst/>
          </a:prstGeom>
          <a:noFill/>
          <a:ln/>
        </p:spPr>
        <p:txBody>
          <a:bodyPr wrap="square" rtlCol="0" anchor="ctr"/>
          <a:lstStyle/>
          <a:p>
            <a:pPr indent="0" marL="0">
              <a:buNone/>
            </a:pPr>
            <a:r>
              <a:rPr lang="en-US" sz="950" b="1" dirty="0">
                <a:solidFill>
                  <a:srgbClr val="1C3838"/>
                </a:solidFill>
                <a:latin typeface="Arial" pitchFamily="34" charset="0"/>
                <a:ea typeface="Arial" pitchFamily="34" charset="-122"/>
                <a:cs typeface="Arial" pitchFamily="34" charset="-120"/>
              </a:rPr>
              <a:t>Top 3 des communes avec la valeur foncière moyenne la plus haute — dép. 6, 13, 33, 59, 69</a:t>
            </a:r>
            <a:endParaRPr lang="en-US" sz="950" dirty="0"/>
          </a:p>
        </p:txBody>
      </p:sp>
      <p:sp>
        <p:nvSpPr>
          <p:cNvPr id="8" name="Shape 6"/>
          <p:cNvSpPr/>
          <p:nvPr/>
        </p:nvSpPr>
        <p:spPr>
          <a:xfrm>
            <a:off x="256032" y="1024128"/>
            <a:ext cx="8641080" cy="3547872"/>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pic>
        <p:nvPicPr>
          <p:cNvPr id="9" name="Image 0" descr="preencoded.png">    </p:cNvPr>
          <p:cNvPicPr>
            <a:picLocks noChangeAspect="1"/>
          </p:cNvPicPr>
          <p:nvPr/>
        </p:nvPicPr>
        <p:blipFill>
          <a:blip r:embed="rId1"/>
          <a:srcRect l="0" r="0" t="0" b="0"/>
          <a:stretch/>
        </p:blipFill>
        <p:spPr>
          <a:xfrm>
            <a:off x="301752" y="1051560"/>
            <a:ext cx="8549640" cy="3429000"/>
          </a:xfrm>
          <a:prstGeom prst="rect">
            <a:avLst/>
          </a:prstGeom>
        </p:spPr>
      </p:pic>
      <p:sp>
        <p:nvSpPr>
          <p:cNvPr id="10" name="Text 7"/>
          <p:cNvSpPr/>
          <p:nvPr/>
        </p:nvSpPr>
        <p:spPr>
          <a:xfrm>
            <a:off x="256032" y="4608576"/>
            <a:ext cx="8641080" cy="438912"/>
          </a:xfrm>
          <a:prstGeom prst="rect">
            <a:avLst/>
          </a:prstGeom>
          <a:noFill/>
          <a:ln/>
        </p:spPr>
        <p:txBody>
          <a:bodyPr wrap="square" rtlCol="0" anchor="ctr"/>
          <a:lstStyle/>
          <a:p>
            <a:pPr indent="0" marL="0">
              <a:buNone/>
            </a:pPr>
            <a:r>
              <a:rPr lang="en-US" sz="800" i="1" dirty="0">
                <a:solidFill>
                  <a:srgbClr val="546E6E"/>
                </a:solidFill>
                <a:latin typeface="Arial" pitchFamily="34" charset="0"/>
                <a:ea typeface="Arial" pitchFamily="34" charset="-122"/>
                <a:cs typeface="Arial" pitchFamily="34" charset="-120"/>
              </a:rPr>
              <a:t>→ Lyon 2ème, Arcachon et Collonges-au-Mont-d'Or arrivent en tête. Résultat LIMIT 3 global — non partitionné par département dans cette version.</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AF5F4"/>
        </a:solidFill>
      </p:bgPr>
    </p:bg>
    <p:spTree>
      <p:nvGrpSpPr>
        <p:cNvPr id="1" name=""/>
        <p:cNvGrpSpPr/>
        <p:nvPr/>
      </p:nvGrpSpPr>
      <p:grpSpPr>
        <a:xfrm>
          <a:off x="0" y="0"/>
          <a:ext cx="0" cy="0"/>
          <a:chOff x="0" y="0"/>
          <a:chExt cx="0" cy="0"/>
        </a:xfrm>
      </p:grpSpPr>
      <p:sp>
        <p:nvSpPr>
          <p:cNvPr id="2" name="Shape 0"/>
          <p:cNvSpPr/>
          <p:nvPr/>
        </p:nvSpPr>
        <p:spPr>
          <a:xfrm>
            <a:off x="256032" y="164592"/>
            <a:ext cx="50292" cy="475488"/>
          </a:xfrm>
          <a:prstGeom prst="rect">
            <a:avLst/>
          </a:prstGeom>
          <a:solidFill>
            <a:srgbClr val="158F7E"/>
          </a:solidFill>
          <a:ln w="12700">
            <a:solidFill>
              <a:srgbClr val="158F7E"/>
            </a:solidFill>
            <a:prstDash val="solid"/>
          </a:ln>
        </p:spPr>
      </p:sp>
      <p:sp>
        <p:nvSpPr>
          <p:cNvPr id="3" name="Text 1"/>
          <p:cNvSpPr/>
          <p:nvPr/>
        </p:nvSpPr>
        <p:spPr>
          <a:xfrm>
            <a:off x="365760" y="109728"/>
            <a:ext cx="8412480" cy="566928"/>
          </a:xfrm>
          <a:prstGeom prst="rect">
            <a:avLst/>
          </a:prstGeom>
          <a:noFill/>
          <a:ln/>
        </p:spPr>
        <p:txBody>
          <a:bodyPr wrap="square" rtlCol="0" anchor="ctr"/>
          <a:lstStyle/>
          <a:p>
            <a:pPr indent="0" marL="0">
              <a:buNone/>
            </a:pPr>
            <a:r>
              <a:rPr lang="en-US" sz="2000" b="1" dirty="0">
                <a:solidFill>
                  <a:srgbClr val="1C3838"/>
                </a:solidFill>
                <a:latin typeface="Arial" pitchFamily="34" charset="0"/>
                <a:ea typeface="Arial" pitchFamily="34" charset="-122"/>
                <a:cs typeface="Arial" pitchFamily="34" charset="-120"/>
              </a:rPr>
              <a:t>Synthèse &amp; Conclusions</a:t>
            </a:r>
            <a:endParaRPr lang="en-US" sz="2000" dirty="0"/>
          </a:p>
        </p:txBody>
      </p:sp>
      <p:sp>
        <p:nvSpPr>
          <p:cNvPr id="4" name="Shape 2"/>
          <p:cNvSpPr/>
          <p:nvPr/>
        </p:nvSpPr>
        <p:spPr>
          <a:xfrm>
            <a:off x="256032" y="667512"/>
            <a:ext cx="8641080" cy="0"/>
          </a:xfrm>
          <a:prstGeom prst="line">
            <a:avLst/>
          </a:prstGeom>
          <a:noFill/>
          <a:ln w="19050">
            <a:solidFill>
              <a:srgbClr val="1ABBA3"/>
            </a:solidFill>
            <a:prstDash val="solid"/>
          </a:ln>
        </p:spPr>
      </p:sp>
      <p:sp>
        <p:nvSpPr>
          <p:cNvPr id="5" name="Shape 3"/>
          <p:cNvSpPr/>
          <p:nvPr/>
        </p:nvSpPr>
        <p:spPr>
          <a:xfrm>
            <a:off x="256032" y="749808"/>
            <a:ext cx="1627632" cy="960120"/>
          </a:xfrm>
          <a:prstGeom prst="rect">
            <a:avLst/>
          </a:prstGeom>
          <a:solidFill>
            <a:srgbClr val="158F7E"/>
          </a:solidFill>
          <a:ln w="12700">
            <a:solidFill>
              <a:srgbClr val="158F7E"/>
            </a:solidFill>
            <a:prstDash val="solid"/>
          </a:ln>
          <a:effectLst>
            <a:outerShdw sx="100000" sy="100000" kx="0" ky="0" algn="bl" rotWithShape="0" blurRad="38100" dist="25400" dir="8100000">
              <a:srgbClr val="000000">
                <a:alpha val="10000"/>
              </a:srgbClr>
            </a:outerShdw>
          </a:effectLst>
        </p:spPr>
      </p:sp>
      <p:sp>
        <p:nvSpPr>
          <p:cNvPr id="6" name="Text 4"/>
          <p:cNvSpPr/>
          <p:nvPr/>
        </p:nvSpPr>
        <p:spPr>
          <a:xfrm>
            <a:off x="256032" y="749808"/>
            <a:ext cx="1627632" cy="566928"/>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7" name="Text 5"/>
          <p:cNvSpPr/>
          <p:nvPr/>
        </p:nvSpPr>
        <p:spPr>
          <a:xfrm>
            <a:off x="256032" y="1252728"/>
            <a:ext cx="1627632" cy="420624"/>
          </a:xfrm>
          <a:prstGeom prst="rect">
            <a:avLst/>
          </a:prstGeom>
          <a:noFill/>
          <a:ln/>
        </p:spPr>
        <p:txBody>
          <a:bodyPr wrap="square" rtlCol="0" anchor="ctr"/>
          <a:lstStyle/>
          <a:p>
            <a:pPr algn="ctr" indent="0" marL="0">
              <a:buNone/>
            </a:pPr>
            <a:r>
              <a:rPr lang="en-US" sz="750" dirty="0">
                <a:solidFill>
                  <a:srgbClr val="E0F5F3"/>
                </a:solidFill>
                <a:latin typeface="Arial" pitchFamily="34" charset="0"/>
                <a:ea typeface="Arial" pitchFamily="34" charset="-122"/>
                <a:cs typeface="Arial" pitchFamily="34" charset="-120"/>
              </a:rPr>
              <a:t>Tables</a:t>
            </a:r>
            <a:endParaRPr lang="en-US" sz="750" dirty="0"/>
          </a:p>
          <a:p>
            <a:pPr algn="ctr" indent="0" marL="0">
              <a:buNone/>
            </a:pPr>
            <a:r>
              <a:rPr lang="en-US" sz="750" dirty="0">
                <a:solidFill>
                  <a:srgbClr val="E0F5F3"/>
                </a:solidFill>
                <a:latin typeface="Arial" pitchFamily="34" charset="0"/>
                <a:ea typeface="Arial" pitchFamily="34" charset="-122"/>
                <a:cs typeface="Arial" pitchFamily="34" charset="-120"/>
              </a:rPr>
              <a:t>relationnelles</a:t>
            </a:r>
            <a:endParaRPr lang="en-US" sz="750" dirty="0"/>
          </a:p>
        </p:txBody>
      </p:sp>
      <p:sp>
        <p:nvSpPr>
          <p:cNvPr id="8" name="Shape 6"/>
          <p:cNvSpPr/>
          <p:nvPr/>
        </p:nvSpPr>
        <p:spPr>
          <a:xfrm>
            <a:off x="1993392" y="749808"/>
            <a:ext cx="1627632" cy="960120"/>
          </a:xfrm>
          <a:prstGeom prst="rect">
            <a:avLst/>
          </a:prstGeom>
          <a:solidFill>
            <a:srgbClr val="158F7E"/>
          </a:solidFill>
          <a:ln w="12700">
            <a:solidFill>
              <a:srgbClr val="158F7E"/>
            </a:solidFill>
            <a:prstDash val="solid"/>
          </a:ln>
          <a:effectLst>
            <a:outerShdw sx="100000" sy="100000" kx="0" ky="0" algn="bl" rotWithShape="0" blurRad="38100" dist="25400" dir="8100000">
              <a:srgbClr val="000000">
                <a:alpha val="10000"/>
              </a:srgbClr>
            </a:outerShdw>
          </a:effectLst>
        </p:spPr>
      </p:sp>
      <p:sp>
        <p:nvSpPr>
          <p:cNvPr id="9" name="Text 7"/>
          <p:cNvSpPr/>
          <p:nvPr/>
        </p:nvSpPr>
        <p:spPr>
          <a:xfrm>
            <a:off x="1993392" y="749808"/>
            <a:ext cx="1627632" cy="566928"/>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1 047</a:t>
            </a:r>
            <a:endParaRPr lang="en-US" sz="2200" dirty="0"/>
          </a:p>
        </p:txBody>
      </p:sp>
      <p:sp>
        <p:nvSpPr>
          <p:cNvPr id="10" name="Text 8"/>
          <p:cNvSpPr/>
          <p:nvPr/>
        </p:nvSpPr>
        <p:spPr>
          <a:xfrm>
            <a:off x="1993392" y="1252728"/>
            <a:ext cx="1627632" cy="420624"/>
          </a:xfrm>
          <a:prstGeom prst="rect">
            <a:avLst/>
          </a:prstGeom>
          <a:noFill/>
          <a:ln/>
        </p:spPr>
        <p:txBody>
          <a:bodyPr wrap="square" rtlCol="0" anchor="ctr"/>
          <a:lstStyle/>
          <a:p>
            <a:pPr algn="ctr" indent="0" marL="0">
              <a:buNone/>
            </a:pPr>
            <a:r>
              <a:rPr lang="en-US" sz="750" dirty="0">
                <a:solidFill>
                  <a:srgbClr val="E0F5F3"/>
                </a:solidFill>
                <a:latin typeface="Arial" pitchFamily="34" charset="0"/>
                <a:ea typeface="Arial" pitchFamily="34" charset="-122"/>
                <a:cs typeface="Arial" pitchFamily="34" charset="-120"/>
              </a:rPr>
              <a:t>Transactions</a:t>
            </a:r>
            <a:endParaRPr lang="en-US" sz="750" dirty="0"/>
          </a:p>
          <a:p>
            <a:pPr algn="ctr" indent="0" marL="0">
              <a:buNone/>
            </a:pPr>
            <a:r>
              <a:rPr lang="en-US" sz="750" dirty="0">
                <a:solidFill>
                  <a:srgbClr val="E0F5F3"/>
                </a:solidFill>
                <a:latin typeface="Arial" pitchFamily="34" charset="0"/>
                <a:ea typeface="Arial" pitchFamily="34" charset="-122"/>
                <a:cs typeface="Arial" pitchFamily="34" charset="-120"/>
              </a:rPr>
              <a:t>(ventes 2020)</a:t>
            </a:r>
            <a:endParaRPr lang="en-US" sz="750" dirty="0"/>
          </a:p>
        </p:txBody>
      </p:sp>
      <p:sp>
        <p:nvSpPr>
          <p:cNvPr id="11" name="Shape 9"/>
          <p:cNvSpPr/>
          <p:nvPr/>
        </p:nvSpPr>
        <p:spPr>
          <a:xfrm>
            <a:off x="3730752" y="749808"/>
            <a:ext cx="1627632" cy="960120"/>
          </a:xfrm>
          <a:prstGeom prst="rect">
            <a:avLst/>
          </a:prstGeom>
          <a:solidFill>
            <a:srgbClr val="158F7E"/>
          </a:solidFill>
          <a:ln w="12700">
            <a:solidFill>
              <a:srgbClr val="158F7E"/>
            </a:solidFill>
            <a:prstDash val="solid"/>
          </a:ln>
          <a:effectLst>
            <a:outerShdw sx="100000" sy="100000" kx="0" ky="0" algn="bl" rotWithShape="0" blurRad="38100" dist="25400" dir="8100000">
              <a:srgbClr val="000000">
                <a:alpha val="10000"/>
              </a:srgbClr>
            </a:outerShdw>
          </a:effectLst>
        </p:spPr>
      </p:sp>
      <p:sp>
        <p:nvSpPr>
          <p:cNvPr id="12" name="Text 10"/>
          <p:cNvSpPr/>
          <p:nvPr/>
        </p:nvSpPr>
        <p:spPr>
          <a:xfrm>
            <a:off x="3730752" y="749808"/>
            <a:ext cx="1627632" cy="566928"/>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1 107</a:t>
            </a:r>
            <a:endParaRPr lang="en-US" sz="2200" dirty="0"/>
          </a:p>
        </p:txBody>
      </p:sp>
      <p:sp>
        <p:nvSpPr>
          <p:cNvPr id="13" name="Text 11"/>
          <p:cNvSpPr/>
          <p:nvPr/>
        </p:nvSpPr>
        <p:spPr>
          <a:xfrm>
            <a:off x="3730752" y="1252728"/>
            <a:ext cx="1627632" cy="420624"/>
          </a:xfrm>
          <a:prstGeom prst="rect">
            <a:avLst/>
          </a:prstGeom>
          <a:noFill/>
          <a:ln/>
        </p:spPr>
        <p:txBody>
          <a:bodyPr wrap="square" rtlCol="0" anchor="ctr"/>
          <a:lstStyle/>
          <a:p>
            <a:pPr algn="ctr" indent="0" marL="0">
              <a:buNone/>
            </a:pPr>
            <a:r>
              <a:rPr lang="en-US" sz="750" dirty="0">
                <a:solidFill>
                  <a:srgbClr val="E0F5F3"/>
                </a:solidFill>
                <a:latin typeface="Arial" pitchFamily="34" charset="0"/>
                <a:ea typeface="Arial" pitchFamily="34" charset="-122"/>
                <a:cs typeface="Arial" pitchFamily="34" charset="-120"/>
              </a:rPr>
              <a:t>Biens</a:t>
            </a:r>
            <a:endParaRPr lang="en-US" sz="750" dirty="0"/>
          </a:p>
          <a:p>
            <a:pPr algn="ctr" indent="0" marL="0">
              <a:buNone/>
            </a:pPr>
            <a:r>
              <a:rPr lang="en-US" sz="750" dirty="0">
                <a:solidFill>
                  <a:srgbClr val="E0F5F3"/>
                </a:solidFill>
                <a:latin typeface="Arial" pitchFamily="34" charset="0"/>
                <a:ea typeface="Arial" pitchFamily="34" charset="-122"/>
                <a:cs typeface="Arial" pitchFamily="34" charset="-120"/>
              </a:rPr>
              <a:t>immobiliers</a:t>
            </a:r>
            <a:endParaRPr lang="en-US" sz="750" dirty="0"/>
          </a:p>
        </p:txBody>
      </p:sp>
      <p:sp>
        <p:nvSpPr>
          <p:cNvPr id="14" name="Shape 12"/>
          <p:cNvSpPr/>
          <p:nvPr/>
        </p:nvSpPr>
        <p:spPr>
          <a:xfrm>
            <a:off x="5468112" y="749808"/>
            <a:ext cx="1627632" cy="960120"/>
          </a:xfrm>
          <a:prstGeom prst="rect">
            <a:avLst/>
          </a:prstGeom>
          <a:solidFill>
            <a:srgbClr val="158F7E"/>
          </a:solidFill>
          <a:ln w="12700">
            <a:solidFill>
              <a:srgbClr val="158F7E"/>
            </a:solidFill>
            <a:prstDash val="solid"/>
          </a:ln>
          <a:effectLst>
            <a:outerShdw sx="100000" sy="100000" kx="0" ky="0" algn="bl" rotWithShape="0" blurRad="38100" dist="25400" dir="8100000">
              <a:srgbClr val="000000">
                <a:alpha val="10000"/>
              </a:srgbClr>
            </a:outerShdw>
          </a:effectLst>
        </p:spPr>
      </p:sp>
      <p:sp>
        <p:nvSpPr>
          <p:cNvPr id="15" name="Text 13"/>
          <p:cNvSpPr/>
          <p:nvPr/>
        </p:nvSpPr>
        <p:spPr>
          <a:xfrm>
            <a:off x="5468112" y="749808"/>
            <a:ext cx="1627632" cy="566928"/>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467</a:t>
            </a:r>
            <a:endParaRPr lang="en-US" sz="2200" dirty="0"/>
          </a:p>
        </p:txBody>
      </p:sp>
      <p:sp>
        <p:nvSpPr>
          <p:cNvPr id="16" name="Text 14"/>
          <p:cNvSpPr/>
          <p:nvPr/>
        </p:nvSpPr>
        <p:spPr>
          <a:xfrm>
            <a:off x="5468112" y="1252728"/>
            <a:ext cx="1627632" cy="420624"/>
          </a:xfrm>
          <a:prstGeom prst="rect">
            <a:avLst/>
          </a:prstGeom>
          <a:noFill/>
          <a:ln/>
        </p:spPr>
        <p:txBody>
          <a:bodyPr wrap="square" rtlCol="0" anchor="ctr"/>
          <a:lstStyle/>
          <a:p>
            <a:pPr algn="ctr" indent="0" marL="0">
              <a:buNone/>
            </a:pPr>
            <a:r>
              <a:rPr lang="en-US" sz="750" dirty="0">
                <a:solidFill>
                  <a:srgbClr val="E0F5F3"/>
                </a:solidFill>
                <a:latin typeface="Arial" pitchFamily="34" charset="0"/>
                <a:ea typeface="Arial" pitchFamily="34" charset="-122"/>
                <a:cs typeface="Arial" pitchFamily="34" charset="-120"/>
              </a:rPr>
              <a:t>Communes</a:t>
            </a:r>
            <a:endParaRPr lang="en-US" sz="750" dirty="0"/>
          </a:p>
          <a:p>
            <a:pPr algn="ctr" indent="0" marL="0">
              <a:buNone/>
            </a:pPr>
            <a:r>
              <a:rPr lang="en-US" sz="750" dirty="0">
                <a:solidFill>
                  <a:srgbClr val="E0F5F3"/>
                </a:solidFill>
                <a:latin typeface="Arial" pitchFamily="34" charset="0"/>
                <a:ea typeface="Arial" pitchFamily="34" charset="-122"/>
                <a:cs typeface="Arial" pitchFamily="34" charset="-120"/>
              </a:rPr>
              <a:t>couvertes</a:t>
            </a:r>
            <a:endParaRPr lang="en-US" sz="750" dirty="0"/>
          </a:p>
        </p:txBody>
      </p:sp>
      <p:sp>
        <p:nvSpPr>
          <p:cNvPr id="17" name="Shape 15"/>
          <p:cNvSpPr/>
          <p:nvPr/>
        </p:nvSpPr>
        <p:spPr>
          <a:xfrm>
            <a:off x="7205472" y="749808"/>
            <a:ext cx="1627632" cy="960120"/>
          </a:xfrm>
          <a:prstGeom prst="rect">
            <a:avLst/>
          </a:prstGeom>
          <a:solidFill>
            <a:srgbClr val="158F7E"/>
          </a:solidFill>
          <a:ln w="12700">
            <a:solidFill>
              <a:srgbClr val="158F7E"/>
            </a:solidFill>
            <a:prstDash val="solid"/>
          </a:ln>
          <a:effectLst>
            <a:outerShdw sx="100000" sy="100000" kx="0" ky="0" algn="bl" rotWithShape="0" blurRad="38100" dist="25400" dir="8100000">
              <a:srgbClr val="000000">
                <a:alpha val="10000"/>
              </a:srgbClr>
            </a:outerShdw>
          </a:effectLst>
        </p:spPr>
      </p:sp>
      <p:sp>
        <p:nvSpPr>
          <p:cNvPr id="18" name="Text 16"/>
          <p:cNvSpPr/>
          <p:nvPr/>
        </p:nvSpPr>
        <p:spPr>
          <a:xfrm>
            <a:off x="7205472" y="749808"/>
            <a:ext cx="1627632" cy="566928"/>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14</a:t>
            </a:r>
            <a:endParaRPr lang="en-US" sz="2200" dirty="0"/>
          </a:p>
        </p:txBody>
      </p:sp>
      <p:sp>
        <p:nvSpPr>
          <p:cNvPr id="19" name="Text 17"/>
          <p:cNvSpPr/>
          <p:nvPr/>
        </p:nvSpPr>
        <p:spPr>
          <a:xfrm>
            <a:off x="7205472" y="1252728"/>
            <a:ext cx="1627632" cy="420624"/>
          </a:xfrm>
          <a:prstGeom prst="rect">
            <a:avLst/>
          </a:prstGeom>
          <a:noFill/>
          <a:ln/>
        </p:spPr>
        <p:txBody>
          <a:bodyPr wrap="square" rtlCol="0" anchor="ctr"/>
          <a:lstStyle/>
          <a:p>
            <a:pPr algn="ctr" indent="0" marL="0">
              <a:buNone/>
            </a:pPr>
            <a:r>
              <a:rPr lang="en-US" sz="750" dirty="0">
                <a:solidFill>
                  <a:srgbClr val="E0F5F3"/>
                </a:solidFill>
                <a:latin typeface="Arial" pitchFamily="34" charset="0"/>
                <a:ea typeface="Arial" pitchFamily="34" charset="-122"/>
                <a:cs typeface="Arial" pitchFamily="34" charset="-120"/>
              </a:rPr>
              <a:t>Régions</a:t>
            </a:r>
            <a:endParaRPr lang="en-US" sz="750" dirty="0"/>
          </a:p>
          <a:p>
            <a:pPr algn="ctr" indent="0" marL="0">
              <a:buNone/>
            </a:pPr>
            <a:r>
              <a:rPr lang="en-US" sz="750" dirty="0">
                <a:solidFill>
                  <a:srgbClr val="E0F5F3"/>
                </a:solidFill>
                <a:latin typeface="Arial" pitchFamily="34" charset="0"/>
                <a:ea typeface="Arial" pitchFamily="34" charset="-122"/>
                <a:cs typeface="Arial" pitchFamily="34" charset="-120"/>
              </a:rPr>
              <a:t>françaises</a:t>
            </a:r>
            <a:endParaRPr lang="en-US" sz="750" dirty="0"/>
          </a:p>
        </p:txBody>
      </p:sp>
      <p:sp>
        <p:nvSpPr>
          <p:cNvPr id="20" name="Shape 18"/>
          <p:cNvSpPr/>
          <p:nvPr/>
        </p:nvSpPr>
        <p:spPr>
          <a:xfrm>
            <a:off x="256032" y="1847088"/>
            <a:ext cx="2788920" cy="2423160"/>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21" name="Shape 19"/>
          <p:cNvSpPr/>
          <p:nvPr/>
        </p:nvSpPr>
        <p:spPr>
          <a:xfrm>
            <a:off x="256032" y="1847088"/>
            <a:ext cx="2788920" cy="320040"/>
          </a:xfrm>
          <a:prstGeom prst="rect">
            <a:avLst/>
          </a:prstGeom>
          <a:solidFill>
            <a:srgbClr val="EAF5F4"/>
          </a:solidFill>
          <a:ln w="6350">
            <a:solidFill>
              <a:srgbClr val="D0E8E6"/>
            </a:solidFill>
            <a:prstDash val="solid"/>
          </a:ln>
        </p:spPr>
      </p:sp>
      <p:sp>
        <p:nvSpPr>
          <p:cNvPr id="22" name="Text 20"/>
          <p:cNvSpPr/>
          <p:nvPr/>
        </p:nvSpPr>
        <p:spPr>
          <a:xfrm>
            <a:off x="347472" y="1847088"/>
            <a:ext cx="2651760" cy="320040"/>
          </a:xfrm>
          <a:prstGeom prst="rect">
            <a:avLst/>
          </a:prstGeom>
          <a:noFill/>
          <a:ln/>
        </p:spPr>
        <p:txBody>
          <a:bodyPr wrap="square" rtlCol="0" anchor="ctr"/>
          <a:lstStyle/>
          <a:p>
            <a:pPr indent="0" marL="0">
              <a:buNone/>
            </a:pPr>
            <a:r>
              <a:rPr lang="en-US" sz="950" b="1" dirty="0">
                <a:solidFill>
                  <a:srgbClr val="158F7E"/>
                </a:solidFill>
                <a:latin typeface="Arial" pitchFamily="34" charset="0"/>
                <a:ea typeface="Arial" pitchFamily="34" charset="-122"/>
                <a:cs typeface="Arial" pitchFamily="34" charset="-120"/>
              </a:rPr>
              <a:t>🏙️  Marché très concentré</a:t>
            </a:r>
            <a:endParaRPr lang="en-US" sz="950" dirty="0"/>
          </a:p>
        </p:txBody>
      </p:sp>
      <p:sp>
        <p:nvSpPr>
          <p:cNvPr id="23" name="Text 21"/>
          <p:cNvSpPr/>
          <p:nvPr/>
        </p:nvSpPr>
        <p:spPr>
          <a:xfrm>
            <a:off x="365760" y="2212848"/>
            <a:ext cx="2606040" cy="1993392"/>
          </a:xfrm>
          <a:prstGeom prst="rect">
            <a:avLst/>
          </a:prstGeom>
          <a:noFill/>
          <a:ln/>
        </p:spPr>
        <p:txBody>
          <a:bodyPr wrap="square" rtlCol="0" anchor="ctr"/>
          <a:lstStyle/>
          <a:p>
            <a:pPr indent="0" marL="0">
              <a:buNone/>
            </a:pPr>
            <a:r>
              <a:rPr lang="en-US" sz="900" dirty="0">
                <a:solidFill>
                  <a:srgbClr val="1C3838"/>
                </a:solidFill>
                <a:latin typeface="Arial" pitchFamily="34" charset="0"/>
                <a:ea typeface="Arial" pitchFamily="34" charset="-122"/>
                <a:cs typeface="Arial" pitchFamily="34" charset="-120"/>
              </a:rPr>
              <a:t>L'Île-de-France représente 42 % des ventes d'appartements et affiche les prix au m² les plus élevés (9 946 €/m² pour le 75). 3 régions captent plus de 65 % des ventes.</a:t>
            </a:r>
            <a:endParaRPr lang="en-US" sz="900" dirty="0"/>
          </a:p>
        </p:txBody>
      </p:sp>
      <p:sp>
        <p:nvSpPr>
          <p:cNvPr id="24" name="Shape 22"/>
          <p:cNvSpPr/>
          <p:nvPr/>
        </p:nvSpPr>
        <p:spPr>
          <a:xfrm>
            <a:off x="3182112" y="1847088"/>
            <a:ext cx="2788920" cy="2423160"/>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25" name="Shape 23"/>
          <p:cNvSpPr/>
          <p:nvPr/>
        </p:nvSpPr>
        <p:spPr>
          <a:xfrm>
            <a:off x="3182112" y="1847088"/>
            <a:ext cx="2788920" cy="320040"/>
          </a:xfrm>
          <a:prstGeom prst="rect">
            <a:avLst/>
          </a:prstGeom>
          <a:solidFill>
            <a:srgbClr val="EAF5F4"/>
          </a:solidFill>
          <a:ln w="6350">
            <a:solidFill>
              <a:srgbClr val="D0E8E6"/>
            </a:solidFill>
            <a:prstDash val="solid"/>
          </a:ln>
        </p:spPr>
      </p:sp>
      <p:sp>
        <p:nvSpPr>
          <p:cNvPr id="26" name="Text 24"/>
          <p:cNvSpPr/>
          <p:nvPr/>
        </p:nvSpPr>
        <p:spPr>
          <a:xfrm>
            <a:off x="3273552" y="1847088"/>
            <a:ext cx="2651760" cy="320040"/>
          </a:xfrm>
          <a:prstGeom prst="rect">
            <a:avLst/>
          </a:prstGeom>
          <a:noFill/>
          <a:ln/>
        </p:spPr>
        <p:txBody>
          <a:bodyPr wrap="square" rtlCol="0" anchor="ctr"/>
          <a:lstStyle/>
          <a:p>
            <a:pPr indent="0" marL="0">
              <a:buNone/>
            </a:pPr>
            <a:r>
              <a:rPr lang="en-US" sz="950" b="1" dirty="0">
                <a:solidFill>
                  <a:srgbClr val="158F7E"/>
                </a:solidFill>
                <a:latin typeface="Arial" pitchFamily="34" charset="0"/>
                <a:ea typeface="Arial" pitchFamily="34" charset="-122"/>
                <a:cs typeface="Arial" pitchFamily="34" charset="-120"/>
              </a:rPr>
              <a:t>📉  Impact COVID-19 visible</a:t>
            </a:r>
            <a:endParaRPr lang="en-US" sz="950" dirty="0"/>
          </a:p>
        </p:txBody>
      </p:sp>
      <p:sp>
        <p:nvSpPr>
          <p:cNvPr id="27" name="Text 25"/>
          <p:cNvSpPr/>
          <p:nvPr/>
        </p:nvSpPr>
        <p:spPr>
          <a:xfrm>
            <a:off x="3291840" y="2212848"/>
            <a:ext cx="2606040" cy="1993392"/>
          </a:xfrm>
          <a:prstGeom prst="rect">
            <a:avLst/>
          </a:prstGeom>
          <a:noFill/>
          <a:ln/>
        </p:spPr>
        <p:txBody>
          <a:bodyPr wrap="square" rtlCol="0" anchor="ctr"/>
          <a:lstStyle/>
          <a:p>
            <a:pPr indent="0" marL="0">
              <a:buNone/>
            </a:pPr>
            <a:r>
              <a:rPr lang="en-US" sz="900" dirty="0">
                <a:solidFill>
                  <a:srgbClr val="1C3838"/>
                </a:solidFill>
                <a:latin typeface="Arial" pitchFamily="34" charset="0"/>
                <a:ea typeface="Arial" pitchFamily="34" charset="-122"/>
                <a:cs typeface="Arial" pitchFamily="34" charset="-120"/>
              </a:rPr>
              <a:t>Le taux d'évolution des ventes entre Q1 et Q2 2020 est de −6 %. Cette baisse correspond directement au confinement national d'avril-mai 2020.</a:t>
            </a:r>
            <a:endParaRPr lang="en-US" sz="900" dirty="0"/>
          </a:p>
        </p:txBody>
      </p:sp>
      <p:sp>
        <p:nvSpPr>
          <p:cNvPr id="28" name="Shape 26"/>
          <p:cNvSpPr/>
          <p:nvPr/>
        </p:nvSpPr>
        <p:spPr>
          <a:xfrm>
            <a:off x="6108192" y="1847088"/>
            <a:ext cx="2788920" cy="2423160"/>
          </a:xfrm>
          <a:prstGeom prst="rect">
            <a:avLst/>
          </a:prstGeom>
          <a:solidFill>
            <a:srgbClr val="FFFFFF"/>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29" name="Shape 27"/>
          <p:cNvSpPr/>
          <p:nvPr/>
        </p:nvSpPr>
        <p:spPr>
          <a:xfrm>
            <a:off x="6108192" y="1847088"/>
            <a:ext cx="2788920" cy="320040"/>
          </a:xfrm>
          <a:prstGeom prst="rect">
            <a:avLst/>
          </a:prstGeom>
          <a:solidFill>
            <a:srgbClr val="EAF5F4"/>
          </a:solidFill>
          <a:ln w="6350">
            <a:solidFill>
              <a:srgbClr val="D0E8E6"/>
            </a:solidFill>
            <a:prstDash val="solid"/>
          </a:ln>
        </p:spPr>
      </p:sp>
      <p:sp>
        <p:nvSpPr>
          <p:cNvPr id="30" name="Text 28"/>
          <p:cNvSpPr/>
          <p:nvPr/>
        </p:nvSpPr>
        <p:spPr>
          <a:xfrm>
            <a:off x="6199632" y="1847088"/>
            <a:ext cx="2651760" cy="320040"/>
          </a:xfrm>
          <a:prstGeom prst="rect">
            <a:avLst/>
          </a:prstGeom>
          <a:noFill/>
          <a:ln/>
        </p:spPr>
        <p:txBody>
          <a:bodyPr wrap="square" rtlCol="0" anchor="ctr"/>
          <a:lstStyle/>
          <a:p>
            <a:pPr indent="0" marL="0">
              <a:buNone/>
            </a:pPr>
            <a:r>
              <a:rPr lang="en-US" sz="950" b="1" dirty="0">
                <a:solidFill>
                  <a:srgbClr val="158F7E"/>
                </a:solidFill>
                <a:latin typeface="Arial" pitchFamily="34" charset="0"/>
                <a:ea typeface="Arial" pitchFamily="34" charset="-122"/>
                <a:cs typeface="Arial" pitchFamily="34" charset="-120"/>
              </a:rPr>
              <a:t>📐  Premium petites surfaces</a:t>
            </a:r>
            <a:endParaRPr lang="en-US" sz="950" dirty="0"/>
          </a:p>
        </p:txBody>
      </p:sp>
      <p:sp>
        <p:nvSpPr>
          <p:cNvPr id="31" name="Text 29"/>
          <p:cNvSpPr/>
          <p:nvPr/>
        </p:nvSpPr>
        <p:spPr>
          <a:xfrm>
            <a:off x="6217920" y="2212848"/>
            <a:ext cx="2606040" cy="1993392"/>
          </a:xfrm>
          <a:prstGeom prst="rect">
            <a:avLst/>
          </a:prstGeom>
          <a:noFill/>
          <a:ln/>
        </p:spPr>
        <p:txBody>
          <a:bodyPr wrap="square" rtlCol="0" anchor="ctr"/>
          <a:lstStyle/>
          <a:p>
            <a:pPr indent="0" marL="0">
              <a:buNone/>
            </a:pPr>
            <a:r>
              <a:rPr lang="en-US" sz="900" dirty="0">
                <a:solidFill>
                  <a:srgbClr val="1C3838"/>
                </a:solidFill>
                <a:latin typeface="Arial" pitchFamily="34" charset="0"/>
                <a:ea typeface="Arial" pitchFamily="34" charset="-122"/>
                <a:cs typeface="Arial" pitchFamily="34" charset="-120"/>
              </a:rPr>
              <a:t>Un appartement de 2 pièces coûte 17 % plus cher au m² qu'un 3 pièces. Les 2 et 3 pièces dominent le marché avec 61 % des transactions.</a:t>
            </a:r>
            <a:endParaRPr lang="en-US" sz="900" dirty="0"/>
          </a:p>
        </p:txBody>
      </p:sp>
      <p:sp>
        <p:nvSpPr>
          <p:cNvPr id="32" name="Shape 30"/>
          <p:cNvSpPr/>
          <p:nvPr/>
        </p:nvSpPr>
        <p:spPr>
          <a:xfrm>
            <a:off x="256032" y="4389120"/>
            <a:ext cx="8641080" cy="658368"/>
          </a:xfrm>
          <a:prstGeom prst="rect">
            <a:avLst/>
          </a:prstGeom>
          <a:solidFill>
            <a:srgbClr val="F0FAF9"/>
          </a:solidFill>
          <a:ln w="12700">
            <a:solidFill>
              <a:srgbClr val="D0E8E6"/>
            </a:solidFill>
            <a:prstDash val="solid"/>
          </a:ln>
          <a:effectLst>
            <a:outerShdw sx="100000" sy="100000" kx="0" ky="0" algn="bl" rotWithShape="0" blurRad="38100" dist="25400" dir="8100000">
              <a:srgbClr val="000000">
                <a:alpha val="10000"/>
              </a:srgbClr>
            </a:outerShdw>
          </a:effectLst>
        </p:spPr>
      </p:sp>
      <p:sp>
        <p:nvSpPr>
          <p:cNvPr id="33" name="Text 31"/>
          <p:cNvSpPr/>
          <p:nvPr/>
        </p:nvSpPr>
        <p:spPr>
          <a:xfrm>
            <a:off x="384048" y="4407408"/>
            <a:ext cx="2560320" cy="256032"/>
          </a:xfrm>
          <a:prstGeom prst="rect">
            <a:avLst/>
          </a:prstGeom>
          <a:noFill/>
          <a:ln/>
        </p:spPr>
        <p:txBody>
          <a:bodyPr wrap="square" rtlCol="0" anchor="ctr"/>
          <a:lstStyle/>
          <a:p>
            <a:pPr indent="0" marL="0">
              <a:buNone/>
            </a:pPr>
            <a:r>
              <a:rPr lang="en-US" sz="900" b="1" dirty="0">
                <a:solidFill>
                  <a:srgbClr val="158F7E"/>
                </a:solidFill>
                <a:latin typeface="Arial" pitchFamily="34" charset="0"/>
                <a:ea typeface="Arial" pitchFamily="34" charset="-122"/>
                <a:cs typeface="Arial" pitchFamily="34" charset="-120"/>
              </a:rPr>
              <a:t>Perspectives d'amélioration du POC :</a:t>
            </a:r>
            <a:endParaRPr lang="en-US" sz="900" dirty="0"/>
          </a:p>
        </p:txBody>
      </p:sp>
      <p:sp>
        <p:nvSpPr>
          <p:cNvPr id="34" name="Text 32"/>
          <p:cNvSpPr/>
          <p:nvPr/>
        </p:nvSpPr>
        <p:spPr>
          <a:xfrm>
            <a:off x="384048" y="4663440"/>
            <a:ext cx="8394192" cy="310896"/>
          </a:xfrm>
          <a:prstGeom prst="rect">
            <a:avLst/>
          </a:prstGeom>
          <a:noFill/>
          <a:ln/>
        </p:spPr>
        <p:txBody>
          <a:bodyPr wrap="square" rtlCol="0" anchor="ctr"/>
          <a:lstStyle/>
          <a:p>
            <a:pPr indent="0" marL="0">
              <a:buNone/>
            </a:pPr>
            <a:r>
              <a:rPr lang="en-US" sz="850" dirty="0">
                <a:solidFill>
                  <a:srgbClr val="546E6E"/>
                </a:solidFill>
                <a:latin typeface="Arial" pitchFamily="34" charset="0"/>
                <a:ea typeface="Arial" pitchFamily="34" charset="-122"/>
                <a:cs typeface="Arial" pitchFamily="34" charset="-120"/>
              </a:rPr>
              <a:t>Ajout données population INSEE → transactions / 1 000 hab.  ·  Intégration historique DVF 2018-2023  ·  Analyse saisonnalité  ·  Dashboard interactif</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2026-03-31T11:24:40Z</dcterms:created>
  <dcterms:modified xsi:type="dcterms:W3CDTF">2026-03-31T11:24:40Z</dcterms:modified>
</cp:coreProperties>
</file>