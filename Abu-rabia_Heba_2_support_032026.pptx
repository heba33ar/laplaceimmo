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452"/>
    <p:restoredTop sz="94610"/>
  </p:normalViewPr>
  <p:slideViewPr>
    <p:cSldViewPr snapToGrid="0" snapToObjects="1">
      <p:cViewPr varScale="1">
        <p:scale>
          <a:sx n="199" d="100"/>
          <a:sy n="199" d="100"/>
        </p:scale>
        <p:origin x="176" y="4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130836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838"/>
        </a:solidFill>
        <a:effectLst/>
      </p:bgPr>
    </p:bg>
    <p:spTree>
      <p:nvGrpSpPr>
        <p:cNvPr id="1" name=""/>
        <p:cNvGrpSpPr/>
        <p:nvPr/>
      </p:nvGrpSpPr>
      <p:grpSpPr>
        <a:xfrm>
          <a:off x="0" y="0"/>
          <a:ext cx="0" cy="0"/>
          <a:chOff x="0" y="0"/>
          <a:chExt cx="0" cy="0"/>
        </a:xfrm>
      </p:grpSpPr>
      <p:sp>
        <p:nvSpPr>
          <p:cNvPr id="2" name="Shape 0"/>
          <p:cNvSpPr/>
          <p:nvPr/>
        </p:nvSpPr>
        <p:spPr>
          <a:xfrm>
            <a:off x="0" y="3474720"/>
            <a:ext cx="9144000" cy="1668780"/>
          </a:xfrm>
          <a:prstGeom prst="rect">
            <a:avLst/>
          </a:prstGeom>
          <a:solidFill>
            <a:srgbClr val="1ABBA3"/>
          </a:solidFill>
          <a:ln w="12700">
            <a:solidFill>
              <a:srgbClr val="1ABBA3"/>
            </a:solidFill>
            <a:prstDash val="solid"/>
          </a:ln>
        </p:spPr>
        <p:txBody>
          <a:bodyPr/>
          <a:lstStyle/>
          <a:p>
            <a:endParaRPr lang="en-FR"/>
          </a:p>
        </p:txBody>
      </p:sp>
      <p:sp>
        <p:nvSpPr>
          <p:cNvPr id="3" name="Shape 1"/>
          <p:cNvSpPr/>
          <p:nvPr/>
        </p:nvSpPr>
        <p:spPr>
          <a:xfrm>
            <a:off x="347472" y="1417320"/>
            <a:ext cx="64008" cy="1325880"/>
          </a:xfrm>
          <a:prstGeom prst="rect">
            <a:avLst/>
          </a:prstGeom>
          <a:solidFill>
            <a:srgbClr val="1ABBA3"/>
          </a:solidFill>
          <a:ln w="12700">
            <a:solidFill>
              <a:srgbClr val="1ABBA3"/>
            </a:solidFill>
            <a:prstDash val="solid"/>
          </a:ln>
        </p:spPr>
        <p:txBody>
          <a:bodyPr/>
          <a:lstStyle/>
          <a:p>
            <a:endParaRPr lang="en-FR"/>
          </a:p>
        </p:txBody>
      </p:sp>
      <p:sp>
        <p:nvSpPr>
          <p:cNvPr id="4" name="Text 2"/>
          <p:cNvSpPr/>
          <p:nvPr/>
        </p:nvSpPr>
        <p:spPr>
          <a:xfrm>
            <a:off x="502920" y="1371600"/>
            <a:ext cx="7772400" cy="731520"/>
          </a:xfrm>
          <a:prstGeom prst="rect">
            <a:avLst/>
          </a:prstGeom>
          <a:noFill/>
          <a:ln/>
        </p:spPr>
        <p:txBody>
          <a:bodyPr wrap="square" rtlCol="0" anchor="ctr"/>
          <a:lstStyle/>
          <a:p>
            <a:pPr marL="0" indent="0">
              <a:buNone/>
            </a:pPr>
            <a:r>
              <a:rPr lang="en-US" sz="4200" b="1" dirty="0">
                <a:solidFill>
                  <a:srgbClr val="FFFFFF"/>
                </a:solidFill>
                <a:latin typeface="Arial" pitchFamily="34" charset="0"/>
                <a:ea typeface="Arial" pitchFamily="34" charset="-122"/>
                <a:cs typeface="Arial" pitchFamily="34" charset="-120"/>
              </a:rPr>
              <a:t>DataImmo</a:t>
            </a:r>
            <a:endParaRPr lang="en-US" sz="4200" dirty="0"/>
          </a:p>
        </p:txBody>
      </p:sp>
      <p:sp>
        <p:nvSpPr>
          <p:cNvPr id="5" name="Text 3"/>
          <p:cNvSpPr/>
          <p:nvPr/>
        </p:nvSpPr>
        <p:spPr>
          <a:xfrm>
            <a:off x="502920" y="2103120"/>
            <a:ext cx="7772400" cy="548640"/>
          </a:xfrm>
          <a:prstGeom prst="rect">
            <a:avLst/>
          </a:prstGeom>
          <a:noFill/>
          <a:ln/>
        </p:spPr>
        <p:txBody>
          <a:bodyPr wrap="square" rtlCol="0" anchor="ctr"/>
          <a:lstStyle/>
          <a:p>
            <a:pPr marL="0" indent="0">
              <a:buNone/>
            </a:pPr>
            <a:r>
              <a:rPr lang="en-US" sz="2000" dirty="0">
                <a:solidFill>
                  <a:srgbClr val="1ABBA3"/>
                </a:solidFill>
                <a:latin typeface="Arial" pitchFamily="34" charset="0"/>
                <a:ea typeface="Arial" pitchFamily="34" charset="-122"/>
                <a:cs typeface="Arial" pitchFamily="34" charset="-120"/>
              </a:rPr>
              <a:t>Modélisation et analyse du marché immobilier français</a:t>
            </a:r>
            <a:endParaRPr lang="en-US" sz="2000" dirty="0"/>
          </a:p>
        </p:txBody>
      </p:sp>
      <p:sp>
        <p:nvSpPr>
          <p:cNvPr id="6" name="Text 4"/>
          <p:cNvSpPr/>
          <p:nvPr/>
        </p:nvSpPr>
        <p:spPr>
          <a:xfrm>
            <a:off x="347472" y="3584448"/>
            <a:ext cx="5486400" cy="347472"/>
          </a:xfrm>
          <a:prstGeom prst="rect">
            <a:avLst/>
          </a:prstGeom>
          <a:noFill/>
          <a:ln/>
        </p:spPr>
        <p:txBody>
          <a:bodyPr wrap="square" rtlCol="0" anchor="ctr"/>
          <a:lstStyle/>
          <a:p>
            <a:pPr marL="0" indent="0">
              <a:buNone/>
            </a:pPr>
            <a:r>
              <a:rPr lang="en-US" sz="1200" dirty="0">
                <a:solidFill>
                  <a:srgbClr val="1C3838"/>
                </a:solidFill>
                <a:latin typeface="Arial" pitchFamily="34" charset="0"/>
                <a:ea typeface="Arial" pitchFamily="34" charset="-122"/>
                <a:cs typeface="Arial" pitchFamily="34" charset="-120"/>
              </a:rPr>
              <a:t>Laplace Immo  ·  Mars 2026</a:t>
            </a:r>
            <a:endParaRPr lang="en-US" sz="1200" dirty="0"/>
          </a:p>
        </p:txBody>
      </p:sp>
      <p:sp>
        <p:nvSpPr>
          <p:cNvPr id="7" name="Text 5"/>
          <p:cNvSpPr/>
          <p:nvPr/>
        </p:nvSpPr>
        <p:spPr>
          <a:xfrm>
            <a:off x="347472" y="3950208"/>
            <a:ext cx="5486400" cy="320040"/>
          </a:xfrm>
          <a:prstGeom prst="rect">
            <a:avLst/>
          </a:prstGeom>
          <a:noFill/>
          <a:ln/>
        </p:spPr>
        <p:txBody>
          <a:bodyPr wrap="square" rtlCol="0" anchor="ctr"/>
          <a:lstStyle/>
          <a:p>
            <a:pPr marL="0" indent="0">
              <a:buNone/>
            </a:pPr>
            <a:r>
              <a:rPr lang="en-US" sz="1100" i="1" dirty="0">
                <a:solidFill>
                  <a:srgbClr val="1C3838"/>
                </a:solidFill>
                <a:latin typeface="Arial" pitchFamily="34" charset="0"/>
                <a:ea typeface="Arial" pitchFamily="34" charset="-122"/>
                <a:cs typeface="Arial" pitchFamily="34" charset="-120"/>
              </a:rPr>
              <a:t>Heba Abu-rabia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Contexte du projet</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256032" y="749808"/>
            <a:ext cx="8641080" cy="1115568"/>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6" name="Shape 4"/>
          <p:cNvSpPr/>
          <p:nvPr/>
        </p:nvSpPr>
        <p:spPr>
          <a:xfrm>
            <a:off x="256032" y="749808"/>
            <a:ext cx="50292" cy="1115568"/>
          </a:xfrm>
          <a:prstGeom prst="rect">
            <a:avLst/>
          </a:prstGeom>
          <a:solidFill>
            <a:srgbClr val="1ABBA3"/>
          </a:solidFill>
          <a:ln w="12700">
            <a:solidFill>
              <a:srgbClr val="1ABBA3"/>
            </a:solidFill>
            <a:prstDash val="solid"/>
          </a:ln>
        </p:spPr>
        <p:txBody>
          <a:bodyPr/>
          <a:lstStyle/>
          <a:p>
            <a:endParaRPr lang="en-FR"/>
          </a:p>
        </p:txBody>
      </p:sp>
      <p:sp>
        <p:nvSpPr>
          <p:cNvPr id="7" name="Text 5"/>
          <p:cNvSpPr/>
          <p:nvPr/>
        </p:nvSpPr>
        <p:spPr>
          <a:xfrm>
            <a:off x="384048" y="786384"/>
            <a:ext cx="8412480" cy="1042416"/>
          </a:xfrm>
          <a:prstGeom prst="rect">
            <a:avLst/>
          </a:prstGeom>
          <a:noFill/>
          <a:ln/>
        </p:spPr>
        <p:txBody>
          <a:bodyPr wrap="square" rtlCol="0" anchor="ctr"/>
          <a:lstStyle/>
          <a:p>
            <a:pPr marL="0" indent="0">
              <a:buNone/>
            </a:pPr>
            <a:r>
              <a:rPr lang="en-US" sz="1050" dirty="0">
                <a:solidFill>
                  <a:srgbClr val="1C3838"/>
                </a:solidFill>
                <a:latin typeface="Arial" pitchFamily="34" charset="0"/>
                <a:ea typeface="Arial" pitchFamily="34" charset="-122"/>
                <a:cs typeface="Arial" pitchFamily="34" charset="-120"/>
              </a:rPr>
              <a:t>Laplace Immo est un réseau national d'agences immobilières souhaitant exploiter les données pour mieux accompagner ses clients et se démarquer de la concurrence. En tant que Data Engineer, j'ai été chargé(e) de concevoir un Proof of Concept (POC) : collecter les transactions immobilières en France, créer une base de données relationnelle structurée et répondre aux besoins analytiques de l'entreprise.</a:t>
            </a:r>
            <a:endParaRPr lang="en-US" sz="1050" dirty="0"/>
          </a:p>
        </p:txBody>
      </p:sp>
      <p:sp>
        <p:nvSpPr>
          <p:cNvPr id="8" name="Shape 6"/>
          <p:cNvSpPr/>
          <p:nvPr/>
        </p:nvSpPr>
        <p:spPr>
          <a:xfrm>
            <a:off x="256032" y="1975104"/>
            <a:ext cx="2788920" cy="2834640"/>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9" name="Shape 7"/>
          <p:cNvSpPr/>
          <p:nvPr/>
        </p:nvSpPr>
        <p:spPr>
          <a:xfrm>
            <a:off x="256032" y="1975104"/>
            <a:ext cx="2788920" cy="329184"/>
          </a:xfrm>
          <a:prstGeom prst="rect">
            <a:avLst/>
          </a:prstGeom>
          <a:solidFill>
            <a:srgbClr val="158F7E"/>
          </a:solidFill>
          <a:ln w="12700">
            <a:solidFill>
              <a:srgbClr val="158F7E"/>
            </a:solidFill>
            <a:prstDash val="solid"/>
          </a:ln>
        </p:spPr>
        <p:txBody>
          <a:bodyPr/>
          <a:lstStyle/>
          <a:p>
            <a:endParaRPr lang="en-FR"/>
          </a:p>
        </p:txBody>
      </p:sp>
      <p:sp>
        <p:nvSpPr>
          <p:cNvPr id="10" name="Text 8"/>
          <p:cNvSpPr/>
          <p:nvPr/>
        </p:nvSpPr>
        <p:spPr>
          <a:xfrm>
            <a:off x="347472" y="1975104"/>
            <a:ext cx="2651760" cy="329184"/>
          </a:xfrm>
          <a:prstGeom prst="rect">
            <a:avLst/>
          </a:prstGeom>
          <a:noFill/>
          <a:ln/>
        </p:spPr>
        <p:txBody>
          <a:bodyPr wrap="square" rtlCol="0" anchor="ctr"/>
          <a:lstStyle/>
          <a:p>
            <a:pPr marL="0" indent="0">
              <a:buNone/>
            </a:pPr>
            <a:r>
              <a:rPr lang="en-US" sz="1050" b="1" dirty="0">
                <a:solidFill>
                  <a:srgbClr val="FFFFFF"/>
                </a:solidFill>
                <a:latin typeface="Arial" pitchFamily="34" charset="0"/>
                <a:ea typeface="Arial" pitchFamily="34" charset="-122"/>
                <a:cs typeface="Arial" pitchFamily="34" charset="-120"/>
              </a:rPr>
              <a:t>Objectif</a:t>
            </a:r>
            <a:endParaRPr lang="en-US" sz="1050" dirty="0"/>
          </a:p>
        </p:txBody>
      </p:sp>
      <p:sp>
        <p:nvSpPr>
          <p:cNvPr id="11" name="Text 9"/>
          <p:cNvSpPr/>
          <p:nvPr/>
        </p:nvSpPr>
        <p:spPr>
          <a:xfrm>
            <a:off x="365760" y="2359152"/>
            <a:ext cx="2606040" cy="2359152"/>
          </a:xfrm>
          <a:prstGeom prst="rect">
            <a:avLst/>
          </a:prstGeom>
          <a:noFill/>
          <a:ln/>
        </p:spPr>
        <p:txBody>
          <a:bodyPr wrap="square" rtlCol="0" anchor="ctr"/>
          <a:lstStyle/>
          <a:p>
            <a:pPr marL="0" indent="0">
              <a:buNone/>
            </a:pPr>
            <a:r>
              <a:rPr lang="en-US" sz="1000" dirty="0">
                <a:solidFill>
                  <a:srgbClr val="1C3838"/>
                </a:solidFill>
                <a:latin typeface="Arial" pitchFamily="34" charset="0"/>
                <a:ea typeface="Arial" pitchFamily="34" charset="-122"/>
                <a:cs typeface="Arial" pitchFamily="34" charset="-120"/>
              </a:rPr>
              <a:t>Suivre l'évolution du prix au m² et identifier les régions où le marché immobilier est le plus porteur.</a:t>
            </a:r>
            <a:endParaRPr lang="en-US" sz="1000" dirty="0"/>
          </a:p>
        </p:txBody>
      </p:sp>
      <p:sp>
        <p:nvSpPr>
          <p:cNvPr id="12" name="Shape 10"/>
          <p:cNvSpPr/>
          <p:nvPr/>
        </p:nvSpPr>
        <p:spPr>
          <a:xfrm>
            <a:off x="3182112" y="1975104"/>
            <a:ext cx="2788920" cy="2834640"/>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13" name="Shape 11"/>
          <p:cNvSpPr/>
          <p:nvPr/>
        </p:nvSpPr>
        <p:spPr>
          <a:xfrm>
            <a:off x="3182112" y="1975104"/>
            <a:ext cx="2788920" cy="329184"/>
          </a:xfrm>
          <a:prstGeom prst="rect">
            <a:avLst/>
          </a:prstGeom>
          <a:solidFill>
            <a:srgbClr val="158F7E"/>
          </a:solidFill>
          <a:ln w="12700">
            <a:solidFill>
              <a:srgbClr val="158F7E"/>
            </a:solidFill>
            <a:prstDash val="solid"/>
          </a:ln>
        </p:spPr>
        <p:txBody>
          <a:bodyPr/>
          <a:lstStyle/>
          <a:p>
            <a:endParaRPr lang="en-FR"/>
          </a:p>
        </p:txBody>
      </p:sp>
      <p:sp>
        <p:nvSpPr>
          <p:cNvPr id="14" name="Text 12"/>
          <p:cNvSpPr/>
          <p:nvPr/>
        </p:nvSpPr>
        <p:spPr>
          <a:xfrm>
            <a:off x="3273552" y="1975104"/>
            <a:ext cx="2651760" cy="329184"/>
          </a:xfrm>
          <a:prstGeom prst="rect">
            <a:avLst/>
          </a:prstGeom>
          <a:noFill/>
          <a:ln/>
        </p:spPr>
        <p:txBody>
          <a:bodyPr wrap="square" rtlCol="0" anchor="ctr"/>
          <a:lstStyle/>
          <a:p>
            <a:pPr marL="0" indent="0">
              <a:buNone/>
            </a:pPr>
            <a:r>
              <a:rPr lang="en-US" sz="1050" b="1" dirty="0">
                <a:solidFill>
                  <a:srgbClr val="FFFFFF"/>
                </a:solidFill>
                <a:latin typeface="Arial" pitchFamily="34" charset="0"/>
                <a:ea typeface="Arial" pitchFamily="34" charset="-122"/>
                <a:cs typeface="Arial" pitchFamily="34" charset="-120"/>
              </a:rPr>
              <a:t>Source de données</a:t>
            </a:r>
            <a:endParaRPr lang="en-US" sz="1050" dirty="0"/>
          </a:p>
        </p:txBody>
      </p:sp>
      <p:sp>
        <p:nvSpPr>
          <p:cNvPr id="15" name="Text 13"/>
          <p:cNvSpPr/>
          <p:nvPr/>
        </p:nvSpPr>
        <p:spPr>
          <a:xfrm>
            <a:off x="3291840" y="2359152"/>
            <a:ext cx="2606040" cy="2359152"/>
          </a:xfrm>
          <a:prstGeom prst="rect">
            <a:avLst/>
          </a:prstGeom>
          <a:noFill/>
          <a:ln/>
        </p:spPr>
        <p:txBody>
          <a:bodyPr wrap="square" rtlCol="0" anchor="ctr"/>
          <a:lstStyle/>
          <a:p>
            <a:pPr marL="0" indent="0">
              <a:buNone/>
            </a:pPr>
            <a:r>
              <a:rPr lang="en-US" sz="1000" dirty="0" err="1">
                <a:solidFill>
                  <a:srgbClr val="1C3838"/>
                </a:solidFill>
                <a:latin typeface="Arial" pitchFamily="34" charset="0"/>
                <a:ea typeface="Arial" pitchFamily="34" charset="-122"/>
                <a:cs typeface="Arial" pitchFamily="34" charset="-120"/>
              </a:rPr>
              <a:t>Demandes</a:t>
            </a:r>
            <a:r>
              <a:rPr lang="en-US" sz="1000" dirty="0">
                <a:solidFill>
                  <a:srgbClr val="1C3838"/>
                </a:solidFill>
                <a:latin typeface="Arial" pitchFamily="34" charset="0"/>
                <a:ea typeface="Arial" pitchFamily="34" charset="-122"/>
                <a:cs typeface="Arial" pitchFamily="34" charset="-120"/>
              </a:rPr>
              <a:t> de Valeurs Foncières, fourni par l'État, données portant sur l'année 2020.</a:t>
            </a:r>
            <a:endParaRPr lang="en-US" sz="1000" dirty="0"/>
          </a:p>
        </p:txBody>
      </p:sp>
      <p:sp>
        <p:nvSpPr>
          <p:cNvPr id="16" name="Shape 14"/>
          <p:cNvSpPr/>
          <p:nvPr/>
        </p:nvSpPr>
        <p:spPr>
          <a:xfrm>
            <a:off x="6108192" y="1975104"/>
            <a:ext cx="2788920" cy="2834640"/>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17" name="Shape 15"/>
          <p:cNvSpPr/>
          <p:nvPr/>
        </p:nvSpPr>
        <p:spPr>
          <a:xfrm>
            <a:off x="6108192" y="1975104"/>
            <a:ext cx="2788920" cy="329184"/>
          </a:xfrm>
          <a:prstGeom prst="rect">
            <a:avLst/>
          </a:prstGeom>
          <a:solidFill>
            <a:srgbClr val="158F7E"/>
          </a:solidFill>
          <a:ln w="12700">
            <a:solidFill>
              <a:srgbClr val="158F7E"/>
            </a:solidFill>
            <a:prstDash val="solid"/>
          </a:ln>
        </p:spPr>
        <p:txBody>
          <a:bodyPr/>
          <a:lstStyle/>
          <a:p>
            <a:endParaRPr lang="en-FR"/>
          </a:p>
        </p:txBody>
      </p:sp>
      <p:sp>
        <p:nvSpPr>
          <p:cNvPr id="18" name="Text 16"/>
          <p:cNvSpPr/>
          <p:nvPr/>
        </p:nvSpPr>
        <p:spPr>
          <a:xfrm>
            <a:off x="6199632" y="1975104"/>
            <a:ext cx="2651760" cy="329184"/>
          </a:xfrm>
          <a:prstGeom prst="rect">
            <a:avLst/>
          </a:prstGeom>
          <a:noFill/>
          <a:ln/>
        </p:spPr>
        <p:txBody>
          <a:bodyPr wrap="square" rtlCol="0" anchor="ctr"/>
          <a:lstStyle/>
          <a:p>
            <a:pPr marL="0" indent="0">
              <a:buNone/>
            </a:pPr>
            <a:r>
              <a:rPr lang="en-US" sz="1050" b="1" dirty="0">
                <a:solidFill>
                  <a:srgbClr val="FFFFFF"/>
                </a:solidFill>
                <a:latin typeface="Arial" pitchFamily="34" charset="0"/>
                <a:ea typeface="Arial" pitchFamily="34" charset="-122"/>
                <a:cs typeface="Arial" pitchFamily="34" charset="-120"/>
              </a:rPr>
              <a:t>Démarche</a:t>
            </a:r>
            <a:endParaRPr lang="en-US" sz="1050" dirty="0"/>
          </a:p>
        </p:txBody>
      </p:sp>
      <p:sp>
        <p:nvSpPr>
          <p:cNvPr id="19" name="Text 17"/>
          <p:cNvSpPr/>
          <p:nvPr/>
        </p:nvSpPr>
        <p:spPr>
          <a:xfrm>
            <a:off x="6217920" y="2359152"/>
            <a:ext cx="2606040" cy="2359152"/>
          </a:xfrm>
          <a:prstGeom prst="rect">
            <a:avLst/>
          </a:prstGeom>
          <a:noFill/>
          <a:ln/>
        </p:spPr>
        <p:txBody>
          <a:bodyPr wrap="square" rtlCol="0" anchor="ctr"/>
          <a:lstStyle/>
          <a:p>
            <a:pPr marL="0" indent="0">
              <a:buNone/>
            </a:pPr>
            <a:r>
              <a:rPr lang="en-US" sz="1000" dirty="0">
                <a:solidFill>
                  <a:srgbClr val="1C3838"/>
                </a:solidFill>
                <a:latin typeface="Arial" pitchFamily="34" charset="0"/>
                <a:ea typeface="Arial" pitchFamily="34" charset="-122"/>
                <a:cs typeface="Arial" pitchFamily="34" charset="-120"/>
              </a:rPr>
              <a:t>Compréhension → Dictionnaire → </a:t>
            </a:r>
            <a:r>
              <a:rPr lang="en-US" sz="1000" dirty="0" err="1">
                <a:solidFill>
                  <a:srgbClr val="1C3838"/>
                </a:solidFill>
                <a:latin typeface="Arial" pitchFamily="34" charset="0"/>
                <a:ea typeface="Arial" pitchFamily="34" charset="-122"/>
                <a:cs typeface="Arial" pitchFamily="34" charset="-120"/>
              </a:rPr>
              <a:t>Normalisation</a:t>
            </a:r>
            <a:r>
              <a:rPr lang="en-US" sz="1000" dirty="0">
                <a:solidFill>
                  <a:srgbClr val="1C3838"/>
                </a:solidFill>
                <a:latin typeface="Arial" pitchFamily="34" charset="0"/>
                <a:ea typeface="Arial" pitchFamily="34" charset="-122"/>
                <a:cs typeface="Arial" pitchFamily="34" charset="-120"/>
              </a:rPr>
              <a:t>→ Création BDD SQLite → Import CSV → Requêtes SQL analytiques.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Transformation des données</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grpSp>
        <p:nvGrpSpPr>
          <p:cNvPr id="68" name="Group 67">
            <a:extLst>
              <a:ext uri="{FF2B5EF4-FFF2-40B4-BE49-F238E27FC236}">
                <a16:creationId xmlns:a16="http://schemas.microsoft.com/office/drawing/2014/main" id="{9640981F-BDDB-5E51-DE55-5AEC68E817CE}"/>
              </a:ext>
            </a:extLst>
          </p:cNvPr>
          <p:cNvGrpSpPr/>
          <p:nvPr/>
        </p:nvGrpSpPr>
        <p:grpSpPr>
          <a:xfrm>
            <a:off x="2491740" y="964692"/>
            <a:ext cx="4160520" cy="4069080"/>
            <a:chOff x="4736592" y="749808"/>
            <a:chExt cx="4160520" cy="4069080"/>
          </a:xfrm>
        </p:grpSpPr>
        <p:sp>
          <p:nvSpPr>
            <p:cNvPr id="41" name="Shape 39"/>
            <p:cNvSpPr/>
            <p:nvPr/>
          </p:nvSpPr>
          <p:spPr>
            <a:xfrm>
              <a:off x="4736592" y="749808"/>
              <a:ext cx="4160520" cy="4069080"/>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42" name="Shape 40"/>
            <p:cNvSpPr/>
            <p:nvPr/>
          </p:nvSpPr>
          <p:spPr>
            <a:xfrm>
              <a:off x="4736592" y="749808"/>
              <a:ext cx="4160520" cy="329184"/>
            </a:xfrm>
            <a:prstGeom prst="rect">
              <a:avLst/>
            </a:prstGeom>
            <a:solidFill>
              <a:srgbClr val="B94A52"/>
            </a:solidFill>
            <a:ln w="12700">
              <a:solidFill>
                <a:srgbClr val="B94A52"/>
              </a:solidFill>
              <a:prstDash val="solid"/>
            </a:ln>
          </p:spPr>
          <p:txBody>
            <a:bodyPr/>
            <a:lstStyle/>
            <a:p>
              <a:endParaRPr lang="en-FR"/>
            </a:p>
          </p:txBody>
        </p:sp>
        <p:sp>
          <p:nvSpPr>
            <p:cNvPr id="43" name="Text 41"/>
            <p:cNvSpPr/>
            <p:nvPr/>
          </p:nvSpPr>
          <p:spPr>
            <a:xfrm>
              <a:off x="4828032" y="749808"/>
              <a:ext cx="3977640" cy="329184"/>
            </a:xfrm>
            <a:prstGeom prst="rect">
              <a:avLst/>
            </a:prstGeom>
            <a:noFill/>
            <a:ln/>
          </p:spPr>
          <p:txBody>
            <a:bodyPr wrap="square" rtlCol="0" anchor="ctr"/>
            <a:lstStyle/>
            <a:p>
              <a:pPr marL="0" indent="0">
                <a:buNone/>
              </a:pPr>
              <a:r>
                <a:rPr lang="en-US" sz="1050" b="1" dirty="0">
                  <a:solidFill>
                    <a:srgbClr val="FFFFFF"/>
                  </a:solidFill>
                  <a:latin typeface="Arial" pitchFamily="34" charset="0"/>
                  <a:ea typeface="Arial" pitchFamily="34" charset="-122"/>
                  <a:cs typeface="Arial" pitchFamily="34" charset="-120"/>
                </a:rPr>
                <a:t>✖  Colonnes supprimées &amp; justification</a:t>
              </a:r>
              <a:endParaRPr lang="en-US" sz="1050" dirty="0"/>
            </a:p>
          </p:txBody>
        </p:sp>
        <p:sp>
          <p:nvSpPr>
            <p:cNvPr id="44" name="Shape 42"/>
            <p:cNvSpPr/>
            <p:nvPr/>
          </p:nvSpPr>
          <p:spPr>
            <a:xfrm>
              <a:off x="4800600" y="1143000"/>
              <a:ext cx="4041648" cy="384048"/>
            </a:xfrm>
            <a:prstGeom prst="rect">
              <a:avLst/>
            </a:prstGeom>
            <a:solidFill>
              <a:srgbClr val="FFF8F8"/>
            </a:solidFill>
            <a:ln w="5080">
              <a:solidFill>
                <a:srgbClr val="EEDCDC"/>
              </a:solidFill>
              <a:prstDash val="solid"/>
            </a:ln>
          </p:spPr>
          <p:txBody>
            <a:bodyPr/>
            <a:lstStyle/>
            <a:p>
              <a:endParaRPr lang="en-FR"/>
            </a:p>
          </p:txBody>
        </p:sp>
        <p:sp>
          <p:nvSpPr>
            <p:cNvPr id="45" name="Text 43"/>
            <p:cNvSpPr/>
            <p:nvPr/>
          </p:nvSpPr>
          <p:spPr>
            <a:xfrm>
              <a:off x="4846320" y="1161288"/>
              <a:ext cx="1737360" cy="329184"/>
            </a:xfrm>
            <a:prstGeom prst="rect">
              <a:avLst/>
            </a:prstGeom>
            <a:noFill/>
            <a:ln/>
          </p:spPr>
          <p:txBody>
            <a:bodyPr wrap="square" rtlCol="0" anchor="ctr"/>
            <a:lstStyle/>
            <a:p>
              <a:pPr marL="0" indent="0">
                <a:buNone/>
              </a:pPr>
              <a:r>
                <a:rPr lang="en-US" sz="850" b="1" dirty="0">
                  <a:solidFill>
                    <a:srgbClr val="B94A52"/>
                  </a:solidFill>
                  <a:latin typeface="Arial" pitchFamily="34" charset="0"/>
                  <a:ea typeface="Arial" pitchFamily="34" charset="-122"/>
                  <a:cs typeface="Arial" pitchFamily="34" charset="-120"/>
                </a:rPr>
                <a:t>No_voie</a:t>
              </a:r>
              <a:endParaRPr lang="en-US" sz="850" dirty="0"/>
            </a:p>
          </p:txBody>
        </p:sp>
        <p:sp>
          <p:nvSpPr>
            <p:cNvPr id="46" name="Text 44"/>
            <p:cNvSpPr/>
            <p:nvPr/>
          </p:nvSpPr>
          <p:spPr>
            <a:xfrm>
              <a:off x="6601968" y="1161288"/>
              <a:ext cx="2103120" cy="329184"/>
            </a:xfrm>
            <a:prstGeom prst="rect">
              <a:avLst/>
            </a:prstGeom>
            <a:noFill/>
            <a:ln/>
          </p:spPr>
          <p:txBody>
            <a:bodyPr wrap="square" rtlCol="0" anchor="ctr"/>
            <a:lstStyle/>
            <a:p>
              <a:r>
                <a:rPr lang="en-US" sz="800" dirty="0">
                  <a:solidFill>
                    <a:srgbClr val="546E6E"/>
                  </a:solidFill>
                  <a:latin typeface="Arial" pitchFamily="34" charset="0"/>
                  <a:ea typeface="Arial" pitchFamily="34" charset="-122"/>
                  <a:cs typeface="Arial" pitchFamily="34" charset="-120"/>
                </a:rPr>
                <a:t>Adresse — non pertinent pour </a:t>
              </a:r>
              <a:r>
                <a:rPr lang="en-US" sz="800" dirty="0" err="1">
                  <a:solidFill>
                    <a:srgbClr val="546E6E"/>
                  </a:solidFill>
                  <a:latin typeface="Arial" pitchFamily="34" charset="0"/>
                  <a:ea typeface="Arial" pitchFamily="34" charset="-122"/>
                  <a:cs typeface="Arial" pitchFamily="34" charset="-120"/>
                </a:rPr>
                <a:t>l'analyse</a:t>
              </a:r>
              <a:endParaRPr lang="en-US" sz="800" dirty="0"/>
            </a:p>
          </p:txBody>
        </p:sp>
        <p:sp>
          <p:nvSpPr>
            <p:cNvPr id="47" name="Shape 45"/>
            <p:cNvSpPr/>
            <p:nvPr/>
          </p:nvSpPr>
          <p:spPr>
            <a:xfrm>
              <a:off x="4800600" y="1563624"/>
              <a:ext cx="4041648" cy="384048"/>
            </a:xfrm>
            <a:prstGeom prst="rect">
              <a:avLst/>
            </a:prstGeom>
            <a:solidFill>
              <a:srgbClr val="FFFFFF"/>
            </a:solidFill>
            <a:ln w="5080">
              <a:solidFill>
                <a:srgbClr val="EEDCDC"/>
              </a:solidFill>
              <a:prstDash val="solid"/>
            </a:ln>
          </p:spPr>
          <p:txBody>
            <a:bodyPr/>
            <a:lstStyle/>
            <a:p>
              <a:endParaRPr lang="en-FR"/>
            </a:p>
          </p:txBody>
        </p:sp>
        <p:sp>
          <p:nvSpPr>
            <p:cNvPr id="48" name="Text 46"/>
            <p:cNvSpPr/>
            <p:nvPr/>
          </p:nvSpPr>
          <p:spPr>
            <a:xfrm>
              <a:off x="4846320" y="1581912"/>
              <a:ext cx="1737360" cy="329184"/>
            </a:xfrm>
            <a:prstGeom prst="rect">
              <a:avLst/>
            </a:prstGeom>
            <a:noFill/>
            <a:ln/>
          </p:spPr>
          <p:txBody>
            <a:bodyPr wrap="square" rtlCol="0" anchor="ctr"/>
            <a:lstStyle/>
            <a:p>
              <a:pPr marL="0" indent="0">
                <a:buNone/>
              </a:pPr>
              <a:r>
                <a:rPr lang="en-US" sz="850" b="1" dirty="0">
                  <a:solidFill>
                    <a:srgbClr val="B94A52"/>
                  </a:solidFill>
                  <a:latin typeface="Arial" pitchFamily="34" charset="0"/>
                  <a:ea typeface="Arial" pitchFamily="34" charset="-122"/>
                  <a:cs typeface="Arial" pitchFamily="34" charset="-120"/>
                </a:rPr>
                <a:t>Type_de_voie</a:t>
              </a:r>
              <a:endParaRPr lang="en-US" sz="850" dirty="0"/>
            </a:p>
          </p:txBody>
        </p:sp>
        <p:sp>
          <p:nvSpPr>
            <p:cNvPr id="49" name="Text 47"/>
            <p:cNvSpPr/>
            <p:nvPr/>
          </p:nvSpPr>
          <p:spPr>
            <a:xfrm>
              <a:off x="6601968" y="1581912"/>
              <a:ext cx="2103120" cy="329184"/>
            </a:xfrm>
            <a:prstGeom prst="rect">
              <a:avLst/>
            </a:prstGeom>
            <a:noFill/>
            <a:ln/>
          </p:spPr>
          <p:txBody>
            <a:bodyPr wrap="square" rtlCol="0" anchor="ctr"/>
            <a:lstStyle/>
            <a:p>
              <a:pPr marL="0" indent="0">
                <a:buNone/>
              </a:pPr>
              <a:r>
                <a:rPr lang="en-US" sz="800" dirty="0">
                  <a:solidFill>
                    <a:srgbClr val="546E6E"/>
                  </a:solidFill>
                  <a:latin typeface="Arial" pitchFamily="34" charset="0"/>
                  <a:ea typeface="Arial" pitchFamily="34" charset="-122"/>
                  <a:cs typeface="Arial" pitchFamily="34" charset="-120"/>
                </a:rPr>
                <a:t>Adresse — non pertinent pour l'analyse</a:t>
              </a:r>
              <a:endParaRPr lang="en-US" sz="800" dirty="0"/>
            </a:p>
          </p:txBody>
        </p:sp>
        <p:sp>
          <p:nvSpPr>
            <p:cNvPr id="50" name="Shape 48"/>
            <p:cNvSpPr/>
            <p:nvPr/>
          </p:nvSpPr>
          <p:spPr>
            <a:xfrm>
              <a:off x="4800600" y="1984248"/>
              <a:ext cx="4041648" cy="384048"/>
            </a:xfrm>
            <a:prstGeom prst="rect">
              <a:avLst/>
            </a:prstGeom>
            <a:solidFill>
              <a:srgbClr val="FFF8F8"/>
            </a:solidFill>
            <a:ln w="5080">
              <a:solidFill>
                <a:srgbClr val="EEDCDC"/>
              </a:solidFill>
              <a:prstDash val="solid"/>
            </a:ln>
          </p:spPr>
          <p:txBody>
            <a:bodyPr/>
            <a:lstStyle/>
            <a:p>
              <a:endParaRPr lang="en-FR"/>
            </a:p>
          </p:txBody>
        </p:sp>
        <p:sp>
          <p:nvSpPr>
            <p:cNvPr id="51" name="Text 49"/>
            <p:cNvSpPr/>
            <p:nvPr/>
          </p:nvSpPr>
          <p:spPr>
            <a:xfrm>
              <a:off x="4846320" y="2002536"/>
              <a:ext cx="1737360" cy="329184"/>
            </a:xfrm>
            <a:prstGeom prst="rect">
              <a:avLst/>
            </a:prstGeom>
            <a:noFill/>
            <a:ln/>
          </p:spPr>
          <p:txBody>
            <a:bodyPr wrap="square" rtlCol="0" anchor="ctr"/>
            <a:lstStyle/>
            <a:p>
              <a:pPr marL="0" indent="0">
                <a:buNone/>
              </a:pPr>
              <a:r>
                <a:rPr lang="en-US" sz="850" b="1" dirty="0">
                  <a:solidFill>
                    <a:srgbClr val="B94A52"/>
                  </a:solidFill>
                  <a:latin typeface="Arial" pitchFamily="34" charset="0"/>
                  <a:ea typeface="Arial" pitchFamily="34" charset="-122"/>
                  <a:cs typeface="Arial" pitchFamily="34" charset="-120"/>
                </a:rPr>
                <a:t>Voie</a:t>
              </a:r>
              <a:endParaRPr lang="en-US" sz="850" dirty="0"/>
            </a:p>
          </p:txBody>
        </p:sp>
        <p:sp>
          <p:nvSpPr>
            <p:cNvPr id="52" name="Text 50"/>
            <p:cNvSpPr/>
            <p:nvPr/>
          </p:nvSpPr>
          <p:spPr>
            <a:xfrm>
              <a:off x="6601968" y="2002536"/>
              <a:ext cx="2103120" cy="329184"/>
            </a:xfrm>
            <a:prstGeom prst="rect">
              <a:avLst/>
            </a:prstGeom>
            <a:noFill/>
            <a:ln/>
          </p:spPr>
          <p:txBody>
            <a:bodyPr wrap="square" rtlCol="0" anchor="ctr"/>
            <a:lstStyle/>
            <a:p>
              <a:pPr marL="0" indent="0">
                <a:buNone/>
              </a:pPr>
              <a:r>
                <a:rPr lang="en-US" sz="800" dirty="0">
                  <a:solidFill>
                    <a:srgbClr val="546E6E"/>
                  </a:solidFill>
                  <a:latin typeface="Arial" pitchFamily="34" charset="0"/>
                  <a:ea typeface="Arial" pitchFamily="34" charset="-122"/>
                  <a:cs typeface="Arial" pitchFamily="34" charset="-120"/>
                </a:rPr>
                <a:t>Adresse — non pertinent pour l'analyse</a:t>
              </a:r>
              <a:endParaRPr lang="en-US" sz="800" dirty="0"/>
            </a:p>
          </p:txBody>
        </p:sp>
        <p:sp>
          <p:nvSpPr>
            <p:cNvPr id="53" name="Shape 51"/>
            <p:cNvSpPr/>
            <p:nvPr/>
          </p:nvSpPr>
          <p:spPr>
            <a:xfrm>
              <a:off x="4800600" y="2404872"/>
              <a:ext cx="4041648" cy="384048"/>
            </a:xfrm>
            <a:prstGeom prst="rect">
              <a:avLst/>
            </a:prstGeom>
            <a:solidFill>
              <a:srgbClr val="FFFFFF"/>
            </a:solidFill>
            <a:ln w="5080">
              <a:solidFill>
                <a:srgbClr val="EEDCDC"/>
              </a:solidFill>
              <a:prstDash val="solid"/>
            </a:ln>
          </p:spPr>
          <p:txBody>
            <a:bodyPr/>
            <a:lstStyle/>
            <a:p>
              <a:endParaRPr lang="en-FR"/>
            </a:p>
          </p:txBody>
        </p:sp>
        <p:sp>
          <p:nvSpPr>
            <p:cNvPr id="54" name="Text 52"/>
            <p:cNvSpPr/>
            <p:nvPr/>
          </p:nvSpPr>
          <p:spPr>
            <a:xfrm>
              <a:off x="4846320" y="2423160"/>
              <a:ext cx="1737360" cy="329184"/>
            </a:xfrm>
            <a:prstGeom prst="rect">
              <a:avLst/>
            </a:prstGeom>
            <a:noFill/>
            <a:ln/>
          </p:spPr>
          <p:txBody>
            <a:bodyPr wrap="square" rtlCol="0" anchor="ctr"/>
            <a:lstStyle/>
            <a:p>
              <a:pPr marL="0" indent="0">
                <a:buNone/>
              </a:pPr>
              <a:r>
                <a:rPr lang="en-US" sz="850" b="1" dirty="0">
                  <a:solidFill>
                    <a:srgbClr val="B94A52"/>
                  </a:solidFill>
                  <a:latin typeface="Arial" pitchFamily="34" charset="0"/>
                  <a:ea typeface="Arial" pitchFamily="34" charset="-122"/>
                  <a:cs typeface="Arial" pitchFamily="34" charset="-120"/>
                </a:rPr>
                <a:t>Code_commune</a:t>
              </a:r>
              <a:endParaRPr lang="en-US" sz="850" dirty="0"/>
            </a:p>
          </p:txBody>
        </p:sp>
        <p:sp>
          <p:nvSpPr>
            <p:cNvPr id="55" name="Text 53"/>
            <p:cNvSpPr/>
            <p:nvPr/>
          </p:nvSpPr>
          <p:spPr>
            <a:xfrm>
              <a:off x="6601968" y="2423160"/>
              <a:ext cx="2103120" cy="329184"/>
            </a:xfrm>
            <a:prstGeom prst="rect">
              <a:avLst/>
            </a:prstGeom>
            <a:noFill/>
            <a:ln/>
          </p:spPr>
          <p:txBody>
            <a:bodyPr wrap="square" rtlCol="0" anchor="ctr"/>
            <a:lstStyle/>
            <a:p>
              <a:pPr marL="0" indent="0">
                <a:buNone/>
              </a:pPr>
              <a:r>
                <a:rPr lang="en-US" sz="800" dirty="0">
                  <a:solidFill>
                    <a:srgbClr val="546E6E"/>
                  </a:solidFill>
                  <a:latin typeface="Arial" pitchFamily="34" charset="0"/>
                  <a:ea typeface="Arial" pitchFamily="34" charset="-122"/>
                  <a:cs typeface="Arial" pitchFamily="34" charset="-120"/>
                </a:rPr>
                <a:t>Redondant — inclus dans id_codedep_codecommune</a:t>
              </a:r>
              <a:endParaRPr lang="en-US" sz="800" dirty="0"/>
            </a:p>
          </p:txBody>
        </p:sp>
        <p:sp>
          <p:nvSpPr>
            <p:cNvPr id="56" name="Shape 54"/>
            <p:cNvSpPr/>
            <p:nvPr/>
          </p:nvSpPr>
          <p:spPr>
            <a:xfrm>
              <a:off x="4800600" y="2825496"/>
              <a:ext cx="4041648" cy="384048"/>
            </a:xfrm>
            <a:prstGeom prst="rect">
              <a:avLst/>
            </a:prstGeom>
            <a:solidFill>
              <a:srgbClr val="FFF8F8"/>
            </a:solidFill>
            <a:ln w="5080">
              <a:solidFill>
                <a:srgbClr val="EEDCDC"/>
              </a:solidFill>
              <a:prstDash val="solid"/>
            </a:ln>
          </p:spPr>
          <p:txBody>
            <a:bodyPr/>
            <a:lstStyle/>
            <a:p>
              <a:endParaRPr lang="en-FR"/>
            </a:p>
          </p:txBody>
        </p:sp>
        <p:sp>
          <p:nvSpPr>
            <p:cNvPr id="57" name="Text 55"/>
            <p:cNvSpPr/>
            <p:nvPr/>
          </p:nvSpPr>
          <p:spPr>
            <a:xfrm>
              <a:off x="4846320" y="2843784"/>
              <a:ext cx="1737360" cy="329184"/>
            </a:xfrm>
            <a:prstGeom prst="rect">
              <a:avLst/>
            </a:prstGeom>
            <a:noFill/>
            <a:ln/>
          </p:spPr>
          <p:txBody>
            <a:bodyPr wrap="square" rtlCol="0" anchor="ctr"/>
            <a:lstStyle/>
            <a:p>
              <a:pPr marL="0" indent="0">
                <a:buNone/>
              </a:pPr>
              <a:r>
                <a:rPr lang="en-US" sz="850" b="1" dirty="0">
                  <a:solidFill>
                    <a:srgbClr val="B94A52"/>
                  </a:solidFill>
                  <a:latin typeface="Arial" pitchFamily="34" charset="0"/>
                  <a:ea typeface="Arial" pitchFamily="34" charset="-122"/>
                  <a:cs typeface="Arial" pitchFamily="34" charset="-120"/>
                </a:rPr>
                <a:t>Code_postal</a:t>
              </a:r>
              <a:endParaRPr lang="en-US" sz="850" dirty="0"/>
            </a:p>
          </p:txBody>
        </p:sp>
        <p:sp>
          <p:nvSpPr>
            <p:cNvPr id="58" name="Text 56"/>
            <p:cNvSpPr/>
            <p:nvPr/>
          </p:nvSpPr>
          <p:spPr>
            <a:xfrm>
              <a:off x="6601968" y="2843784"/>
              <a:ext cx="2103120" cy="329184"/>
            </a:xfrm>
            <a:prstGeom prst="rect">
              <a:avLst/>
            </a:prstGeom>
            <a:noFill/>
            <a:ln/>
          </p:spPr>
          <p:txBody>
            <a:bodyPr wrap="square" rtlCol="0" anchor="ctr"/>
            <a:lstStyle/>
            <a:p>
              <a:pPr marL="0" indent="0">
                <a:buNone/>
              </a:pPr>
              <a:r>
                <a:rPr lang="en-US" sz="800" dirty="0">
                  <a:solidFill>
                    <a:srgbClr val="546E6E"/>
                  </a:solidFill>
                  <a:latin typeface="Arial" pitchFamily="34" charset="0"/>
                  <a:ea typeface="Arial" pitchFamily="34" charset="-122"/>
                  <a:cs typeface="Arial" pitchFamily="34" charset="-120"/>
                </a:rPr>
                <a:t>Redondant avec Code_departement pour le POC</a:t>
              </a:r>
              <a:endParaRPr lang="en-US" sz="800" dirty="0"/>
            </a:p>
          </p:txBody>
        </p:sp>
        <p:sp>
          <p:nvSpPr>
            <p:cNvPr id="59" name="Shape 57"/>
            <p:cNvSpPr/>
            <p:nvPr/>
          </p:nvSpPr>
          <p:spPr>
            <a:xfrm>
              <a:off x="4800600" y="3246120"/>
              <a:ext cx="4041648" cy="384048"/>
            </a:xfrm>
            <a:prstGeom prst="rect">
              <a:avLst/>
            </a:prstGeom>
            <a:solidFill>
              <a:srgbClr val="FFFFFF"/>
            </a:solidFill>
            <a:ln w="5080">
              <a:solidFill>
                <a:srgbClr val="EEDCDC"/>
              </a:solidFill>
              <a:prstDash val="solid"/>
            </a:ln>
          </p:spPr>
          <p:txBody>
            <a:bodyPr/>
            <a:lstStyle/>
            <a:p>
              <a:endParaRPr lang="en-FR"/>
            </a:p>
          </p:txBody>
        </p:sp>
        <p:sp>
          <p:nvSpPr>
            <p:cNvPr id="60" name="Text 58"/>
            <p:cNvSpPr/>
            <p:nvPr/>
          </p:nvSpPr>
          <p:spPr>
            <a:xfrm>
              <a:off x="4846320" y="3264408"/>
              <a:ext cx="1737360" cy="329184"/>
            </a:xfrm>
            <a:prstGeom prst="rect">
              <a:avLst/>
            </a:prstGeom>
            <a:noFill/>
            <a:ln/>
          </p:spPr>
          <p:txBody>
            <a:bodyPr wrap="square" rtlCol="0" anchor="ctr"/>
            <a:lstStyle/>
            <a:p>
              <a:pPr marL="0" indent="0">
                <a:buNone/>
              </a:pPr>
              <a:r>
                <a:rPr lang="en-US" sz="850" b="1" dirty="0">
                  <a:solidFill>
                    <a:srgbClr val="B94A52"/>
                  </a:solidFill>
                  <a:latin typeface="Arial" pitchFamily="34" charset="0"/>
                  <a:ea typeface="Arial" pitchFamily="34" charset="-122"/>
                  <a:cs typeface="Arial" pitchFamily="34" charset="-120"/>
                </a:rPr>
                <a:t>BTQ</a:t>
              </a:r>
              <a:endParaRPr lang="en-US" sz="850" dirty="0"/>
            </a:p>
          </p:txBody>
        </p:sp>
        <p:sp>
          <p:nvSpPr>
            <p:cNvPr id="61" name="Text 59"/>
            <p:cNvSpPr/>
            <p:nvPr/>
          </p:nvSpPr>
          <p:spPr>
            <a:xfrm>
              <a:off x="6601968" y="3264408"/>
              <a:ext cx="2103120" cy="329184"/>
            </a:xfrm>
            <a:prstGeom prst="rect">
              <a:avLst/>
            </a:prstGeom>
            <a:noFill/>
            <a:ln/>
          </p:spPr>
          <p:txBody>
            <a:bodyPr wrap="square" rtlCol="0" anchor="ctr"/>
            <a:lstStyle/>
            <a:p>
              <a:pPr marL="0" indent="0">
                <a:buNone/>
              </a:pPr>
              <a:r>
                <a:rPr lang="en-US" sz="800" dirty="0">
                  <a:solidFill>
                    <a:srgbClr val="546E6E"/>
                  </a:solidFill>
                  <a:latin typeface="Arial" pitchFamily="34" charset="0"/>
                  <a:ea typeface="Arial" pitchFamily="34" charset="-122"/>
                  <a:cs typeface="Arial" pitchFamily="34" charset="-120"/>
                </a:rPr>
                <a:t>Très peu renseigné (&lt; 1 % de valeurs)</a:t>
              </a:r>
              <a:endParaRPr lang="en-US" sz="800" dirty="0"/>
            </a:p>
          </p:txBody>
        </p:sp>
        <p:sp>
          <p:nvSpPr>
            <p:cNvPr id="62" name="Shape 60"/>
            <p:cNvSpPr/>
            <p:nvPr/>
          </p:nvSpPr>
          <p:spPr>
            <a:xfrm>
              <a:off x="4800600" y="3666744"/>
              <a:ext cx="4041648" cy="384048"/>
            </a:xfrm>
            <a:prstGeom prst="rect">
              <a:avLst/>
            </a:prstGeom>
            <a:solidFill>
              <a:srgbClr val="FFF8F8"/>
            </a:solidFill>
            <a:ln w="5080">
              <a:solidFill>
                <a:srgbClr val="EEDCDC"/>
              </a:solidFill>
              <a:prstDash val="solid"/>
            </a:ln>
          </p:spPr>
          <p:txBody>
            <a:bodyPr/>
            <a:lstStyle/>
            <a:p>
              <a:endParaRPr lang="en-FR"/>
            </a:p>
          </p:txBody>
        </p:sp>
        <p:sp>
          <p:nvSpPr>
            <p:cNvPr id="63" name="Text 61"/>
            <p:cNvSpPr/>
            <p:nvPr/>
          </p:nvSpPr>
          <p:spPr>
            <a:xfrm>
              <a:off x="4846320" y="3685032"/>
              <a:ext cx="1737360" cy="329184"/>
            </a:xfrm>
            <a:prstGeom prst="rect">
              <a:avLst/>
            </a:prstGeom>
            <a:noFill/>
            <a:ln/>
          </p:spPr>
          <p:txBody>
            <a:bodyPr wrap="square" rtlCol="0" anchor="ctr"/>
            <a:lstStyle/>
            <a:p>
              <a:pPr marL="0" indent="0">
                <a:buNone/>
              </a:pPr>
              <a:r>
                <a:rPr lang="en-US" sz="850" b="1" dirty="0">
                  <a:solidFill>
                    <a:srgbClr val="B94A52"/>
                  </a:solidFill>
                  <a:latin typeface="Arial" pitchFamily="34" charset="0"/>
                  <a:ea typeface="Arial" pitchFamily="34" charset="-122"/>
                  <a:cs typeface="Arial" pitchFamily="34" charset="-120"/>
                </a:rPr>
                <a:t>Code_voie</a:t>
              </a:r>
              <a:endParaRPr lang="en-US" sz="850" dirty="0"/>
            </a:p>
          </p:txBody>
        </p:sp>
        <p:sp>
          <p:nvSpPr>
            <p:cNvPr id="64" name="Text 62"/>
            <p:cNvSpPr/>
            <p:nvPr/>
          </p:nvSpPr>
          <p:spPr>
            <a:xfrm>
              <a:off x="6601968" y="3685032"/>
              <a:ext cx="2103120" cy="329184"/>
            </a:xfrm>
            <a:prstGeom prst="rect">
              <a:avLst/>
            </a:prstGeom>
            <a:noFill/>
            <a:ln/>
          </p:spPr>
          <p:txBody>
            <a:bodyPr wrap="square" rtlCol="0" anchor="ctr"/>
            <a:lstStyle/>
            <a:p>
              <a:pPr marL="0" indent="0">
                <a:buNone/>
              </a:pPr>
              <a:r>
                <a:rPr lang="en-US" sz="800" dirty="0">
                  <a:solidFill>
                    <a:srgbClr val="546E6E"/>
                  </a:solidFill>
                  <a:latin typeface="Arial" pitchFamily="34" charset="0"/>
                  <a:ea typeface="Arial" pitchFamily="34" charset="-122"/>
                  <a:cs typeface="Arial" pitchFamily="34" charset="-120"/>
                </a:rPr>
                <a:t>Identifiant cadastral — hors périmètre POC</a:t>
              </a:r>
              <a:endParaRPr lang="en-US" sz="800" dirty="0"/>
            </a:p>
          </p:txBody>
        </p:sp>
        <p:sp>
          <p:nvSpPr>
            <p:cNvPr id="65" name="Shape 63"/>
            <p:cNvSpPr/>
            <p:nvPr/>
          </p:nvSpPr>
          <p:spPr>
            <a:xfrm>
              <a:off x="4800600" y="4087368"/>
              <a:ext cx="4041648" cy="384048"/>
            </a:xfrm>
            <a:prstGeom prst="rect">
              <a:avLst/>
            </a:prstGeom>
            <a:solidFill>
              <a:srgbClr val="FFFFFF"/>
            </a:solidFill>
            <a:ln w="5080">
              <a:solidFill>
                <a:srgbClr val="EEDCDC"/>
              </a:solidFill>
              <a:prstDash val="solid"/>
            </a:ln>
          </p:spPr>
          <p:txBody>
            <a:bodyPr/>
            <a:lstStyle/>
            <a:p>
              <a:endParaRPr lang="en-FR"/>
            </a:p>
          </p:txBody>
        </p:sp>
        <p:sp>
          <p:nvSpPr>
            <p:cNvPr id="66" name="Text 64"/>
            <p:cNvSpPr/>
            <p:nvPr/>
          </p:nvSpPr>
          <p:spPr>
            <a:xfrm>
              <a:off x="4846320" y="4105656"/>
              <a:ext cx="1737360" cy="329184"/>
            </a:xfrm>
            <a:prstGeom prst="rect">
              <a:avLst/>
            </a:prstGeom>
            <a:noFill/>
            <a:ln/>
          </p:spPr>
          <p:txBody>
            <a:bodyPr wrap="square" rtlCol="0" anchor="ctr"/>
            <a:lstStyle/>
            <a:p>
              <a:pPr marL="0" indent="0">
                <a:buNone/>
              </a:pPr>
              <a:r>
                <a:rPr lang="en-US" sz="850" b="1" dirty="0">
                  <a:solidFill>
                    <a:srgbClr val="B94A52"/>
                  </a:solidFill>
                  <a:latin typeface="Arial" pitchFamily="34" charset="0"/>
                  <a:ea typeface="Arial" pitchFamily="34" charset="-122"/>
                  <a:cs typeface="Arial" pitchFamily="34" charset="-120"/>
                </a:rPr>
                <a:t>indice_prix_logement</a:t>
              </a:r>
              <a:endParaRPr lang="en-US" sz="850" dirty="0"/>
            </a:p>
          </p:txBody>
        </p:sp>
        <p:sp>
          <p:nvSpPr>
            <p:cNvPr id="67" name="Text 65"/>
            <p:cNvSpPr/>
            <p:nvPr/>
          </p:nvSpPr>
          <p:spPr>
            <a:xfrm>
              <a:off x="6601968" y="4105656"/>
              <a:ext cx="2103120" cy="329184"/>
            </a:xfrm>
            <a:prstGeom prst="rect">
              <a:avLst/>
            </a:prstGeom>
            <a:noFill/>
            <a:ln/>
          </p:spPr>
          <p:txBody>
            <a:bodyPr wrap="square" rtlCol="0" anchor="ctr"/>
            <a:lstStyle/>
            <a:p>
              <a:pPr marL="0" indent="0">
                <a:buNone/>
              </a:pPr>
              <a:r>
                <a:rPr lang="en-US" sz="800" dirty="0">
                  <a:solidFill>
                    <a:srgbClr val="546E6E"/>
                  </a:solidFill>
                  <a:latin typeface="Arial" pitchFamily="34" charset="0"/>
                  <a:ea typeface="Arial" pitchFamily="34" charset="-122"/>
                  <a:cs typeface="Arial" pitchFamily="34" charset="-120"/>
                </a:rPr>
                <a:t>Hors schéma — nécessite table séparée</a:t>
              </a:r>
              <a:endParaRPr lang="en-US" sz="800" dirty="0"/>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Extrait du dictionnaire des données</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Text 3"/>
          <p:cNvSpPr/>
          <p:nvPr/>
        </p:nvSpPr>
        <p:spPr>
          <a:xfrm>
            <a:off x="256032" y="713232"/>
            <a:ext cx="8641080" cy="237744"/>
          </a:xfrm>
          <a:prstGeom prst="rect">
            <a:avLst/>
          </a:prstGeom>
          <a:noFill/>
          <a:ln/>
        </p:spPr>
        <p:txBody>
          <a:bodyPr wrap="square" rtlCol="0" anchor="ctr"/>
          <a:lstStyle/>
          <a:p>
            <a:pPr marL="0" indent="0">
              <a:buNone/>
            </a:pPr>
            <a:r>
              <a:rPr lang="en-US" sz="900" i="1" dirty="0">
                <a:solidFill>
                  <a:srgbClr val="546E6E"/>
                </a:solidFill>
                <a:latin typeface="Arial" pitchFamily="34" charset="0"/>
                <a:ea typeface="Arial" pitchFamily="34" charset="-122"/>
                <a:cs typeface="Arial" pitchFamily="34" charset="-120"/>
              </a:rPr>
              <a:t>Feuille 2 — Référentiel géographique (region + commune)</a:t>
            </a:r>
            <a:endParaRPr lang="en-US" sz="900" dirty="0"/>
          </a:p>
        </p:txBody>
      </p:sp>
      <p:pic>
        <p:nvPicPr>
          <p:cNvPr id="6" name="Image 0" descr="preencoded.png"/>
          <p:cNvPicPr>
            <a:picLocks noChangeAspect="1"/>
          </p:cNvPicPr>
          <p:nvPr/>
        </p:nvPicPr>
        <p:blipFill>
          <a:blip r:embed="rId3"/>
          <a:srcRect/>
          <a:stretch/>
        </p:blipFill>
        <p:spPr>
          <a:xfrm>
            <a:off x="256032" y="969264"/>
            <a:ext cx="8641080" cy="3840480"/>
          </a:xfrm>
          <a:prstGeom prst="rect">
            <a:avLst/>
          </a:prstGeom>
        </p:spPr>
      </p:pic>
      <p:sp>
        <p:nvSpPr>
          <p:cNvPr id="7" name="Text 4"/>
          <p:cNvSpPr/>
          <p:nvPr/>
        </p:nvSpPr>
        <p:spPr>
          <a:xfrm>
            <a:off x="256032" y="4828032"/>
            <a:ext cx="8641080" cy="228600"/>
          </a:xfrm>
          <a:prstGeom prst="rect">
            <a:avLst/>
          </a:prstGeom>
          <a:noFill/>
          <a:ln/>
        </p:spPr>
        <p:txBody>
          <a:bodyPr wrap="square" rtlCol="0" anchor="ctr"/>
          <a:lstStyle/>
          <a:p>
            <a:pPr marL="0" indent="0" algn="ctr">
              <a:buNone/>
            </a:pPr>
            <a:r>
              <a:rPr lang="en-US" sz="850" i="1" dirty="0">
                <a:solidFill>
                  <a:srgbClr val="546E6E"/>
                </a:solidFill>
                <a:latin typeface="Arial" pitchFamily="34" charset="0"/>
                <a:ea typeface="Arial" pitchFamily="34" charset="-122"/>
                <a:cs typeface="Arial" pitchFamily="34" charset="-120"/>
              </a:rPr>
              <a:t>Le dictionnaire complet est disponible dans le fichier livrable : Abu-rabia_Heba_1_dictionnaire_032026.xlsx</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Schéma </a:t>
            </a:r>
            <a:r>
              <a:rPr lang="en-US" sz="2000" b="1" dirty="0" err="1">
                <a:solidFill>
                  <a:srgbClr val="1C3838"/>
                </a:solidFill>
                <a:latin typeface="Arial" pitchFamily="34" charset="0"/>
                <a:ea typeface="Arial" pitchFamily="34" charset="-122"/>
                <a:cs typeface="Arial" pitchFamily="34" charset="-120"/>
              </a:rPr>
              <a:t>relationnel</a:t>
            </a:r>
            <a:r>
              <a:rPr lang="en-US" sz="2000" b="1" dirty="0">
                <a:solidFill>
                  <a:srgbClr val="1C3838"/>
                </a:solidFill>
                <a:latin typeface="Arial" pitchFamily="34" charset="0"/>
                <a:ea typeface="Arial" pitchFamily="34" charset="-122"/>
                <a:cs typeface="Arial" pitchFamily="34" charset="-120"/>
              </a:rPr>
              <a:t> </a:t>
            </a:r>
            <a:r>
              <a:rPr lang="en-US" sz="2000" b="1" dirty="0" err="1">
                <a:solidFill>
                  <a:srgbClr val="1C3838"/>
                </a:solidFill>
                <a:latin typeface="Arial" pitchFamily="34" charset="0"/>
                <a:ea typeface="Arial" pitchFamily="34" charset="-122"/>
                <a:cs typeface="Arial" pitchFamily="34" charset="-120"/>
              </a:rPr>
              <a:t>normalisé</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pic>
        <p:nvPicPr>
          <p:cNvPr id="5" name="Image 0" descr="preencoded.png"/>
          <p:cNvPicPr>
            <a:picLocks noChangeAspect="1"/>
          </p:cNvPicPr>
          <p:nvPr/>
        </p:nvPicPr>
        <p:blipFill>
          <a:blip r:embed="rId3"/>
          <a:srcRect/>
          <a:stretch/>
        </p:blipFill>
        <p:spPr>
          <a:xfrm>
            <a:off x="457200" y="749808"/>
            <a:ext cx="8229600" cy="4160520"/>
          </a:xfrm>
          <a:prstGeom prst="rect">
            <a:avLst/>
          </a:prstGeom>
        </p:spPr>
      </p:pic>
      <p:sp>
        <p:nvSpPr>
          <p:cNvPr id="6" name="Text 3"/>
          <p:cNvSpPr/>
          <p:nvPr/>
        </p:nvSpPr>
        <p:spPr>
          <a:xfrm>
            <a:off x="256032" y="4846320"/>
            <a:ext cx="8641080" cy="228600"/>
          </a:xfrm>
          <a:prstGeom prst="rect">
            <a:avLst/>
          </a:prstGeom>
          <a:noFill/>
          <a:ln/>
        </p:spPr>
        <p:txBody>
          <a:bodyPr wrap="square" rtlCol="0" anchor="ctr"/>
          <a:lstStyle/>
          <a:p>
            <a:pPr marL="0" indent="0" algn="ctr">
              <a:buNone/>
            </a:pPr>
            <a:r>
              <a:rPr lang="en-US" sz="850" i="1" dirty="0">
                <a:solidFill>
                  <a:srgbClr val="546E6E"/>
                </a:solidFill>
                <a:latin typeface="Arial" pitchFamily="34" charset="0"/>
                <a:ea typeface="Arial" pitchFamily="34" charset="-122"/>
                <a:cs typeface="Arial" pitchFamily="34" charset="-120"/>
              </a:rPr>
              <a:t>4 tables · Clés primaires et étrangères explicites · Données atomiques (1NF) · Dépendances transitives éliminées (3NF)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Base de données — Structure créée dans SQLiteStudio</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256032" y="749808"/>
            <a:ext cx="3200400" cy="4133088"/>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6" name="Shape 4"/>
          <p:cNvSpPr/>
          <p:nvPr/>
        </p:nvSpPr>
        <p:spPr>
          <a:xfrm>
            <a:off x="256032" y="749808"/>
            <a:ext cx="3200400" cy="301752"/>
          </a:xfrm>
          <a:prstGeom prst="rect">
            <a:avLst/>
          </a:prstGeom>
          <a:solidFill>
            <a:srgbClr val="158F7E"/>
          </a:solidFill>
          <a:ln w="12700">
            <a:solidFill>
              <a:srgbClr val="158F7E"/>
            </a:solidFill>
            <a:prstDash val="solid"/>
          </a:ln>
        </p:spPr>
        <p:txBody>
          <a:bodyPr/>
          <a:lstStyle/>
          <a:p>
            <a:endParaRPr lang="en-FR"/>
          </a:p>
        </p:txBody>
      </p:sp>
      <p:sp>
        <p:nvSpPr>
          <p:cNvPr id="7" name="Text 5"/>
          <p:cNvSpPr/>
          <p:nvPr/>
        </p:nvSpPr>
        <p:spPr>
          <a:xfrm>
            <a:off x="329184" y="749808"/>
            <a:ext cx="3035808" cy="301752"/>
          </a:xfrm>
          <a:prstGeom prst="rect">
            <a:avLst/>
          </a:prstGeom>
          <a:noFill/>
          <a:ln/>
        </p:spPr>
        <p:txBody>
          <a:bodyPr wrap="square" rtlCol="0" anchor="ctr"/>
          <a:lstStyle/>
          <a:p>
            <a:pPr marL="0" indent="0">
              <a:buNone/>
            </a:pPr>
            <a:r>
              <a:rPr lang="en-US" sz="950" b="1" dirty="0">
                <a:solidFill>
                  <a:srgbClr val="FFFFFF"/>
                </a:solidFill>
                <a:latin typeface="Arial" pitchFamily="34" charset="0"/>
                <a:ea typeface="Arial" pitchFamily="34" charset="-122"/>
                <a:cs typeface="Arial" pitchFamily="34" charset="-120"/>
              </a:rPr>
              <a:t>Arborescence des tables</a:t>
            </a:r>
            <a:endParaRPr lang="en-US" sz="950" dirty="0"/>
          </a:p>
        </p:txBody>
      </p:sp>
      <p:pic>
        <p:nvPicPr>
          <p:cNvPr id="8" name="Image 0" descr="preencoded.png"/>
          <p:cNvPicPr>
            <a:picLocks noChangeAspect="1"/>
          </p:cNvPicPr>
          <p:nvPr/>
        </p:nvPicPr>
        <p:blipFill>
          <a:blip r:embed="rId3"/>
          <a:srcRect/>
          <a:stretch/>
        </p:blipFill>
        <p:spPr>
          <a:xfrm>
            <a:off x="320040" y="1078992"/>
            <a:ext cx="3063240" cy="3749040"/>
          </a:xfrm>
          <a:prstGeom prst="rect">
            <a:avLst/>
          </a:prstGeom>
        </p:spPr>
      </p:pic>
      <p:sp>
        <p:nvSpPr>
          <p:cNvPr id="9" name="Shape 6"/>
          <p:cNvSpPr/>
          <p:nvPr/>
        </p:nvSpPr>
        <p:spPr>
          <a:xfrm>
            <a:off x="3657600" y="749808"/>
            <a:ext cx="5239512" cy="4133088"/>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10" name="Shape 7"/>
          <p:cNvSpPr/>
          <p:nvPr/>
        </p:nvSpPr>
        <p:spPr>
          <a:xfrm>
            <a:off x="3657600" y="749808"/>
            <a:ext cx="5239512" cy="301752"/>
          </a:xfrm>
          <a:prstGeom prst="rect">
            <a:avLst/>
          </a:prstGeom>
          <a:solidFill>
            <a:srgbClr val="1A2F2F"/>
          </a:solidFill>
          <a:ln w="12700">
            <a:solidFill>
              <a:srgbClr val="1A2F2F"/>
            </a:solidFill>
            <a:prstDash val="solid"/>
          </a:ln>
        </p:spPr>
        <p:txBody>
          <a:bodyPr/>
          <a:lstStyle/>
          <a:p>
            <a:endParaRPr lang="en-FR"/>
          </a:p>
        </p:txBody>
      </p:sp>
      <p:sp>
        <p:nvSpPr>
          <p:cNvPr id="11" name="Text 8"/>
          <p:cNvSpPr/>
          <p:nvPr/>
        </p:nvSpPr>
        <p:spPr>
          <a:xfrm>
            <a:off x="3730752" y="749808"/>
            <a:ext cx="5074920" cy="301752"/>
          </a:xfrm>
          <a:prstGeom prst="rect">
            <a:avLst/>
          </a:prstGeom>
          <a:noFill/>
          <a:ln/>
        </p:spPr>
        <p:txBody>
          <a:bodyPr wrap="square" rtlCol="0" anchor="ctr"/>
          <a:lstStyle/>
          <a:p>
            <a:pPr marL="0" indent="0">
              <a:buNone/>
            </a:pPr>
            <a:r>
              <a:rPr lang="en-US" sz="950" b="1" dirty="0">
                <a:solidFill>
                  <a:srgbClr val="1ABBA3"/>
                </a:solidFill>
                <a:latin typeface="Arial" pitchFamily="34" charset="0"/>
                <a:ea typeface="Arial" pitchFamily="34" charset="-122"/>
                <a:cs typeface="Arial" pitchFamily="34" charset="-120"/>
              </a:rPr>
              <a:t>CREATE TABLE — Code SQL</a:t>
            </a:r>
            <a:endParaRPr lang="en-US" sz="950" dirty="0"/>
          </a:p>
        </p:txBody>
      </p:sp>
      <p:pic>
        <p:nvPicPr>
          <p:cNvPr id="12" name="Image 1" descr="preencoded.png"/>
          <p:cNvPicPr>
            <a:picLocks noChangeAspect="1"/>
          </p:cNvPicPr>
          <p:nvPr/>
        </p:nvPicPr>
        <p:blipFill>
          <a:blip r:embed="rId4"/>
          <a:srcRect/>
          <a:stretch/>
        </p:blipFill>
        <p:spPr>
          <a:xfrm>
            <a:off x="3703320" y="1078992"/>
            <a:ext cx="5148072" cy="3749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Base de données — Table region</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256032" y="749808"/>
            <a:ext cx="6217920" cy="4133088"/>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6" name="Shape 4"/>
          <p:cNvSpPr/>
          <p:nvPr/>
        </p:nvSpPr>
        <p:spPr>
          <a:xfrm>
            <a:off x="256032" y="749808"/>
            <a:ext cx="6217920" cy="301752"/>
          </a:xfrm>
          <a:prstGeom prst="rect">
            <a:avLst/>
          </a:prstGeom>
          <a:solidFill>
            <a:srgbClr val="1A2F2F"/>
          </a:solidFill>
          <a:ln w="12700">
            <a:solidFill>
              <a:srgbClr val="1A2F2F"/>
            </a:solidFill>
            <a:prstDash val="solid"/>
          </a:ln>
        </p:spPr>
        <p:txBody>
          <a:bodyPr/>
          <a:lstStyle/>
          <a:p>
            <a:endParaRPr lang="en-FR"/>
          </a:p>
        </p:txBody>
      </p:sp>
      <p:sp>
        <p:nvSpPr>
          <p:cNvPr id="7" name="Text 5"/>
          <p:cNvSpPr/>
          <p:nvPr/>
        </p:nvSpPr>
        <p:spPr>
          <a:xfrm>
            <a:off x="347472" y="749808"/>
            <a:ext cx="6035040" cy="301752"/>
          </a:xfrm>
          <a:prstGeom prst="rect">
            <a:avLst/>
          </a:prstGeom>
          <a:noFill/>
          <a:ln/>
        </p:spPr>
        <p:txBody>
          <a:bodyPr wrap="square" rtlCol="0" anchor="ctr"/>
          <a:lstStyle/>
          <a:p>
            <a:pPr marL="0" indent="0">
              <a:buNone/>
            </a:pPr>
            <a:r>
              <a:rPr lang="en-US" sz="950" b="1" dirty="0">
                <a:solidFill>
                  <a:srgbClr val="1ABBA3"/>
                </a:solidFill>
                <a:latin typeface="Arial" pitchFamily="34" charset="0"/>
                <a:ea typeface="Arial" pitchFamily="34" charset="-122"/>
                <a:cs typeface="Arial" pitchFamily="34" charset="-120"/>
              </a:rPr>
              <a:t>SQLiteStudio — region</a:t>
            </a:r>
            <a:endParaRPr lang="en-US" sz="950" dirty="0"/>
          </a:p>
        </p:txBody>
      </p:sp>
      <p:pic>
        <p:nvPicPr>
          <p:cNvPr id="8" name="Image 0" descr="preencoded.png"/>
          <p:cNvPicPr>
            <a:picLocks noChangeAspect="1"/>
          </p:cNvPicPr>
          <p:nvPr/>
        </p:nvPicPr>
        <p:blipFill>
          <a:blip r:embed="rId3"/>
          <a:srcRect/>
          <a:stretch/>
        </p:blipFill>
        <p:spPr>
          <a:xfrm>
            <a:off x="301752" y="1078992"/>
            <a:ext cx="6108192" cy="3749040"/>
          </a:xfrm>
          <a:prstGeom prst="rect">
            <a:avLst/>
          </a:prstGeom>
        </p:spPr>
      </p:pic>
      <p:sp>
        <p:nvSpPr>
          <p:cNvPr id="9" name="Shape 6"/>
          <p:cNvSpPr/>
          <p:nvPr/>
        </p:nvSpPr>
        <p:spPr>
          <a:xfrm>
            <a:off x="6656832" y="749808"/>
            <a:ext cx="2240280" cy="1920240"/>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10" name="Shape 7"/>
          <p:cNvSpPr/>
          <p:nvPr/>
        </p:nvSpPr>
        <p:spPr>
          <a:xfrm>
            <a:off x="6656832" y="749808"/>
            <a:ext cx="2240280" cy="329184"/>
          </a:xfrm>
          <a:prstGeom prst="rect">
            <a:avLst/>
          </a:prstGeom>
          <a:solidFill>
            <a:srgbClr val="158F7E"/>
          </a:solidFill>
          <a:ln w="12700">
            <a:solidFill>
              <a:srgbClr val="158F7E"/>
            </a:solidFill>
            <a:prstDash val="solid"/>
          </a:ln>
        </p:spPr>
        <p:txBody>
          <a:bodyPr/>
          <a:lstStyle/>
          <a:p>
            <a:endParaRPr lang="en-FR"/>
          </a:p>
        </p:txBody>
      </p:sp>
      <p:sp>
        <p:nvSpPr>
          <p:cNvPr id="11" name="Text 8"/>
          <p:cNvSpPr/>
          <p:nvPr/>
        </p:nvSpPr>
        <p:spPr>
          <a:xfrm>
            <a:off x="6748272" y="749808"/>
            <a:ext cx="2057400" cy="301752"/>
          </a:xfrm>
          <a:prstGeom prst="rect">
            <a:avLst/>
          </a:prstGeom>
          <a:noFill/>
          <a:ln/>
        </p:spPr>
        <p:txBody>
          <a:bodyPr wrap="square" rtlCol="0" anchor="ctr"/>
          <a:lstStyle/>
          <a:p>
            <a:pPr marL="0" indent="0">
              <a:buNone/>
            </a:pPr>
            <a:r>
              <a:rPr lang="en-US" sz="850" b="1" dirty="0">
                <a:solidFill>
                  <a:srgbClr val="FFFFFF"/>
                </a:solidFill>
                <a:latin typeface="Courier New" pitchFamily="34" charset="0"/>
                <a:ea typeface="Courier New" pitchFamily="34" charset="-122"/>
                <a:cs typeface="Courier New" pitchFamily="34" charset="-120"/>
              </a:rPr>
              <a:t>SELECT COUNT(*)</a:t>
            </a:r>
            <a:endParaRPr lang="en-US" sz="850" dirty="0"/>
          </a:p>
        </p:txBody>
      </p:sp>
      <p:sp>
        <p:nvSpPr>
          <p:cNvPr id="12" name="Shape 9"/>
          <p:cNvSpPr/>
          <p:nvPr/>
        </p:nvSpPr>
        <p:spPr>
          <a:xfrm>
            <a:off x="6784848" y="1170432"/>
            <a:ext cx="2029968" cy="1005840"/>
          </a:xfrm>
          <a:prstGeom prst="rect">
            <a:avLst/>
          </a:prstGeom>
          <a:solidFill>
            <a:srgbClr val="EAF5F4"/>
          </a:solidFill>
          <a:ln w="6350">
            <a:solidFill>
              <a:srgbClr val="D0E8E6"/>
            </a:solidFill>
            <a:prstDash val="solid"/>
          </a:ln>
        </p:spPr>
        <p:txBody>
          <a:bodyPr/>
          <a:lstStyle/>
          <a:p>
            <a:endParaRPr lang="en-FR"/>
          </a:p>
        </p:txBody>
      </p:sp>
      <p:sp>
        <p:nvSpPr>
          <p:cNvPr id="13" name="Text 10"/>
          <p:cNvSpPr/>
          <p:nvPr/>
        </p:nvSpPr>
        <p:spPr>
          <a:xfrm>
            <a:off x="6784848" y="1170432"/>
            <a:ext cx="2029968" cy="640080"/>
          </a:xfrm>
          <a:prstGeom prst="rect">
            <a:avLst/>
          </a:prstGeom>
          <a:noFill/>
          <a:ln/>
        </p:spPr>
        <p:txBody>
          <a:bodyPr wrap="square" rtlCol="0" anchor="ctr"/>
          <a:lstStyle/>
          <a:p>
            <a:pPr marL="0" indent="0" algn="ctr">
              <a:buNone/>
            </a:pPr>
            <a:r>
              <a:rPr lang="en-US" sz="2800" b="1" dirty="0">
                <a:solidFill>
                  <a:srgbClr val="158F7E"/>
                </a:solidFill>
                <a:latin typeface="Arial" pitchFamily="34" charset="0"/>
                <a:ea typeface="Arial" pitchFamily="34" charset="-122"/>
                <a:cs typeface="Arial" pitchFamily="34" charset="-120"/>
              </a:rPr>
              <a:t>14</a:t>
            </a:r>
            <a:endParaRPr lang="en-US" sz="2800" dirty="0"/>
          </a:p>
        </p:txBody>
      </p:sp>
      <p:sp>
        <p:nvSpPr>
          <p:cNvPr id="14" name="Text 11"/>
          <p:cNvSpPr/>
          <p:nvPr/>
        </p:nvSpPr>
        <p:spPr>
          <a:xfrm>
            <a:off x="6784848" y="1719072"/>
            <a:ext cx="2029968" cy="365760"/>
          </a:xfrm>
          <a:prstGeom prst="rect">
            <a:avLst/>
          </a:prstGeom>
          <a:noFill/>
          <a:ln/>
        </p:spPr>
        <p:txBody>
          <a:bodyPr wrap="square" rtlCol="0" anchor="ctr"/>
          <a:lstStyle/>
          <a:p>
            <a:pPr marL="0" indent="0" algn="ctr">
              <a:buNone/>
            </a:pPr>
            <a:r>
              <a:rPr lang="en-US" sz="850" dirty="0">
                <a:solidFill>
                  <a:srgbClr val="546E6E"/>
                </a:solidFill>
                <a:latin typeface="Arial" pitchFamily="34" charset="0"/>
                <a:ea typeface="Arial" pitchFamily="34" charset="-122"/>
                <a:cs typeface="Arial" pitchFamily="34" charset="-120"/>
              </a:rPr>
              <a:t>lignes chargées</a:t>
            </a:r>
            <a:endParaRPr lang="en-US" sz="850" dirty="0"/>
          </a:p>
        </p:txBody>
      </p:sp>
      <p:sp>
        <p:nvSpPr>
          <p:cNvPr id="15" name="Shape 12"/>
          <p:cNvSpPr/>
          <p:nvPr/>
        </p:nvSpPr>
        <p:spPr>
          <a:xfrm>
            <a:off x="6656832" y="2798064"/>
            <a:ext cx="2240280" cy="208483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16" name="Text 13"/>
          <p:cNvSpPr/>
          <p:nvPr/>
        </p:nvSpPr>
        <p:spPr>
          <a:xfrm>
            <a:off x="6729984" y="2834640"/>
            <a:ext cx="2103120" cy="2011680"/>
          </a:xfrm>
          <a:prstGeom prst="rect">
            <a:avLst/>
          </a:prstGeom>
          <a:noFill/>
          <a:ln/>
        </p:spPr>
        <p:txBody>
          <a:bodyPr wrap="square" rtlCol="0" anchor="ctr"/>
          <a:lstStyle/>
          <a:p>
            <a:pPr marL="0" indent="0">
              <a:buNone/>
            </a:pPr>
            <a:r>
              <a:rPr lang="en-US" sz="850" dirty="0">
                <a:solidFill>
                  <a:srgbClr val="1C3838"/>
                </a:solidFill>
                <a:latin typeface="Arial" pitchFamily="34" charset="0"/>
                <a:ea typeface="Arial" pitchFamily="34" charset="-122"/>
                <a:cs typeface="Arial" pitchFamily="34" charset="-120"/>
              </a:rPr>
              <a:t>Table de référence : 14 régions françaises. Clé </a:t>
            </a:r>
            <a:r>
              <a:rPr lang="en-US" sz="850" dirty="0" err="1">
                <a:solidFill>
                  <a:srgbClr val="1C3838"/>
                </a:solidFill>
                <a:latin typeface="Arial" pitchFamily="34" charset="0"/>
                <a:ea typeface="Arial" pitchFamily="34" charset="-122"/>
                <a:cs typeface="Arial" pitchFamily="34" charset="-120"/>
              </a:rPr>
              <a:t>primaire</a:t>
            </a:r>
            <a:r>
              <a:rPr lang="en-US" sz="850" dirty="0">
                <a:solidFill>
                  <a:srgbClr val="1C3838"/>
                </a:solidFill>
                <a:latin typeface="Arial" pitchFamily="34" charset="0"/>
                <a:ea typeface="Arial" pitchFamily="34" charset="-122"/>
                <a:cs typeface="Arial" pitchFamily="34" charset="-120"/>
              </a:rPr>
              <a:t> auto-</a:t>
            </a:r>
            <a:r>
              <a:rPr lang="en-US" sz="850" dirty="0" err="1">
                <a:solidFill>
                  <a:srgbClr val="1C3838"/>
                </a:solidFill>
                <a:latin typeface="Arial" pitchFamily="34" charset="0"/>
                <a:ea typeface="Arial" pitchFamily="34" charset="-122"/>
                <a:cs typeface="Arial" pitchFamily="34" charset="-120"/>
              </a:rPr>
              <a:t>incrémentée</a:t>
            </a:r>
            <a:r>
              <a:rPr lang="en-US" sz="850" dirty="0">
                <a:solidFill>
                  <a:srgbClr val="1C3838"/>
                </a:solidFill>
                <a:latin typeface="Arial" pitchFamily="34" charset="0"/>
                <a:ea typeface="Arial" pitchFamily="34" charset="-122"/>
                <a:cs typeface="Arial" pitchFamily="34" charset="-120"/>
              </a:rPr>
              <a:t>.</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Base de données — Table commune</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256032" y="749808"/>
            <a:ext cx="6217920" cy="4133088"/>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6" name="Shape 4"/>
          <p:cNvSpPr/>
          <p:nvPr/>
        </p:nvSpPr>
        <p:spPr>
          <a:xfrm>
            <a:off x="256032" y="749808"/>
            <a:ext cx="6217920" cy="301752"/>
          </a:xfrm>
          <a:prstGeom prst="rect">
            <a:avLst/>
          </a:prstGeom>
          <a:solidFill>
            <a:srgbClr val="1A2F2F"/>
          </a:solidFill>
          <a:ln w="12700">
            <a:solidFill>
              <a:srgbClr val="1A2F2F"/>
            </a:solidFill>
            <a:prstDash val="solid"/>
          </a:ln>
        </p:spPr>
        <p:txBody>
          <a:bodyPr/>
          <a:lstStyle/>
          <a:p>
            <a:endParaRPr lang="en-FR"/>
          </a:p>
        </p:txBody>
      </p:sp>
      <p:sp>
        <p:nvSpPr>
          <p:cNvPr id="7" name="Text 5"/>
          <p:cNvSpPr/>
          <p:nvPr/>
        </p:nvSpPr>
        <p:spPr>
          <a:xfrm>
            <a:off x="347472" y="749808"/>
            <a:ext cx="6035040" cy="301752"/>
          </a:xfrm>
          <a:prstGeom prst="rect">
            <a:avLst/>
          </a:prstGeom>
          <a:noFill/>
          <a:ln/>
        </p:spPr>
        <p:txBody>
          <a:bodyPr wrap="square" rtlCol="0" anchor="ctr"/>
          <a:lstStyle/>
          <a:p>
            <a:pPr marL="0" indent="0">
              <a:buNone/>
            </a:pPr>
            <a:r>
              <a:rPr lang="en-US" sz="950" b="1" dirty="0">
                <a:solidFill>
                  <a:srgbClr val="1ABBA3"/>
                </a:solidFill>
                <a:latin typeface="Arial" pitchFamily="34" charset="0"/>
                <a:ea typeface="Arial" pitchFamily="34" charset="-122"/>
                <a:cs typeface="Arial" pitchFamily="34" charset="-120"/>
              </a:rPr>
              <a:t>SQLiteStudio — commune</a:t>
            </a:r>
            <a:endParaRPr lang="en-US" sz="950" dirty="0"/>
          </a:p>
        </p:txBody>
      </p:sp>
      <p:pic>
        <p:nvPicPr>
          <p:cNvPr id="8" name="Image 0" descr="preencoded.png"/>
          <p:cNvPicPr>
            <a:picLocks noChangeAspect="1"/>
          </p:cNvPicPr>
          <p:nvPr/>
        </p:nvPicPr>
        <p:blipFill>
          <a:blip r:embed="rId3"/>
          <a:srcRect/>
          <a:stretch/>
        </p:blipFill>
        <p:spPr>
          <a:xfrm>
            <a:off x="301752" y="1078992"/>
            <a:ext cx="6108192" cy="3749040"/>
          </a:xfrm>
          <a:prstGeom prst="rect">
            <a:avLst/>
          </a:prstGeom>
        </p:spPr>
      </p:pic>
      <p:sp>
        <p:nvSpPr>
          <p:cNvPr id="9" name="Shape 6"/>
          <p:cNvSpPr/>
          <p:nvPr/>
        </p:nvSpPr>
        <p:spPr>
          <a:xfrm>
            <a:off x="6656832" y="749808"/>
            <a:ext cx="2240280" cy="1920240"/>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10" name="Shape 7"/>
          <p:cNvSpPr/>
          <p:nvPr/>
        </p:nvSpPr>
        <p:spPr>
          <a:xfrm>
            <a:off x="6656832" y="749808"/>
            <a:ext cx="2240280" cy="329184"/>
          </a:xfrm>
          <a:prstGeom prst="rect">
            <a:avLst/>
          </a:prstGeom>
          <a:solidFill>
            <a:srgbClr val="158F7E"/>
          </a:solidFill>
          <a:ln w="12700">
            <a:solidFill>
              <a:srgbClr val="158F7E"/>
            </a:solidFill>
            <a:prstDash val="solid"/>
          </a:ln>
        </p:spPr>
        <p:txBody>
          <a:bodyPr/>
          <a:lstStyle/>
          <a:p>
            <a:endParaRPr lang="en-FR"/>
          </a:p>
        </p:txBody>
      </p:sp>
      <p:sp>
        <p:nvSpPr>
          <p:cNvPr id="11" name="Text 8"/>
          <p:cNvSpPr/>
          <p:nvPr/>
        </p:nvSpPr>
        <p:spPr>
          <a:xfrm>
            <a:off x="6748272" y="749808"/>
            <a:ext cx="2057400" cy="301752"/>
          </a:xfrm>
          <a:prstGeom prst="rect">
            <a:avLst/>
          </a:prstGeom>
          <a:noFill/>
          <a:ln/>
        </p:spPr>
        <p:txBody>
          <a:bodyPr wrap="square" rtlCol="0" anchor="ctr"/>
          <a:lstStyle/>
          <a:p>
            <a:pPr marL="0" indent="0">
              <a:buNone/>
            </a:pPr>
            <a:r>
              <a:rPr lang="en-US" sz="850" b="1" dirty="0">
                <a:solidFill>
                  <a:srgbClr val="FFFFFF"/>
                </a:solidFill>
                <a:latin typeface="Courier New" pitchFamily="34" charset="0"/>
                <a:ea typeface="Courier New" pitchFamily="34" charset="-122"/>
                <a:cs typeface="Courier New" pitchFamily="34" charset="-120"/>
              </a:rPr>
              <a:t>SELECT COUNT(*)</a:t>
            </a:r>
            <a:endParaRPr lang="en-US" sz="850" dirty="0"/>
          </a:p>
        </p:txBody>
      </p:sp>
      <p:sp>
        <p:nvSpPr>
          <p:cNvPr id="12" name="Shape 9"/>
          <p:cNvSpPr/>
          <p:nvPr/>
        </p:nvSpPr>
        <p:spPr>
          <a:xfrm>
            <a:off x="6784848" y="1170432"/>
            <a:ext cx="2029968" cy="1005840"/>
          </a:xfrm>
          <a:prstGeom prst="rect">
            <a:avLst/>
          </a:prstGeom>
          <a:solidFill>
            <a:srgbClr val="EAF5F4"/>
          </a:solidFill>
          <a:ln w="6350">
            <a:solidFill>
              <a:srgbClr val="D0E8E6"/>
            </a:solidFill>
            <a:prstDash val="solid"/>
          </a:ln>
        </p:spPr>
        <p:txBody>
          <a:bodyPr/>
          <a:lstStyle/>
          <a:p>
            <a:endParaRPr lang="en-FR"/>
          </a:p>
        </p:txBody>
      </p:sp>
      <p:sp>
        <p:nvSpPr>
          <p:cNvPr id="13" name="Text 10"/>
          <p:cNvSpPr/>
          <p:nvPr/>
        </p:nvSpPr>
        <p:spPr>
          <a:xfrm>
            <a:off x="6784848" y="1170432"/>
            <a:ext cx="2029968" cy="640080"/>
          </a:xfrm>
          <a:prstGeom prst="rect">
            <a:avLst/>
          </a:prstGeom>
          <a:noFill/>
          <a:ln/>
        </p:spPr>
        <p:txBody>
          <a:bodyPr wrap="square" rtlCol="0" anchor="ctr"/>
          <a:lstStyle/>
          <a:p>
            <a:pPr marL="0" indent="0" algn="ctr">
              <a:buNone/>
            </a:pPr>
            <a:r>
              <a:rPr lang="en-US" sz="2800" b="1" dirty="0">
                <a:solidFill>
                  <a:srgbClr val="158F7E"/>
                </a:solidFill>
                <a:latin typeface="Arial" pitchFamily="34" charset="0"/>
                <a:ea typeface="Arial" pitchFamily="34" charset="-122"/>
                <a:cs typeface="Arial" pitchFamily="34" charset="-120"/>
              </a:rPr>
              <a:t>467</a:t>
            </a:r>
            <a:endParaRPr lang="en-US" sz="2800" dirty="0"/>
          </a:p>
        </p:txBody>
      </p:sp>
      <p:sp>
        <p:nvSpPr>
          <p:cNvPr id="14" name="Text 11"/>
          <p:cNvSpPr/>
          <p:nvPr/>
        </p:nvSpPr>
        <p:spPr>
          <a:xfrm>
            <a:off x="6784848" y="1719072"/>
            <a:ext cx="2029968" cy="365760"/>
          </a:xfrm>
          <a:prstGeom prst="rect">
            <a:avLst/>
          </a:prstGeom>
          <a:noFill/>
          <a:ln/>
        </p:spPr>
        <p:txBody>
          <a:bodyPr wrap="square" rtlCol="0" anchor="ctr"/>
          <a:lstStyle/>
          <a:p>
            <a:pPr marL="0" indent="0" algn="ctr">
              <a:buNone/>
            </a:pPr>
            <a:r>
              <a:rPr lang="en-US" sz="850" dirty="0">
                <a:solidFill>
                  <a:srgbClr val="546E6E"/>
                </a:solidFill>
                <a:latin typeface="Arial" pitchFamily="34" charset="0"/>
                <a:ea typeface="Arial" pitchFamily="34" charset="-122"/>
                <a:cs typeface="Arial" pitchFamily="34" charset="-120"/>
              </a:rPr>
              <a:t>lignes chargées</a:t>
            </a:r>
            <a:endParaRPr lang="en-US" sz="850" dirty="0"/>
          </a:p>
        </p:txBody>
      </p:sp>
      <p:sp>
        <p:nvSpPr>
          <p:cNvPr id="15" name="Shape 12"/>
          <p:cNvSpPr/>
          <p:nvPr/>
        </p:nvSpPr>
        <p:spPr>
          <a:xfrm>
            <a:off x="6656832" y="2798064"/>
            <a:ext cx="2240280" cy="208483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16" name="Text 13"/>
          <p:cNvSpPr/>
          <p:nvPr/>
        </p:nvSpPr>
        <p:spPr>
          <a:xfrm>
            <a:off x="6729984" y="2834640"/>
            <a:ext cx="2103120" cy="2011680"/>
          </a:xfrm>
          <a:prstGeom prst="rect">
            <a:avLst/>
          </a:prstGeom>
          <a:noFill/>
          <a:ln/>
        </p:spPr>
        <p:txBody>
          <a:bodyPr wrap="square" rtlCol="0" anchor="ctr"/>
          <a:lstStyle/>
          <a:p>
            <a:pPr marL="0" indent="0">
              <a:buNone/>
            </a:pPr>
            <a:r>
              <a:rPr lang="en-US" sz="850" dirty="0">
                <a:solidFill>
                  <a:srgbClr val="1C3838"/>
                </a:solidFill>
                <a:latin typeface="Arial" pitchFamily="34" charset="0"/>
                <a:ea typeface="Arial" pitchFamily="34" charset="-122"/>
                <a:cs typeface="Arial" pitchFamily="34" charset="-120"/>
              </a:rPr>
              <a:t>Table géographique. Clé primaire concaténée id_codedep_codecommune = code_dep + code_commune (ex : 34172 pour Montpellier). Clé étrangère id_region vers region.</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Base de données — Table bien_immo</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256032" y="749808"/>
            <a:ext cx="6217920" cy="4133088"/>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6" name="Shape 4"/>
          <p:cNvSpPr/>
          <p:nvPr/>
        </p:nvSpPr>
        <p:spPr>
          <a:xfrm>
            <a:off x="256032" y="749808"/>
            <a:ext cx="6217920" cy="301752"/>
          </a:xfrm>
          <a:prstGeom prst="rect">
            <a:avLst/>
          </a:prstGeom>
          <a:solidFill>
            <a:srgbClr val="1A2F2F"/>
          </a:solidFill>
          <a:ln w="12700">
            <a:solidFill>
              <a:srgbClr val="1A2F2F"/>
            </a:solidFill>
            <a:prstDash val="solid"/>
          </a:ln>
        </p:spPr>
        <p:txBody>
          <a:bodyPr/>
          <a:lstStyle/>
          <a:p>
            <a:endParaRPr lang="en-FR"/>
          </a:p>
        </p:txBody>
      </p:sp>
      <p:sp>
        <p:nvSpPr>
          <p:cNvPr id="7" name="Text 5"/>
          <p:cNvSpPr/>
          <p:nvPr/>
        </p:nvSpPr>
        <p:spPr>
          <a:xfrm>
            <a:off x="347472" y="749808"/>
            <a:ext cx="6035040" cy="301752"/>
          </a:xfrm>
          <a:prstGeom prst="rect">
            <a:avLst/>
          </a:prstGeom>
          <a:noFill/>
          <a:ln/>
        </p:spPr>
        <p:txBody>
          <a:bodyPr wrap="square" rtlCol="0" anchor="ctr"/>
          <a:lstStyle/>
          <a:p>
            <a:pPr marL="0" indent="0">
              <a:buNone/>
            </a:pPr>
            <a:r>
              <a:rPr lang="en-US" sz="950" b="1" dirty="0">
                <a:solidFill>
                  <a:srgbClr val="1ABBA3"/>
                </a:solidFill>
                <a:latin typeface="Arial" pitchFamily="34" charset="0"/>
                <a:ea typeface="Arial" pitchFamily="34" charset="-122"/>
                <a:cs typeface="Arial" pitchFamily="34" charset="-120"/>
              </a:rPr>
              <a:t>SQLiteStudio — bien_immo</a:t>
            </a:r>
            <a:endParaRPr lang="en-US" sz="950" dirty="0"/>
          </a:p>
        </p:txBody>
      </p:sp>
      <p:pic>
        <p:nvPicPr>
          <p:cNvPr id="8" name="Image 0" descr="preencoded.png"/>
          <p:cNvPicPr>
            <a:picLocks noChangeAspect="1"/>
          </p:cNvPicPr>
          <p:nvPr/>
        </p:nvPicPr>
        <p:blipFill>
          <a:blip r:embed="rId3"/>
          <a:srcRect/>
          <a:stretch/>
        </p:blipFill>
        <p:spPr>
          <a:xfrm>
            <a:off x="301752" y="1078992"/>
            <a:ext cx="6108192" cy="3749040"/>
          </a:xfrm>
          <a:prstGeom prst="rect">
            <a:avLst/>
          </a:prstGeom>
        </p:spPr>
      </p:pic>
      <p:sp>
        <p:nvSpPr>
          <p:cNvPr id="9" name="Shape 6"/>
          <p:cNvSpPr/>
          <p:nvPr/>
        </p:nvSpPr>
        <p:spPr>
          <a:xfrm>
            <a:off x="6656832" y="749808"/>
            <a:ext cx="2240280" cy="1920240"/>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10" name="Shape 7"/>
          <p:cNvSpPr/>
          <p:nvPr/>
        </p:nvSpPr>
        <p:spPr>
          <a:xfrm>
            <a:off x="6656832" y="749808"/>
            <a:ext cx="2240280" cy="329184"/>
          </a:xfrm>
          <a:prstGeom prst="rect">
            <a:avLst/>
          </a:prstGeom>
          <a:solidFill>
            <a:srgbClr val="158F7E"/>
          </a:solidFill>
          <a:ln w="12700">
            <a:solidFill>
              <a:srgbClr val="158F7E"/>
            </a:solidFill>
            <a:prstDash val="solid"/>
          </a:ln>
        </p:spPr>
        <p:txBody>
          <a:bodyPr/>
          <a:lstStyle/>
          <a:p>
            <a:endParaRPr lang="en-FR"/>
          </a:p>
        </p:txBody>
      </p:sp>
      <p:sp>
        <p:nvSpPr>
          <p:cNvPr id="11" name="Text 8"/>
          <p:cNvSpPr/>
          <p:nvPr/>
        </p:nvSpPr>
        <p:spPr>
          <a:xfrm>
            <a:off x="6748272" y="749808"/>
            <a:ext cx="2057400" cy="301752"/>
          </a:xfrm>
          <a:prstGeom prst="rect">
            <a:avLst/>
          </a:prstGeom>
          <a:noFill/>
          <a:ln/>
        </p:spPr>
        <p:txBody>
          <a:bodyPr wrap="square" rtlCol="0" anchor="ctr"/>
          <a:lstStyle/>
          <a:p>
            <a:pPr marL="0" indent="0">
              <a:buNone/>
            </a:pPr>
            <a:r>
              <a:rPr lang="en-US" sz="850" b="1" dirty="0">
                <a:solidFill>
                  <a:srgbClr val="FFFFFF"/>
                </a:solidFill>
                <a:latin typeface="Courier New" pitchFamily="34" charset="0"/>
                <a:ea typeface="Courier New" pitchFamily="34" charset="-122"/>
                <a:cs typeface="Courier New" pitchFamily="34" charset="-120"/>
              </a:rPr>
              <a:t>SELECT COUNT(*)</a:t>
            </a:r>
            <a:endParaRPr lang="en-US" sz="850" dirty="0"/>
          </a:p>
        </p:txBody>
      </p:sp>
      <p:sp>
        <p:nvSpPr>
          <p:cNvPr id="12" name="Shape 9"/>
          <p:cNvSpPr/>
          <p:nvPr/>
        </p:nvSpPr>
        <p:spPr>
          <a:xfrm>
            <a:off x="6784848" y="1170432"/>
            <a:ext cx="2029968" cy="1005840"/>
          </a:xfrm>
          <a:prstGeom prst="rect">
            <a:avLst/>
          </a:prstGeom>
          <a:solidFill>
            <a:srgbClr val="EAF5F4"/>
          </a:solidFill>
          <a:ln w="6350">
            <a:solidFill>
              <a:srgbClr val="D0E8E6"/>
            </a:solidFill>
            <a:prstDash val="solid"/>
          </a:ln>
        </p:spPr>
        <p:txBody>
          <a:bodyPr/>
          <a:lstStyle/>
          <a:p>
            <a:endParaRPr lang="en-FR"/>
          </a:p>
        </p:txBody>
      </p:sp>
      <p:sp>
        <p:nvSpPr>
          <p:cNvPr id="13" name="Text 10"/>
          <p:cNvSpPr/>
          <p:nvPr/>
        </p:nvSpPr>
        <p:spPr>
          <a:xfrm>
            <a:off x="6784848" y="1170432"/>
            <a:ext cx="2029968" cy="640080"/>
          </a:xfrm>
          <a:prstGeom prst="rect">
            <a:avLst/>
          </a:prstGeom>
          <a:noFill/>
          <a:ln/>
        </p:spPr>
        <p:txBody>
          <a:bodyPr wrap="square" rtlCol="0" anchor="ctr"/>
          <a:lstStyle/>
          <a:p>
            <a:pPr marL="0" indent="0" algn="ctr">
              <a:buNone/>
            </a:pPr>
            <a:r>
              <a:rPr lang="en-US" sz="2800" b="1" dirty="0">
                <a:solidFill>
                  <a:srgbClr val="158F7E"/>
                </a:solidFill>
                <a:latin typeface="Arial" pitchFamily="34" charset="0"/>
                <a:ea typeface="Arial" pitchFamily="34" charset="-122"/>
                <a:cs typeface="Arial" pitchFamily="34" charset="-120"/>
              </a:rPr>
              <a:t>1 107</a:t>
            </a:r>
            <a:endParaRPr lang="en-US" sz="2800" dirty="0"/>
          </a:p>
        </p:txBody>
      </p:sp>
      <p:sp>
        <p:nvSpPr>
          <p:cNvPr id="14" name="Text 11"/>
          <p:cNvSpPr/>
          <p:nvPr/>
        </p:nvSpPr>
        <p:spPr>
          <a:xfrm>
            <a:off x="6784848" y="1719072"/>
            <a:ext cx="2029968" cy="365760"/>
          </a:xfrm>
          <a:prstGeom prst="rect">
            <a:avLst/>
          </a:prstGeom>
          <a:noFill/>
          <a:ln/>
        </p:spPr>
        <p:txBody>
          <a:bodyPr wrap="square" rtlCol="0" anchor="ctr"/>
          <a:lstStyle/>
          <a:p>
            <a:pPr marL="0" indent="0" algn="ctr">
              <a:buNone/>
            </a:pPr>
            <a:r>
              <a:rPr lang="en-US" sz="850" dirty="0">
                <a:solidFill>
                  <a:srgbClr val="546E6E"/>
                </a:solidFill>
                <a:latin typeface="Arial" pitchFamily="34" charset="0"/>
                <a:ea typeface="Arial" pitchFamily="34" charset="-122"/>
                <a:cs typeface="Arial" pitchFamily="34" charset="-120"/>
              </a:rPr>
              <a:t>lignes chargées</a:t>
            </a:r>
            <a:endParaRPr lang="en-US" sz="850" dirty="0"/>
          </a:p>
        </p:txBody>
      </p:sp>
      <p:sp>
        <p:nvSpPr>
          <p:cNvPr id="15" name="Shape 12"/>
          <p:cNvSpPr/>
          <p:nvPr/>
        </p:nvSpPr>
        <p:spPr>
          <a:xfrm>
            <a:off x="6656832" y="2798064"/>
            <a:ext cx="2240280" cy="208483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16" name="Text 13"/>
          <p:cNvSpPr/>
          <p:nvPr/>
        </p:nvSpPr>
        <p:spPr>
          <a:xfrm>
            <a:off x="6729984" y="2834640"/>
            <a:ext cx="2103120" cy="2011680"/>
          </a:xfrm>
          <a:prstGeom prst="rect">
            <a:avLst/>
          </a:prstGeom>
          <a:noFill/>
          <a:ln/>
        </p:spPr>
        <p:txBody>
          <a:bodyPr wrap="square" rtlCol="0" anchor="ctr"/>
          <a:lstStyle/>
          <a:p>
            <a:pPr marL="0" indent="0">
              <a:buNone/>
            </a:pPr>
            <a:r>
              <a:rPr lang="en-US" sz="850" dirty="0">
                <a:solidFill>
                  <a:srgbClr val="1C3838"/>
                </a:solidFill>
                <a:latin typeface="Arial" pitchFamily="34" charset="0"/>
                <a:ea typeface="Arial" pitchFamily="34" charset="-122"/>
                <a:cs typeface="Arial" pitchFamily="34" charset="-120"/>
              </a:rPr>
              <a:t>Table principale du bien. Colonnes d'adresse (No_voie, Voie, Type_de_voie) supprimées : données personnelles RGPD et non nécessaires pour les requêtes analytiques.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Base de données — Table vente</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256032" y="749808"/>
            <a:ext cx="6217920" cy="4133088"/>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6" name="Shape 4"/>
          <p:cNvSpPr/>
          <p:nvPr/>
        </p:nvSpPr>
        <p:spPr>
          <a:xfrm>
            <a:off x="256032" y="749808"/>
            <a:ext cx="6217920" cy="301752"/>
          </a:xfrm>
          <a:prstGeom prst="rect">
            <a:avLst/>
          </a:prstGeom>
          <a:solidFill>
            <a:srgbClr val="1A2F2F"/>
          </a:solidFill>
          <a:ln w="12700">
            <a:solidFill>
              <a:srgbClr val="1A2F2F"/>
            </a:solidFill>
            <a:prstDash val="solid"/>
          </a:ln>
        </p:spPr>
        <p:txBody>
          <a:bodyPr/>
          <a:lstStyle/>
          <a:p>
            <a:endParaRPr lang="en-FR"/>
          </a:p>
        </p:txBody>
      </p:sp>
      <p:sp>
        <p:nvSpPr>
          <p:cNvPr id="7" name="Text 5"/>
          <p:cNvSpPr/>
          <p:nvPr/>
        </p:nvSpPr>
        <p:spPr>
          <a:xfrm>
            <a:off x="347472" y="749808"/>
            <a:ext cx="6035040" cy="301752"/>
          </a:xfrm>
          <a:prstGeom prst="rect">
            <a:avLst/>
          </a:prstGeom>
          <a:noFill/>
          <a:ln/>
        </p:spPr>
        <p:txBody>
          <a:bodyPr wrap="square" rtlCol="0" anchor="ctr"/>
          <a:lstStyle/>
          <a:p>
            <a:pPr marL="0" indent="0">
              <a:buNone/>
            </a:pPr>
            <a:r>
              <a:rPr lang="en-US" sz="950" b="1" dirty="0">
                <a:solidFill>
                  <a:srgbClr val="1ABBA3"/>
                </a:solidFill>
                <a:latin typeface="Arial" pitchFamily="34" charset="0"/>
                <a:ea typeface="Arial" pitchFamily="34" charset="-122"/>
                <a:cs typeface="Arial" pitchFamily="34" charset="-120"/>
              </a:rPr>
              <a:t>SQLiteStudio — vente</a:t>
            </a:r>
            <a:endParaRPr lang="en-US" sz="950" dirty="0"/>
          </a:p>
        </p:txBody>
      </p:sp>
      <p:pic>
        <p:nvPicPr>
          <p:cNvPr id="8" name="Image 0" descr="preencoded.png"/>
          <p:cNvPicPr>
            <a:picLocks noChangeAspect="1"/>
          </p:cNvPicPr>
          <p:nvPr/>
        </p:nvPicPr>
        <p:blipFill>
          <a:blip r:embed="rId3"/>
          <a:srcRect/>
          <a:stretch/>
        </p:blipFill>
        <p:spPr>
          <a:xfrm>
            <a:off x="301752" y="1078992"/>
            <a:ext cx="6108192" cy="3749040"/>
          </a:xfrm>
          <a:prstGeom prst="rect">
            <a:avLst/>
          </a:prstGeom>
        </p:spPr>
      </p:pic>
      <p:sp>
        <p:nvSpPr>
          <p:cNvPr id="9" name="Shape 6"/>
          <p:cNvSpPr/>
          <p:nvPr/>
        </p:nvSpPr>
        <p:spPr>
          <a:xfrm>
            <a:off x="6656832" y="749808"/>
            <a:ext cx="2240280" cy="1920240"/>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10" name="Shape 7"/>
          <p:cNvSpPr/>
          <p:nvPr/>
        </p:nvSpPr>
        <p:spPr>
          <a:xfrm>
            <a:off x="6656832" y="749808"/>
            <a:ext cx="2240280" cy="329184"/>
          </a:xfrm>
          <a:prstGeom prst="rect">
            <a:avLst/>
          </a:prstGeom>
          <a:solidFill>
            <a:srgbClr val="158F7E"/>
          </a:solidFill>
          <a:ln w="12700">
            <a:solidFill>
              <a:srgbClr val="158F7E"/>
            </a:solidFill>
            <a:prstDash val="solid"/>
          </a:ln>
        </p:spPr>
        <p:txBody>
          <a:bodyPr/>
          <a:lstStyle/>
          <a:p>
            <a:endParaRPr lang="en-FR"/>
          </a:p>
        </p:txBody>
      </p:sp>
      <p:sp>
        <p:nvSpPr>
          <p:cNvPr id="11" name="Text 8"/>
          <p:cNvSpPr/>
          <p:nvPr/>
        </p:nvSpPr>
        <p:spPr>
          <a:xfrm>
            <a:off x="6748272" y="749808"/>
            <a:ext cx="2057400" cy="301752"/>
          </a:xfrm>
          <a:prstGeom prst="rect">
            <a:avLst/>
          </a:prstGeom>
          <a:noFill/>
          <a:ln/>
        </p:spPr>
        <p:txBody>
          <a:bodyPr wrap="square" rtlCol="0" anchor="ctr"/>
          <a:lstStyle/>
          <a:p>
            <a:pPr marL="0" indent="0">
              <a:buNone/>
            </a:pPr>
            <a:r>
              <a:rPr lang="en-US" sz="850" b="1" dirty="0">
                <a:solidFill>
                  <a:srgbClr val="FFFFFF"/>
                </a:solidFill>
                <a:latin typeface="Courier New" pitchFamily="34" charset="0"/>
                <a:ea typeface="Courier New" pitchFamily="34" charset="-122"/>
                <a:cs typeface="Courier New" pitchFamily="34" charset="-120"/>
              </a:rPr>
              <a:t>SELECT COUNT(*)</a:t>
            </a:r>
            <a:endParaRPr lang="en-US" sz="850" dirty="0"/>
          </a:p>
        </p:txBody>
      </p:sp>
      <p:sp>
        <p:nvSpPr>
          <p:cNvPr id="12" name="Shape 9"/>
          <p:cNvSpPr/>
          <p:nvPr/>
        </p:nvSpPr>
        <p:spPr>
          <a:xfrm>
            <a:off x="6784848" y="1170432"/>
            <a:ext cx="2029968" cy="1005840"/>
          </a:xfrm>
          <a:prstGeom prst="rect">
            <a:avLst/>
          </a:prstGeom>
          <a:solidFill>
            <a:srgbClr val="EAF5F4"/>
          </a:solidFill>
          <a:ln w="6350">
            <a:solidFill>
              <a:srgbClr val="D0E8E6"/>
            </a:solidFill>
            <a:prstDash val="solid"/>
          </a:ln>
        </p:spPr>
        <p:txBody>
          <a:bodyPr/>
          <a:lstStyle/>
          <a:p>
            <a:endParaRPr lang="en-FR"/>
          </a:p>
        </p:txBody>
      </p:sp>
      <p:sp>
        <p:nvSpPr>
          <p:cNvPr id="13" name="Text 10"/>
          <p:cNvSpPr/>
          <p:nvPr/>
        </p:nvSpPr>
        <p:spPr>
          <a:xfrm>
            <a:off x="6784848" y="1170432"/>
            <a:ext cx="2029968" cy="640080"/>
          </a:xfrm>
          <a:prstGeom prst="rect">
            <a:avLst/>
          </a:prstGeom>
          <a:noFill/>
          <a:ln/>
        </p:spPr>
        <p:txBody>
          <a:bodyPr wrap="square" rtlCol="0" anchor="ctr"/>
          <a:lstStyle/>
          <a:p>
            <a:pPr marL="0" indent="0" algn="ctr">
              <a:buNone/>
            </a:pPr>
            <a:r>
              <a:rPr lang="en-US" sz="2800" b="1" dirty="0">
                <a:solidFill>
                  <a:srgbClr val="158F7E"/>
                </a:solidFill>
                <a:latin typeface="Arial" pitchFamily="34" charset="0"/>
                <a:ea typeface="Arial" pitchFamily="34" charset="-122"/>
                <a:cs typeface="Arial" pitchFamily="34" charset="-120"/>
              </a:rPr>
              <a:t>1 047</a:t>
            </a:r>
            <a:endParaRPr lang="en-US" sz="2800" dirty="0"/>
          </a:p>
        </p:txBody>
      </p:sp>
      <p:sp>
        <p:nvSpPr>
          <p:cNvPr id="14" name="Text 11"/>
          <p:cNvSpPr/>
          <p:nvPr/>
        </p:nvSpPr>
        <p:spPr>
          <a:xfrm>
            <a:off x="6784848" y="1719072"/>
            <a:ext cx="2029968" cy="365760"/>
          </a:xfrm>
          <a:prstGeom prst="rect">
            <a:avLst/>
          </a:prstGeom>
          <a:noFill/>
          <a:ln/>
        </p:spPr>
        <p:txBody>
          <a:bodyPr wrap="square" rtlCol="0" anchor="ctr"/>
          <a:lstStyle/>
          <a:p>
            <a:pPr marL="0" indent="0" algn="ctr">
              <a:buNone/>
            </a:pPr>
            <a:r>
              <a:rPr lang="en-US" sz="850" dirty="0">
                <a:solidFill>
                  <a:srgbClr val="546E6E"/>
                </a:solidFill>
                <a:latin typeface="Arial" pitchFamily="34" charset="0"/>
                <a:ea typeface="Arial" pitchFamily="34" charset="-122"/>
                <a:cs typeface="Arial" pitchFamily="34" charset="-120"/>
              </a:rPr>
              <a:t>lignes chargées</a:t>
            </a:r>
            <a:endParaRPr lang="en-US" sz="850" dirty="0"/>
          </a:p>
        </p:txBody>
      </p:sp>
      <p:sp>
        <p:nvSpPr>
          <p:cNvPr id="15" name="Shape 12"/>
          <p:cNvSpPr/>
          <p:nvPr/>
        </p:nvSpPr>
        <p:spPr>
          <a:xfrm>
            <a:off x="6656832" y="2798064"/>
            <a:ext cx="2240280" cy="208483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16" name="Text 13"/>
          <p:cNvSpPr/>
          <p:nvPr/>
        </p:nvSpPr>
        <p:spPr>
          <a:xfrm>
            <a:off x="6729984" y="2834640"/>
            <a:ext cx="2103120" cy="2011680"/>
          </a:xfrm>
          <a:prstGeom prst="rect">
            <a:avLst/>
          </a:prstGeom>
          <a:noFill/>
          <a:ln/>
        </p:spPr>
        <p:txBody>
          <a:bodyPr wrap="square" rtlCol="0" anchor="ctr"/>
          <a:lstStyle/>
          <a:p>
            <a:pPr marL="0" indent="0">
              <a:buNone/>
            </a:pPr>
            <a:r>
              <a:rPr lang="en-US" sz="850" dirty="0">
                <a:solidFill>
                  <a:srgbClr val="1C3838"/>
                </a:solidFill>
                <a:latin typeface="Arial" pitchFamily="34" charset="0"/>
                <a:ea typeface="Arial" pitchFamily="34" charset="-122"/>
                <a:cs typeface="Arial" pitchFamily="34" charset="-120"/>
              </a:rPr>
              <a:t>Table de transaction. Chaque ligne = 1 vente. Clé étrangère Id_bien vers bien_immo. Valeur_fonciere exprimée en euros.</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Requêtes Q1 &amp; Q2</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4599432" y="713232"/>
            <a:ext cx="0" cy="4389120"/>
          </a:xfrm>
          <a:prstGeom prst="line">
            <a:avLst/>
          </a:prstGeom>
          <a:noFill/>
          <a:ln w="12700">
            <a:solidFill>
              <a:srgbClr val="D0E8E6"/>
            </a:solidFill>
            <a:prstDash val="solid"/>
          </a:ln>
        </p:spPr>
        <p:txBody>
          <a:bodyPr/>
          <a:lstStyle/>
          <a:p>
            <a:endParaRPr lang="en-FR"/>
          </a:p>
        </p:txBody>
      </p:sp>
      <p:sp>
        <p:nvSpPr>
          <p:cNvPr id="6" name="Shape 4"/>
          <p:cNvSpPr/>
          <p:nvPr/>
        </p:nvSpPr>
        <p:spPr>
          <a:xfrm>
            <a:off x="256032" y="749808"/>
            <a:ext cx="457200" cy="228600"/>
          </a:xfrm>
          <a:prstGeom prst="rect">
            <a:avLst/>
          </a:prstGeom>
          <a:solidFill>
            <a:srgbClr val="158F7E"/>
          </a:solidFill>
          <a:ln w="12700">
            <a:solidFill>
              <a:srgbClr val="158F7E"/>
            </a:solidFill>
            <a:prstDash val="solid"/>
          </a:ln>
        </p:spPr>
        <p:txBody>
          <a:bodyPr/>
          <a:lstStyle/>
          <a:p>
            <a:endParaRPr lang="en-FR"/>
          </a:p>
        </p:txBody>
      </p:sp>
      <p:sp>
        <p:nvSpPr>
          <p:cNvPr id="7" name="Text 5"/>
          <p:cNvSpPr/>
          <p:nvPr/>
        </p:nvSpPr>
        <p:spPr>
          <a:xfrm>
            <a:off x="256032" y="749808"/>
            <a:ext cx="457200" cy="228600"/>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Q1</a:t>
            </a:r>
            <a:endParaRPr lang="en-US" sz="800" dirty="0"/>
          </a:p>
        </p:txBody>
      </p:sp>
      <p:sp>
        <p:nvSpPr>
          <p:cNvPr id="8" name="Text 6"/>
          <p:cNvSpPr/>
          <p:nvPr/>
        </p:nvSpPr>
        <p:spPr>
          <a:xfrm>
            <a:off x="768096" y="749808"/>
            <a:ext cx="3703320" cy="228600"/>
          </a:xfrm>
          <a:prstGeom prst="rect">
            <a:avLst/>
          </a:prstGeom>
          <a:noFill/>
          <a:ln/>
        </p:spPr>
        <p:txBody>
          <a:bodyPr wrap="square" rtlCol="0" anchor="ctr"/>
          <a:lstStyle/>
          <a:p>
            <a:pPr marL="0" indent="0">
              <a:buNone/>
            </a:pPr>
            <a:r>
              <a:rPr lang="en-US" sz="950" b="1" dirty="0">
                <a:solidFill>
                  <a:srgbClr val="1C3838"/>
                </a:solidFill>
                <a:latin typeface="Arial" pitchFamily="34" charset="0"/>
                <a:ea typeface="Arial" pitchFamily="34" charset="-122"/>
                <a:cs typeface="Arial" pitchFamily="34" charset="-120"/>
              </a:rPr>
              <a:t>Nombre total d'appartements vendus au 1er semestre 2020</a:t>
            </a:r>
            <a:endParaRPr lang="en-US" sz="950" dirty="0"/>
          </a:p>
        </p:txBody>
      </p:sp>
      <p:sp>
        <p:nvSpPr>
          <p:cNvPr id="9" name="Shape 7"/>
          <p:cNvSpPr/>
          <p:nvPr/>
        </p:nvSpPr>
        <p:spPr>
          <a:xfrm>
            <a:off x="256032" y="1024128"/>
            <a:ext cx="4251960" cy="354787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pic>
        <p:nvPicPr>
          <p:cNvPr id="10" name="Image 0" descr="preencoded.png"/>
          <p:cNvPicPr>
            <a:picLocks noChangeAspect="1"/>
          </p:cNvPicPr>
          <p:nvPr/>
        </p:nvPicPr>
        <p:blipFill>
          <a:blip r:embed="rId3"/>
          <a:srcRect/>
          <a:stretch/>
        </p:blipFill>
        <p:spPr>
          <a:xfrm>
            <a:off x="301752" y="1051560"/>
            <a:ext cx="4160520" cy="3429000"/>
          </a:xfrm>
          <a:prstGeom prst="rect">
            <a:avLst/>
          </a:prstGeom>
        </p:spPr>
      </p:pic>
      <p:sp>
        <p:nvSpPr>
          <p:cNvPr id="11" name="Text 8"/>
          <p:cNvSpPr/>
          <p:nvPr/>
        </p:nvSpPr>
        <p:spPr>
          <a:xfrm>
            <a:off x="256032" y="4608576"/>
            <a:ext cx="4251960" cy="438912"/>
          </a:xfrm>
          <a:prstGeom prst="rect">
            <a:avLst/>
          </a:prstGeom>
          <a:noFill/>
          <a:ln/>
        </p:spPr>
        <p:txBody>
          <a:bodyPr wrap="square" rtlCol="0" anchor="ctr"/>
          <a:lstStyle/>
          <a:p>
            <a:pPr marL="0" indent="0">
              <a:buNone/>
            </a:pPr>
            <a:r>
              <a:rPr lang="en-US" sz="800" i="1" dirty="0">
                <a:solidFill>
                  <a:srgbClr val="546E6E"/>
                </a:solidFill>
                <a:latin typeface="Arial" pitchFamily="34" charset="0"/>
                <a:ea typeface="Arial" pitchFamily="34" charset="-122"/>
                <a:cs typeface="Arial" pitchFamily="34" charset="-120"/>
              </a:rPr>
              <a:t>→ 968 appartements vendus au S1 2020, soit la quasi-totalité des 1 047 transactions de la base.</a:t>
            </a:r>
            <a:endParaRPr lang="en-US" sz="800" dirty="0"/>
          </a:p>
        </p:txBody>
      </p:sp>
      <p:sp>
        <p:nvSpPr>
          <p:cNvPr id="12" name="Shape 9"/>
          <p:cNvSpPr/>
          <p:nvPr/>
        </p:nvSpPr>
        <p:spPr>
          <a:xfrm>
            <a:off x="4681728" y="749808"/>
            <a:ext cx="457200" cy="228600"/>
          </a:xfrm>
          <a:prstGeom prst="rect">
            <a:avLst/>
          </a:prstGeom>
          <a:solidFill>
            <a:srgbClr val="158F7E"/>
          </a:solidFill>
          <a:ln w="12700">
            <a:solidFill>
              <a:srgbClr val="158F7E"/>
            </a:solidFill>
            <a:prstDash val="solid"/>
          </a:ln>
        </p:spPr>
        <p:txBody>
          <a:bodyPr/>
          <a:lstStyle/>
          <a:p>
            <a:endParaRPr lang="en-FR"/>
          </a:p>
        </p:txBody>
      </p:sp>
      <p:sp>
        <p:nvSpPr>
          <p:cNvPr id="13" name="Text 10"/>
          <p:cNvSpPr/>
          <p:nvPr/>
        </p:nvSpPr>
        <p:spPr>
          <a:xfrm>
            <a:off x="4681728" y="749808"/>
            <a:ext cx="457200" cy="228600"/>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Q2</a:t>
            </a:r>
            <a:endParaRPr lang="en-US" sz="800" dirty="0"/>
          </a:p>
        </p:txBody>
      </p:sp>
      <p:sp>
        <p:nvSpPr>
          <p:cNvPr id="14" name="Text 11"/>
          <p:cNvSpPr/>
          <p:nvPr/>
        </p:nvSpPr>
        <p:spPr>
          <a:xfrm>
            <a:off x="5193792" y="749808"/>
            <a:ext cx="3666744" cy="228600"/>
          </a:xfrm>
          <a:prstGeom prst="rect">
            <a:avLst/>
          </a:prstGeom>
          <a:noFill/>
          <a:ln/>
        </p:spPr>
        <p:txBody>
          <a:bodyPr wrap="square" rtlCol="0" anchor="ctr"/>
          <a:lstStyle/>
          <a:p>
            <a:pPr marL="0" indent="0">
              <a:buNone/>
            </a:pPr>
            <a:r>
              <a:rPr lang="en-US" sz="950" b="1" dirty="0">
                <a:solidFill>
                  <a:srgbClr val="1C3838"/>
                </a:solidFill>
                <a:latin typeface="Arial" pitchFamily="34" charset="0"/>
                <a:ea typeface="Arial" pitchFamily="34" charset="-122"/>
                <a:cs typeface="Arial" pitchFamily="34" charset="-120"/>
              </a:rPr>
              <a:t>Nombre de ventes d'appartements par région — 1er semestre 2020</a:t>
            </a:r>
            <a:endParaRPr lang="en-US" sz="950" dirty="0"/>
          </a:p>
        </p:txBody>
      </p:sp>
      <p:sp>
        <p:nvSpPr>
          <p:cNvPr id="15" name="Shape 12"/>
          <p:cNvSpPr/>
          <p:nvPr/>
        </p:nvSpPr>
        <p:spPr>
          <a:xfrm>
            <a:off x="4681728" y="1024128"/>
            <a:ext cx="4215384" cy="354787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pic>
        <p:nvPicPr>
          <p:cNvPr id="16" name="Image 1" descr="preencoded.png"/>
          <p:cNvPicPr>
            <a:picLocks noChangeAspect="1"/>
          </p:cNvPicPr>
          <p:nvPr/>
        </p:nvPicPr>
        <p:blipFill>
          <a:blip r:embed="rId4"/>
          <a:srcRect/>
          <a:stretch/>
        </p:blipFill>
        <p:spPr>
          <a:xfrm>
            <a:off x="4727448" y="1051560"/>
            <a:ext cx="4123944" cy="3429000"/>
          </a:xfrm>
          <a:prstGeom prst="rect">
            <a:avLst/>
          </a:prstGeom>
        </p:spPr>
      </p:pic>
      <p:sp>
        <p:nvSpPr>
          <p:cNvPr id="17" name="Text 13"/>
          <p:cNvSpPr/>
          <p:nvPr/>
        </p:nvSpPr>
        <p:spPr>
          <a:xfrm>
            <a:off x="4681728" y="4608576"/>
            <a:ext cx="4215384" cy="438912"/>
          </a:xfrm>
          <a:prstGeom prst="rect">
            <a:avLst/>
          </a:prstGeom>
          <a:noFill/>
          <a:ln/>
        </p:spPr>
        <p:txBody>
          <a:bodyPr wrap="square" rtlCol="0" anchor="ctr"/>
          <a:lstStyle/>
          <a:p>
            <a:pPr marL="0" indent="0">
              <a:buNone/>
            </a:pPr>
            <a:r>
              <a:rPr lang="en-US" sz="800" i="1" dirty="0">
                <a:solidFill>
                  <a:srgbClr val="546E6E"/>
                </a:solidFill>
                <a:latin typeface="Arial" pitchFamily="34" charset="0"/>
                <a:ea typeface="Arial" pitchFamily="34" charset="-122"/>
                <a:cs typeface="Arial" pitchFamily="34" charset="-120"/>
              </a:rPr>
              <a:t>→ L'Île-de-France représente 42 % des ventes. Le marché est très concentré sur 3 régions : IDF, PACA et ARA.</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Requêtes Q3 &amp; Q4</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4599432" y="713232"/>
            <a:ext cx="0" cy="4389120"/>
          </a:xfrm>
          <a:prstGeom prst="line">
            <a:avLst/>
          </a:prstGeom>
          <a:noFill/>
          <a:ln w="12700">
            <a:solidFill>
              <a:srgbClr val="D0E8E6"/>
            </a:solidFill>
            <a:prstDash val="solid"/>
          </a:ln>
        </p:spPr>
        <p:txBody>
          <a:bodyPr/>
          <a:lstStyle/>
          <a:p>
            <a:endParaRPr lang="en-FR"/>
          </a:p>
        </p:txBody>
      </p:sp>
      <p:sp>
        <p:nvSpPr>
          <p:cNvPr id="6" name="Shape 4"/>
          <p:cNvSpPr/>
          <p:nvPr/>
        </p:nvSpPr>
        <p:spPr>
          <a:xfrm>
            <a:off x="256032" y="749808"/>
            <a:ext cx="457200" cy="228600"/>
          </a:xfrm>
          <a:prstGeom prst="rect">
            <a:avLst/>
          </a:prstGeom>
          <a:solidFill>
            <a:srgbClr val="158F7E"/>
          </a:solidFill>
          <a:ln w="12700">
            <a:solidFill>
              <a:srgbClr val="158F7E"/>
            </a:solidFill>
            <a:prstDash val="solid"/>
          </a:ln>
        </p:spPr>
        <p:txBody>
          <a:bodyPr/>
          <a:lstStyle/>
          <a:p>
            <a:endParaRPr lang="en-FR"/>
          </a:p>
        </p:txBody>
      </p:sp>
      <p:sp>
        <p:nvSpPr>
          <p:cNvPr id="7" name="Text 5"/>
          <p:cNvSpPr/>
          <p:nvPr/>
        </p:nvSpPr>
        <p:spPr>
          <a:xfrm>
            <a:off x="256032" y="749808"/>
            <a:ext cx="457200" cy="228600"/>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Q3</a:t>
            </a:r>
            <a:endParaRPr lang="en-US" sz="800" dirty="0"/>
          </a:p>
        </p:txBody>
      </p:sp>
      <p:sp>
        <p:nvSpPr>
          <p:cNvPr id="8" name="Text 6"/>
          <p:cNvSpPr/>
          <p:nvPr/>
        </p:nvSpPr>
        <p:spPr>
          <a:xfrm>
            <a:off x="768096" y="749808"/>
            <a:ext cx="3703320" cy="228600"/>
          </a:xfrm>
          <a:prstGeom prst="rect">
            <a:avLst/>
          </a:prstGeom>
          <a:noFill/>
          <a:ln/>
        </p:spPr>
        <p:txBody>
          <a:bodyPr wrap="square" rtlCol="0" anchor="ctr"/>
          <a:lstStyle/>
          <a:p>
            <a:pPr marL="0" indent="0">
              <a:buNone/>
            </a:pPr>
            <a:r>
              <a:rPr lang="en-US" sz="950" b="1" dirty="0">
                <a:solidFill>
                  <a:srgbClr val="1C3838"/>
                </a:solidFill>
                <a:latin typeface="Arial" pitchFamily="34" charset="0"/>
                <a:ea typeface="Arial" pitchFamily="34" charset="-122"/>
                <a:cs typeface="Arial" pitchFamily="34" charset="-120"/>
              </a:rPr>
              <a:t>Proportion des ventes d'appartements par nombre de pièces</a:t>
            </a:r>
            <a:endParaRPr lang="en-US" sz="950" dirty="0"/>
          </a:p>
        </p:txBody>
      </p:sp>
      <p:sp>
        <p:nvSpPr>
          <p:cNvPr id="9" name="Shape 7"/>
          <p:cNvSpPr/>
          <p:nvPr/>
        </p:nvSpPr>
        <p:spPr>
          <a:xfrm>
            <a:off x="256032" y="1024128"/>
            <a:ext cx="4251960" cy="354787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pic>
        <p:nvPicPr>
          <p:cNvPr id="10" name="Image 0" descr="preencoded.png"/>
          <p:cNvPicPr>
            <a:picLocks noChangeAspect="1"/>
          </p:cNvPicPr>
          <p:nvPr/>
        </p:nvPicPr>
        <p:blipFill>
          <a:blip r:embed="rId3"/>
          <a:srcRect/>
          <a:stretch/>
        </p:blipFill>
        <p:spPr>
          <a:xfrm>
            <a:off x="301752" y="1051560"/>
            <a:ext cx="4160520" cy="3429000"/>
          </a:xfrm>
          <a:prstGeom prst="rect">
            <a:avLst/>
          </a:prstGeom>
        </p:spPr>
      </p:pic>
      <p:sp>
        <p:nvSpPr>
          <p:cNvPr id="11" name="Text 8"/>
          <p:cNvSpPr/>
          <p:nvPr/>
        </p:nvSpPr>
        <p:spPr>
          <a:xfrm>
            <a:off x="256032" y="4608576"/>
            <a:ext cx="4251960" cy="438912"/>
          </a:xfrm>
          <a:prstGeom prst="rect">
            <a:avLst/>
          </a:prstGeom>
          <a:noFill/>
          <a:ln/>
        </p:spPr>
        <p:txBody>
          <a:bodyPr wrap="square" rtlCol="0" anchor="ctr"/>
          <a:lstStyle/>
          <a:p>
            <a:pPr marL="0" indent="0">
              <a:buNone/>
            </a:pPr>
            <a:r>
              <a:rPr lang="en-US" sz="800" i="1" dirty="0">
                <a:solidFill>
                  <a:srgbClr val="546E6E"/>
                </a:solidFill>
                <a:latin typeface="Arial" pitchFamily="34" charset="0"/>
                <a:ea typeface="Arial" pitchFamily="34" charset="-122"/>
                <a:cs typeface="Arial" pitchFamily="34" charset="-120"/>
              </a:rPr>
              <a:t>→ Les 2 et 3 pièces représentent 61 % des ventes — segment dominant du marché locatif et primo-accédants.</a:t>
            </a:r>
            <a:endParaRPr lang="en-US" sz="800" dirty="0"/>
          </a:p>
        </p:txBody>
      </p:sp>
      <p:sp>
        <p:nvSpPr>
          <p:cNvPr id="12" name="Shape 9"/>
          <p:cNvSpPr/>
          <p:nvPr/>
        </p:nvSpPr>
        <p:spPr>
          <a:xfrm>
            <a:off x="4681728" y="749808"/>
            <a:ext cx="457200" cy="228600"/>
          </a:xfrm>
          <a:prstGeom prst="rect">
            <a:avLst/>
          </a:prstGeom>
          <a:solidFill>
            <a:srgbClr val="158F7E"/>
          </a:solidFill>
          <a:ln w="12700">
            <a:solidFill>
              <a:srgbClr val="158F7E"/>
            </a:solidFill>
            <a:prstDash val="solid"/>
          </a:ln>
        </p:spPr>
        <p:txBody>
          <a:bodyPr/>
          <a:lstStyle/>
          <a:p>
            <a:endParaRPr lang="en-FR"/>
          </a:p>
        </p:txBody>
      </p:sp>
      <p:sp>
        <p:nvSpPr>
          <p:cNvPr id="13" name="Text 10"/>
          <p:cNvSpPr/>
          <p:nvPr/>
        </p:nvSpPr>
        <p:spPr>
          <a:xfrm>
            <a:off x="4681728" y="749808"/>
            <a:ext cx="457200" cy="228600"/>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Q4</a:t>
            </a:r>
            <a:endParaRPr lang="en-US" sz="800" dirty="0"/>
          </a:p>
        </p:txBody>
      </p:sp>
      <p:sp>
        <p:nvSpPr>
          <p:cNvPr id="14" name="Text 11"/>
          <p:cNvSpPr/>
          <p:nvPr/>
        </p:nvSpPr>
        <p:spPr>
          <a:xfrm>
            <a:off x="5193792" y="749808"/>
            <a:ext cx="3666744" cy="228600"/>
          </a:xfrm>
          <a:prstGeom prst="rect">
            <a:avLst/>
          </a:prstGeom>
          <a:noFill/>
          <a:ln/>
        </p:spPr>
        <p:txBody>
          <a:bodyPr wrap="square" rtlCol="0" anchor="ctr"/>
          <a:lstStyle/>
          <a:p>
            <a:pPr marL="0" indent="0">
              <a:buNone/>
            </a:pPr>
            <a:r>
              <a:rPr lang="en-US" sz="950" b="1" dirty="0">
                <a:solidFill>
                  <a:srgbClr val="1C3838"/>
                </a:solidFill>
                <a:latin typeface="Arial" pitchFamily="34" charset="0"/>
                <a:ea typeface="Arial" pitchFamily="34" charset="-122"/>
                <a:cs typeface="Arial" pitchFamily="34" charset="-120"/>
              </a:rPr>
              <a:t>Top 10 des départements avec le prix au m² le plus élevé</a:t>
            </a:r>
            <a:endParaRPr lang="en-US" sz="950" dirty="0"/>
          </a:p>
        </p:txBody>
      </p:sp>
      <p:sp>
        <p:nvSpPr>
          <p:cNvPr id="15" name="Shape 12"/>
          <p:cNvSpPr/>
          <p:nvPr/>
        </p:nvSpPr>
        <p:spPr>
          <a:xfrm>
            <a:off x="4681728" y="1024128"/>
            <a:ext cx="4215384" cy="354787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pic>
        <p:nvPicPr>
          <p:cNvPr id="16" name="Image 1" descr="preencoded.png"/>
          <p:cNvPicPr>
            <a:picLocks noChangeAspect="1"/>
          </p:cNvPicPr>
          <p:nvPr/>
        </p:nvPicPr>
        <p:blipFill>
          <a:blip r:embed="rId4"/>
          <a:srcRect/>
          <a:stretch/>
        </p:blipFill>
        <p:spPr>
          <a:xfrm>
            <a:off x="4727448" y="1051560"/>
            <a:ext cx="4123944" cy="3429000"/>
          </a:xfrm>
          <a:prstGeom prst="rect">
            <a:avLst/>
          </a:prstGeom>
        </p:spPr>
      </p:pic>
      <p:sp>
        <p:nvSpPr>
          <p:cNvPr id="17" name="Text 13"/>
          <p:cNvSpPr/>
          <p:nvPr/>
        </p:nvSpPr>
        <p:spPr>
          <a:xfrm>
            <a:off x="4681728" y="4608576"/>
            <a:ext cx="4215384" cy="438912"/>
          </a:xfrm>
          <a:prstGeom prst="rect">
            <a:avLst/>
          </a:prstGeom>
          <a:noFill/>
          <a:ln/>
        </p:spPr>
        <p:txBody>
          <a:bodyPr wrap="square" rtlCol="0" anchor="ctr"/>
          <a:lstStyle/>
          <a:p>
            <a:pPr marL="0" indent="0">
              <a:buNone/>
            </a:pPr>
            <a:r>
              <a:rPr lang="en-US" sz="800" i="1" dirty="0">
                <a:solidFill>
                  <a:srgbClr val="546E6E"/>
                </a:solidFill>
                <a:latin typeface="Arial" pitchFamily="34" charset="0"/>
                <a:ea typeface="Arial" pitchFamily="34" charset="-122"/>
                <a:cs typeface="Arial" pitchFamily="34" charset="-120"/>
              </a:rPr>
              <a:t>→ Paris (75) domine avec 9 946 €/m². Forte concentration sur l'IDF et les zones touristiques (06, 78).</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Requêtes Q5 &amp; Q6</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4599432" y="713232"/>
            <a:ext cx="0" cy="4389120"/>
          </a:xfrm>
          <a:prstGeom prst="line">
            <a:avLst/>
          </a:prstGeom>
          <a:noFill/>
          <a:ln w="12700">
            <a:solidFill>
              <a:srgbClr val="D0E8E6"/>
            </a:solidFill>
            <a:prstDash val="solid"/>
          </a:ln>
        </p:spPr>
        <p:txBody>
          <a:bodyPr/>
          <a:lstStyle/>
          <a:p>
            <a:endParaRPr lang="en-FR"/>
          </a:p>
        </p:txBody>
      </p:sp>
      <p:sp>
        <p:nvSpPr>
          <p:cNvPr id="6" name="Shape 4"/>
          <p:cNvSpPr/>
          <p:nvPr/>
        </p:nvSpPr>
        <p:spPr>
          <a:xfrm>
            <a:off x="256032" y="749808"/>
            <a:ext cx="457200" cy="228600"/>
          </a:xfrm>
          <a:prstGeom prst="rect">
            <a:avLst/>
          </a:prstGeom>
          <a:solidFill>
            <a:srgbClr val="158F7E"/>
          </a:solidFill>
          <a:ln w="12700">
            <a:solidFill>
              <a:srgbClr val="158F7E"/>
            </a:solidFill>
            <a:prstDash val="solid"/>
          </a:ln>
        </p:spPr>
        <p:txBody>
          <a:bodyPr/>
          <a:lstStyle/>
          <a:p>
            <a:endParaRPr lang="en-FR"/>
          </a:p>
        </p:txBody>
      </p:sp>
      <p:sp>
        <p:nvSpPr>
          <p:cNvPr id="7" name="Text 5"/>
          <p:cNvSpPr/>
          <p:nvPr/>
        </p:nvSpPr>
        <p:spPr>
          <a:xfrm>
            <a:off x="256032" y="749808"/>
            <a:ext cx="457200" cy="228600"/>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Q5</a:t>
            </a:r>
            <a:endParaRPr lang="en-US" sz="800" dirty="0"/>
          </a:p>
        </p:txBody>
      </p:sp>
      <p:sp>
        <p:nvSpPr>
          <p:cNvPr id="8" name="Text 6"/>
          <p:cNvSpPr/>
          <p:nvPr/>
        </p:nvSpPr>
        <p:spPr>
          <a:xfrm>
            <a:off x="768096" y="749808"/>
            <a:ext cx="3703320" cy="228600"/>
          </a:xfrm>
          <a:prstGeom prst="rect">
            <a:avLst/>
          </a:prstGeom>
          <a:noFill/>
          <a:ln/>
        </p:spPr>
        <p:txBody>
          <a:bodyPr wrap="square" rtlCol="0" anchor="ctr"/>
          <a:lstStyle/>
          <a:p>
            <a:pPr marL="0" indent="0">
              <a:buNone/>
            </a:pPr>
            <a:r>
              <a:rPr lang="en-US" sz="950" b="1" dirty="0">
                <a:solidFill>
                  <a:srgbClr val="1C3838"/>
                </a:solidFill>
                <a:latin typeface="Arial" pitchFamily="34" charset="0"/>
                <a:ea typeface="Arial" pitchFamily="34" charset="-122"/>
                <a:cs typeface="Arial" pitchFamily="34" charset="-120"/>
              </a:rPr>
              <a:t>Prix moyen du m² d'une maison en Île-de-France</a:t>
            </a:r>
            <a:endParaRPr lang="en-US" sz="950" dirty="0"/>
          </a:p>
        </p:txBody>
      </p:sp>
      <p:sp>
        <p:nvSpPr>
          <p:cNvPr id="9" name="Shape 7"/>
          <p:cNvSpPr/>
          <p:nvPr/>
        </p:nvSpPr>
        <p:spPr>
          <a:xfrm>
            <a:off x="256032" y="1024128"/>
            <a:ext cx="4251960" cy="354787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pic>
        <p:nvPicPr>
          <p:cNvPr id="10" name="Image 0" descr="preencoded.png"/>
          <p:cNvPicPr>
            <a:picLocks noChangeAspect="1"/>
          </p:cNvPicPr>
          <p:nvPr/>
        </p:nvPicPr>
        <p:blipFill>
          <a:blip r:embed="rId3"/>
          <a:srcRect/>
          <a:stretch/>
        </p:blipFill>
        <p:spPr>
          <a:xfrm>
            <a:off x="301752" y="1051560"/>
            <a:ext cx="4160520" cy="3429000"/>
          </a:xfrm>
          <a:prstGeom prst="rect">
            <a:avLst/>
          </a:prstGeom>
        </p:spPr>
      </p:pic>
      <p:sp>
        <p:nvSpPr>
          <p:cNvPr id="11" name="Text 8"/>
          <p:cNvSpPr/>
          <p:nvPr/>
        </p:nvSpPr>
        <p:spPr>
          <a:xfrm>
            <a:off x="256032" y="4608576"/>
            <a:ext cx="4251960" cy="438912"/>
          </a:xfrm>
          <a:prstGeom prst="rect">
            <a:avLst/>
          </a:prstGeom>
          <a:noFill/>
          <a:ln/>
        </p:spPr>
        <p:txBody>
          <a:bodyPr wrap="square" rtlCol="0" anchor="ctr"/>
          <a:lstStyle/>
          <a:p>
            <a:pPr marL="0" indent="0">
              <a:buNone/>
            </a:pPr>
            <a:r>
              <a:rPr lang="en-US" sz="800" i="1" dirty="0">
                <a:solidFill>
                  <a:srgbClr val="546E6E"/>
                </a:solidFill>
                <a:latin typeface="Arial" pitchFamily="34" charset="0"/>
                <a:ea typeface="Arial" pitchFamily="34" charset="-122"/>
                <a:cs typeface="Arial" pitchFamily="34" charset="-120"/>
              </a:rPr>
              <a:t>→ 3 729,58 €/m² en moyenne pour une maison en IDF — reflet de la forte pression foncière en périphérie parisienne.</a:t>
            </a:r>
            <a:endParaRPr lang="en-US" sz="800" dirty="0"/>
          </a:p>
        </p:txBody>
      </p:sp>
      <p:sp>
        <p:nvSpPr>
          <p:cNvPr id="12" name="Shape 9"/>
          <p:cNvSpPr/>
          <p:nvPr/>
        </p:nvSpPr>
        <p:spPr>
          <a:xfrm>
            <a:off x="4681728" y="749808"/>
            <a:ext cx="457200" cy="228600"/>
          </a:xfrm>
          <a:prstGeom prst="rect">
            <a:avLst/>
          </a:prstGeom>
          <a:solidFill>
            <a:srgbClr val="158F7E"/>
          </a:solidFill>
          <a:ln w="12700">
            <a:solidFill>
              <a:srgbClr val="158F7E"/>
            </a:solidFill>
            <a:prstDash val="solid"/>
          </a:ln>
        </p:spPr>
        <p:txBody>
          <a:bodyPr/>
          <a:lstStyle/>
          <a:p>
            <a:endParaRPr lang="en-FR"/>
          </a:p>
        </p:txBody>
      </p:sp>
      <p:sp>
        <p:nvSpPr>
          <p:cNvPr id="13" name="Text 10"/>
          <p:cNvSpPr/>
          <p:nvPr/>
        </p:nvSpPr>
        <p:spPr>
          <a:xfrm>
            <a:off x="4681728" y="749808"/>
            <a:ext cx="457200" cy="228600"/>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Q6</a:t>
            </a:r>
            <a:endParaRPr lang="en-US" sz="800" dirty="0"/>
          </a:p>
        </p:txBody>
      </p:sp>
      <p:sp>
        <p:nvSpPr>
          <p:cNvPr id="14" name="Text 11"/>
          <p:cNvSpPr/>
          <p:nvPr/>
        </p:nvSpPr>
        <p:spPr>
          <a:xfrm>
            <a:off x="5193792" y="749808"/>
            <a:ext cx="3666744" cy="228600"/>
          </a:xfrm>
          <a:prstGeom prst="rect">
            <a:avLst/>
          </a:prstGeom>
          <a:noFill/>
          <a:ln/>
        </p:spPr>
        <p:txBody>
          <a:bodyPr wrap="square" rtlCol="0" anchor="ctr"/>
          <a:lstStyle/>
          <a:p>
            <a:pPr marL="0" indent="0">
              <a:buNone/>
            </a:pPr>
            <a:r>
              <a:rPr lang="en-US" sz="950" b="1" dirty="0">
                <a:solidFill>
                  <a:srgbClr val="1C3838"/>
                </a:solidFill>
                <a:latin typeface="Arial" pitchFamily="34" charset="0"/>
                <a:ea typeface="Arial" pitchFamily="34" charset="-122"/>
                <a:cs typeface="Arial" pitchFamily="34" charset="-120"/>
              </a:rPr>
              <a:t>Top 10 des appartements les plus chers — région et surface</a:t>
            </a:r>
            <a:endParaRPr lang="en-US" sz="950" dirty="0"/>
          </a:p>
        </p:txBody>
      </p:sp>
      <p:sp>
        <p:nvSpPr>
          <p:cNvPr id="15" name="Shape 12"/>
          <p:cNvSpPr/>
          <p:nvPr/>
        </p:nvSpPr>
        <p:spPr>
          <a:xfrm>
            <a:off x="4681728" y="1024128"/>
            <a:ext cx="4215384" cy="354787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pic>
        <p:nvPicPr>
          <p:cNvPr id="16" name="Image 1" descr="preencoded.png"/>
          <p:cNvPicPr>
            <a:picLocks noChangeAspect="1"/>
          </p:cNvPicPr>
          <p:nvPr/>
        </p:nvPicPr>
        <p:blipFill>
          <a:blip r:embed="rId4"/>
          <a:srcRect/>
          <a:stretch/>
        </p:blipFill>
        <p:spPr>
          <a:xfrm>
            <a:off x="4727448" y="1051560"/>
            <a:ext cx="4123944" cy="3429000"/>
          </a:xfrm>
          <a:prstGeom prst="rect">
            <a:avLst/>
          </a:prstGeom>
        </p:spPr>
      </p:pic>
      <p:sp>
        <p:nvSpPr>
          <p:cNvPr id="17" name="Text 13"/>
          <p:cNvSpPr/>
          <p:nvPr/>
        </p:nvSpPr>
        <p:spPr>
          <a:xfrm>
            <a:off x="4681728" y="4608576"/>
            <a:ext cx="4215384" cy="438912"/>
          </a:xfrm>
          <a:prstGeom prst="rect">
            <a:avLst/>
          </a:prstGeom>
          <a:noFill/>
          <a:ln/>
        </p:spPr>
        <p:txBody>
          <a:bodyPr wrap="square" rtlCol="0" anchor="ctr"/>
          <a:lstStyle/>
          <a:p>
            <a:pPr marL="0" indent="0">
              <a:buNone/>
            </a:pPr>
            <a:r>
              <a:rPr lang="en-US" sz="800" i="1" dirty="0">
                <a:solidFill>
                  <a:srgbClr val="546E6E"/>
                </a:solidFill>
                <a:latin typeface="Arial" pitchFamily="34" charset="0"/>
                <a:ea typeface="Arial" pitchFamily="34" charset="-122"/>
                <a:cs typeface="Arial" pitchFamily="34" charset="-120"/>
              </a:rPr>
              <a:t>→ Les 10 appartements les plus onéreux sont tous situés en Île-de-France. Les surfaces dépassent 68 m².</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Requêtes Q7 &amp; Q8</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4599432" y="713232"/>
            <a:ext cx="0" cy="4389120"/>
          </a:xfrm>
          <a:prstGeom prst="line">
            <a:avLst/>
          </a:prstGeom>
          <a:noFill/>
          <a:ln w="12700">
            <a:solidFill>
              <a:srgbClr val="D0E8E6"/>
            </a:solidFill>
            <a:prstDash val="solid"/>
          </a:ln>
        </p:spPr>
        <p:txBody>
          <a:bodyPr/>
          <a:lstStyle/>
          <a:p>
            <a:endParaRPr lang="en-FR"/>
          </a:p>
        </p:txBody>
      </p:sp>
      <p:sp>
        <p:nvSpPr>
          <p:cNvPr id="6" name="Shape 4"/>
          <p:cNvSpPr/>
          <p:nvPr/>
        </p:nvSpPr>
        <p:spPr>
          <a:xfrm>
            <a:off x="256032" y="749808"/>
            <a:ext cx="457200" cy="228600"/>
          </a:xfrm>
          <a:prstGeom prst="rect">
            <a:avLst/>
          </a:prstGeom>
          <a:solidFill>
            <a:srgbClr val="158F7E"/>
          </a:solidFill>
          <a:ln w="12700">
            <a:solidFill>
              <a:srgbClr val="158F7E"/>
            </a:solidFill>
            <a:prstDash val="solid"/>
          </a:ln>
        </p:spPr>
        <p:txBody>
          <a:bodyPr/>
          <a:lstStyle/>
          <a:p>
            <a:endParaRPr lang="en-FR"/>
          </a:p>
        </p:txBody>
      </p:sp>
      <p:sp>
        <p:nvSpPr>
          <p:cNvPr id="7" name="Text 5"/>
          <p:cNvSpPr/>
          <p:nvPr/>
        </p:nvSpPr>
        <p:spPr>
          <a:xfrm>
            <a:off x="256032" y="749808"/>
            <a:ext cx="457200" cy="228600"/>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Q7</a:t>
            </a:r>
            <a:endParaRPr lang="en-US" sz="800" dirty="0"/>
          </a:p>
        </p:txBody>
      </p:sp>
      <p:sp>
        <p:nvSpPr>
          <p:cNvPr id="8" name="Text 6"/>
          <p:cNvSpPr/>
          <p:nvPr/>
        </p:nvSpPr>
        <p:spPr>
          <a:xfrm>
            <a:off x="768096" y="749808"/>
            <a:ext cx="3703320" cy="228600"/>
          </a:xfrm>
          <a:prstGeom prst="rect">
            <a:avLst/>
          </a:prstGeom>
          <a:noFill/>
          <a:ln/>
        </p:spPr>
        <p:txBody>
          <a:bodyPr wrap="square" rtlCol="0" anchor="ctr"/>
          <a:lstStyle/>
          <a:p>
            <a:pPr marL="0" indent="0">
              <a:buNone/>
            </a:pPr>
            <a:r>
              <a:rPr lang="en-US" sz="950" b="1" dirty="0">
                <a:solidFill>
                  <a:srgbClr val="1C3838"/>
                </a:solidFill>
                <a:latin typeface="Arial" pitchFamily="34" charset="0"/>
                <a:ea typeface="Arial" pitchFamily="34" charset="-122"/>
                <a:cs typeface="Arial" pitchFamily="34" charset="-120"/>
              </a:rPr>
              <a:t>Taux d'évolution des ventes entre le Q1 et le Q2 2020</a:t>
            </a:r>
            <a:endParaRPr lang="en-US" sz="950" dirty="0"/>
          </a:p>
        </p:txBody>
      </p:sp>
      <p:sp>
        <p:nvSpPr>
          <p:cNvPr id="9" name="Shape 7"/>
          <p:cNvSpPr/>
          <p:nvPr/>
        </p:nvSpPr>
        <p:spPr>
          <a:xfrm>
            <a:off x="256032" y="1024128"/>
            <a:ext cx="4251960" cy="354787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pic>
        <p:nvPicPr>
          <p:cNvPr id="10" name="Image 0" descr="preencoded.png"/>
          <p:cNvPicPr>
            <a:picLocks noChangeAspect="1"/>
          </p:cNvPicPr>
          <p:nvPr/>
        </p:nvPicPr>
        <p:blipFill>
          <a:blip r:embed="rId3"/>
          <a:srcRect/>
          <a:stretch/>
        </p:blipFill>
        <p:spPr>
          <a:xfrm>
            <a:off x="301752" y="1051560"/>
            <a:ext cx="4160520" cy="3429000"/>
          </a:xfrm>
          <a:prstGeom prst="rect">
            <a:avLst/>
          </a:prstGeom>
        </p:spPr>
      </p:pic>
      <p:sp>
        <p:nvSpPr>
          <p:cNvPr id="11" name="Text 8"/>
          <p:cNvSpPr/>
          <p:nvPr/>
        </p:nvSpPr>
        <p:spPr>
          <a:xfrm>
            <a:off x="256032" y="4608576"/>
            <a:ext cx="4251960" cy="438912"/>
          </a:xfrm>
          <a:prstGeom prst="rect">
            <a:avLst/>
          </a:prstGeom>
          <a:noFill/>
          <a:ln/>
        </p:spPr>
        <p:txBody>
          <a:bodyPr wrap="square" rtlCol="0" anchor="ctr"/>
          <a:lstStyle/>
          <a:p>
            <a:pPr marL="0" indent="0">
              <a:buNone/>
            </a:pPr>
            <a:r>
              <a:rPr lang="en-US" sz="800" i="1" dirty="0">
                <a:solidFill>
                  <a:srgbClr val="546E6E"/>
                </a:solidFill>
                <a:latin typeface="Arial" pitchFamily="34" charset="0"/>
                <a:ea typeface="Arial" pitchFamily="34" charset="-122"/>
                <a:cs typeface="Arial" pitchFamily="34" charset="-120"/>
              </a:rPr>
              <a:t>→ −6 % de ventes entre Q1 (541) et Q2 (506). Baisse cohérente avec le confinement COVID-19 d'avril-mai 2020.</a:t>
            </a:r>
            <a:endParaRPr lang="en-US" sz="800" dirty="0"/>
          </a:p>
        </p:txBody>
      </p:sp>
      <p:sp>
        <p:nvSpPr>
          <p:cNvPr id="12" name="Shape 9"/>
          <p:cNvSpPr/>
          <p:nvPr/>
        </p:nvSpPr>
        <p:spPr>
          <a:xfrm>
            <a:off x="4681728" y="749808"/>
            <a:ext cx="457200" cy="228600"/>
          </a:xfrm>
          <a:prstGeom prst="rect">
            <a:avLst/>
          </a:prstGeom>
          <a:solidFill>
            <a:srgbClr val="158F7E"/>
          </a:solidFill>
          <a:ln w="12700">
            <a:solidFill>
              <a:srgbClr val="158F7E"/>
            </a:solidFill>
            <a:prstDash val="solid"/>
          </a:ln>
        </p:spPr>
        <p:txBody>
          <a:bodyPr/>
          <a:lstStyle/>
          <a:p>
            <a:endParaRPr lang="en-FR"/>
          </a:p>
        </p:txBody>
      </p:sp>
      <p:sp>
        <p:nvSpPr>
          <p:cNvPr id="13" name="Text 10"/>
          <p:cNvSpPr/>
          <p:nvPr/>
        </p:nvSpPr>
        <p:spPr>
          <a:xfrm>
            <a:off x="4681728" y="749808"/>
            <a:ext cx="457200" cy="228600"/>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Q8</a:t>
            </a:r>
            <a:endParaRPr lang="en-US" sz="800" dirty="0"/>
          </a:p>
        </p:txBody>
      </p:sp>
      <p:sp>
        <p:nvSpPr>
          <p:cNvPr id="14" name="Text 11"/>
          <p:cNvSpPr/>
          <p:nvPr/>
        </p:nvSpPr>
        <p:spPr>
          <a:xfrm>
            <a:off x="5193792" y="749808"/>
            <a:ext cx="3666744" cy="228600"/>
          </a:xfrm>
          <a:prstGeom prst="rect">
            <a:avLst/>
          </a:prstGeom>
          <a:noFill/>
          <a:ln/>
        </p:spPr>
        <p:txBody>
          <a:bodyPr wrap="square" rtlCol="0" anchor="ctr"/>
          <a:lstStyle/>
          <a:p>
            <a:pPr marL="0" indent="0">
              <a:buNone/>
            </a:pPr>
            <a:r>
              <a:rPr lang="en-US" sz="950" b="1" dirty="0">
                <a:solidFill>
                  <a:srgbClr val="1C3838"/>
                </a:solidFill>
                <a:latin typeface="Arial" pitchFamily="34" charset="0"/>
                <a:ea typeface="Arial" pitchFamily="34" charset="-122"/>
                <a:cs typeface="Arial" pitchFamily="34" charset="-120"/>
              </a:rPr>
              <a:t>Classement des régions par prix m² — appartements &gt; 4 pièces</a:t>
            </a:r>
            <a:endParaRPr lang="en-US" sz="950" dirty="0"/>
          </a:p>
        </p:txBody>
      </p:sp>
      <p:sp>
        <p:nvSpPr>
          <p:cNvPr id="15" name="Shape 12"/>
          <p:cNvSpPr/>
          <p:nvPr/>
        </p:nvSpPr>
        <p:spPr>
          <a:xfrm>
            <a:off x="4681728" y="1024128"/>
            <a:ext cx="4215384" cy="354787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pic>
        <p:nvPicPr>
          <p:cNvPr id="16" name="Image 1" descr="preencoded.png"/>
          <p:cNvPicPr>
            <a:picLocks noChangeAspect="1"/>
          </p:cNvPicPr>
          <p:nvPr/>
        </p:nvPicPr>
        <p:blipFill>
          <a:blip r:embed="rId4"/>
          <a:srcRect/>
          <a:stretch/>
        </p:blipFill>
        <p:spPr>
          <a:xfrm>
            <a:off x="4727448" y="1051560"/>
            <a:ext cx="4123944" cy="3429000"/>
          </a:xfrm>
          <a:prstGeom prst="rect">
            <a:avLst/>
          </a:prstGeom>
        </p:spPr>
      </p:pic>
      <p:sp>
        <p:nvSpPr>
          <p:cNvPr id="17" name="Text 13"/>
          <p:cNvSpPr/>
          <p:nvPr/>
        </p:nvSpPr>
        <p:spPr>
          <a:xfrm>
            <a:off x="4681728" y="4608576"/>
            <a:ext cx="4215384" cy="438912"/>
          </a:xfrm>
          <a:prstGeom prst="rect">
            <a:avLst/>
          </a:prstGeom>
          <a:noFill/>
          <a:ln/>
        </p:spPr>
        <p:txBody>
          <a:bodyPr wrap="square" rtlCol="0" anchor="ctr"/>
          <a:lstStyle/>
          <a:p>
            <a:pPr marL="0" indent="0">
              <a:buNone/>
            </a:pPr>
            <a:r>
              <a:rPr lang="en-US" sz="800" i="1" dirty="0">
                <a:solidFill>
                  <a:srgbClr val="546E6E"/>
                </a:solidFill>
                <a:latin typeface="Arial" pitchFamily="34" charset="0"/>
                <a:ea typeface="Arial" pitchFamily="34" charset="-122"/>
                <a:cs typeface="Arial" pitchFamily="34" charset="-120"/>
              </a:rPr>
              <a:t>→ L'IDF arrive en tête (6 082 €/m²) pour les grands appartements. Les 9 régions représentées montrent de fortes disparités.</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Requêtes Q9 &amp; Q10</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4599432" y="713232"/>
            <a:ext cx="0" cy="4389120"/>
          </a:xfrm>
          <a:prstGeom prst="line">
            <a:avLst/>
          </a:prstGeom>
          <a:noFill/>
          <a:ln w="12700">
            <a:solidFill>
              <a:srgbClr val="D0E8E6"/>
            </a:solidFill>
            <a:prstDash val="solid"/>
          </a:ln>
        </p:spPr>
        <p:txBody>
          <a:bodyPr/>
          <a:lstStyle/>
          <a:p>
            <a:endParaRPr lang="en-FR"/>
          </a:p>
        </p:txBody>
      </p:sp>
      <p:sp>
        <p:nvSpPr>
          <p:cNvPr id="6" name="Shape 4"/>
          <p:cNvSpPr/>
          <p:nvPr/>
        </p:nvSpPr>
        <p:spPr>
          <a:xfrm>
            <a:off x="256032" y="749808"/>
            <a:ext cx="457200" cy="228600"/>
          </a:xfrm>
          <a:prstGeom prst="rect">
            <a:avLst/>
          </a:prstGeom>
          <a:solidFill>
            <a:srgbClr val="158F7E"/>
          </a:solidFill>
          <a:ln w="12700">
            <a:solidFill>
              <a:srgbClr val="158F7E"/>
            </a:solidFill>
            <a:prstDash val="solid"/>
          </a:ln>
        </p:spPr>
        <p:txBody>
          <a:bodyPr/>
          <a:lstStyle/>
          <a:p>
            <a:endParaRPr lang="en-FR"/>
          </a:p>
        </p:txBody>
      </p:sp>
      <p:sp>
        <p:nvSpPr>
          <p:cNvPr id="7" name="Text 5"/>
          <p:cNvSpPr/>
          <p:nvPr/>
        </p:nvSpPr>
        <p:spPr>
          <a:xfrm>
            <a:off x="256032" y="749808"/>
            <a:ext cx="457200" cy="228600"/>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Q9</a:t>
            </a:r>
            <a:endParaRPr lang="en-US" sz="800" dirty="0"/>
          </a:p>
        </p:txBody>
      </p:sp>
      <p:sp>
        <p:nvSpPr>
          <p:cNvPr id="8" name="Text 6"/>
          <p:cNvSpPr/>
          <p:nvPr/>
        </p:nvSpPr>
        <p:spPr>
          <a:xfrm>
            <a:off x="768096" y="749808"/>
            <a:ext cx="3703320" cy="228600"/>
          </a:xfrm>
          <a:prstGeom prst="rect">
            <a:avLst/>
          </a:prstGeom>
          <a:noFill/>
          <a:ln/>
        </p:spPr>
        <p:txBody>
          <a:bodyPr wrap="square" rtlCol="0" anchor="ctr"/>
          <a:lstStyle/>
          <a:p>
            <a:pPr marL="0" indent="0">
              <a:buNone/>
            </a:pPr>
            <a:r>
              <a:rPr lang="en-US" sz="950" b="1" dirty="0">
                <a:solidFill>
                  <a:srgbClr val="1C3838"/>
                </a:solidFill>
                <a:latin typeface="Arial" pitchFamily="34" charset="0"/>
                <a:ea typeface="Arial" pitchFamily="34" charset="-122"/>
                <a:cs typeface="Arial" pitchFamily="34" charset="-120"/>
              </a:rPr>
              <a:t>Communes ayant eu au moins 50 ventes au 1er trimestre 2020</a:t>
            </a:r>
            <a:endParaRPr lang="en-US" sz="950" dirty="0"/>
          </a:p>
        </p:txBody>
      </p:sp>
      <p:sp>
        <p:nvSpPr>
          <p:cNvPr id="9" name="Shape 7"/>
          <p:cNvSpPr/>
          <p:nvPr/>
        </p:nvSpPr>
        <p:spPr>
          <a:xfrm>
            <a:off x="256032" y="1024128"/>
            <a:ext cx="4251960" cy="354787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pic>
        <p:nvPicPr>
          <p:cNvPr id="10" name="Image 0" descr="preencoded.png"/>
          <p:cNvPicPr>
            <a:picLocks noChangeAspect="1"/>
          </p:cNvPicPr>
          <p:nvPr/>
        </p:nvPicPr>
        <p:blipFill>
          <a:blip r:embed="rId3"/>
          <a:srcRect/>
          <a:stretch/>
        </p:blipFill>
        <p:spPr>
          <a:xfrm>
            <a:off x="301752" y="1051560"/>
            <a:ext cx="4160520" cy="3429000"/>
          </a:xfrm>
          <a:prstGeom prst="rect">
            <a:avLst/>
          </a:prstGeom>
        </p:spPr>
      </p:pic>
      <p:sp>
        <p:nvSpPr>
          <p:cNvPr id="11" name="Text 8"/>
          <p:cNvSpPr/>
          <p:nvPr/>
        </p:nvSpPr>
        <p:spPr>
          <a:xfrm>
            <a:off x="256032" y="4608576"/>
            <a:ext cx="4251960" cy="438912"/>
          </a:xfrm>
          <a:prstGeom prst="rect">
            <a:avLst/>
          </a:prstGeom>
          <a:noFill/>
          <a:ln/>
        </p:spPr>
        <p:txBody>
          <a:bodyPr wrap="square" rtlCol="0" anchor="ctr"/>
          <a:lstStyle/>
          <a:p>
            <a:pPr marL="0" indent="0">
              <a:buNone/>
            </a:pPr>
            <a:r>
              <a:rPr lang="en-US" sz="800" i="1" dirty="0">
                <a:solidFill>
                  <a:srgbClr val="546E6E"/>
                </a:solidFill>
                <a:latin typeface="Arial" pitchFamily="34" charset="0"/>
                <a:ea typeface="Arial" pitchFamily="34" charset="-122"/>
                <a:cs typeface="Arial" pitchFamily="34" charset="-120"/>
              </a:rPr>
              <a:t>→ Aucun résultat : le jeu de données est un échantillon POC. Les ventes sont réparties sur 467 communes, aucune ne dépasse ce seuil.</a:t>
            </a:r>
            <a:endParaRPr lang="en-US" sz="800" dirty="0"/>
          </a:p>
        </p:txBody>
      </p:sp>
      <p:sp>
        <p:nvSpPr>
          <p:cNvPr id="12" name="Shape 9"/>
          <p:cNvSpPr/>
          <p:nvPr/>
        </p:nvSpPr>
        <p:spPr>
          <a:xfrm>
            <a:off x="4681728" y="749808"/>
            <a:ext cx="457200" cy="228600"/>
          </a:xfrm>
          <a:prstGeom prst="rect">
            <a:avLst/>
          </a:prstGeom>
          <a:solidFill>
            <a:srgbClr val="158F7E"/>
          </a:solidFill>
          <a:ln w="12700">
            <a:solidFill>
              <a:srgbClr val="158F7E"/>
            </a:solidFill>
            <a:prstDash val="solid"/>
          </a:ln>
        </p:spPr>
        <p:txBody>
          <a:bodyPr/>
          <a:lstStyle/>
          <a:p>
            <a:endParaRPr lang="en-FR"/>
          </a:p>
        </p:txBody>
      </p:sp>
      <p:sp>
        <p:nvSpPr>
          <p:cNvPr id="13" name="Text 10"/>
          <p:cNvSpPr/>
          <p:nvPr/>
        </p:nvSpPr>
        <p:spPr>
          <a:xfrm>
            <a:off x="4681728" y="749808"/>
            <a:ext cx="457200" cy="228600"/>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Q10</a:t>
            </a:r>
            <a:endParaRPr lang="en-US" sz="800" dirty="0"/>
          </a:p>
        </p:txBody>
      </p:sp>
      <p:sp>
        <p:nvSpPr>
          <p:cNvPr id="14" name="Text 11"/>
          <p:cNvSpPr/>
          <p:nvPr/>
        </p:nvSpPr>
        <p:spPr>
          <a:xfrm>
            <a:off x="5193792" y="749808"/>
            <a:ext cx="3666744" cy="228600"/>
          </a:xfrm>
          <a:prstGeom prst="rect">
            <a:avLst/>
          </a:prstGeom>
          <a:noFill/>
          <a:ln/>
        </p:spPr>
        <p:txBody>
          <a:bodyPr wrap="square" rtlCol="0" anchor="ctr"/>
          <a:lstStyle/>
          <a:p>
            <a:pPr marL="0" indent="0">
              <a:buNone/>
            </a:pPr>
            <a:r>
              <a:rPr lang="en-US" sz="950" b="1" dirty="0">
                <a:solidFill>
                  <a:srgbClr val="1C3838"/>
                </a:solidFill>
                <a:latin typeface="Arial" pitchFamily="34" charset="0"/>
                <a:ea typeface="Arial" pitchFamily="34" charset="-122"/>
                <a:cs typeface="Arial" pitchFamily="34" charset="-120"/>
              </a:rPr>
              <a:t>Différence en % du prix au m² entre appartements 2 et 3 pièces</a:t>
            </a:r>
            <a:endParaRPr lang="en-US" sz="950" dirty="0"/>
          </a:p>
        </p:txBody>
      </p:sp>
      <p:sp>
        <p:nvSpPr>
          <p:cNvPr id="15" name="Shape 12"/>
          <p:cNvSpPr/>
          <p:nvPr/>
        </p:nvSpPr>
        <p:spPr>
          <a:xfrm>
            <a:off x="4681728" y="1024128"/>
            <a:ext cx="4215384" cy="354787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pic>
        <p:nvPicPr>
          <p:cNvPr id="16" name="Image 1" descr="preencoded.png"/>
          <p:cNvPicPr>
            <a:picLocks noChangeAspect="1"/>
          </p:cNvPicPr>
          <p:nvPr/>
        </p:nvPicPr>
        <p:blipFill>
          <a:blip r:embed="rId4"/>
          <a:srcRect/>
          <a:stretch/>
        </p:blipFill>
        <p:spPr>
          <a:xfrm>
            <a:off x="4727448" y="1051560"/>
            <a:ext cx="4123944" cy="3429000"/>
          </a:xfrm>
          <a:prstGeom prst="rect">
            <a:avLst/>
          </a:prstGeom>
        </p:spPr>
      </p:pic>
      <p:sp>
        <p:nvSpPr>
          <p:cNvPr id="17" name="Text 13"/>
          <p:cNvSpPr/>
          <p:nvPr/>
        </p:nvSpPr>
        <p:spPr>
          <a:xfrm>
            <a:off x="4681728" y="4608576"/>
            <a:ext cx="4215384" cy="438912"/>
          </a:xfrm>
          <a:prstGeom prst="rect">
            <a:avLst/>
          </a:prstGeom>
          <a:noFill/>
          <a:ln/>
        </p:spPr>
        <p:txBody>
          <a:bodyPr wrap="square" rtlCol="0" anchor="ctr"/>
          <a:lstStyle/>
          <a:p>
            <a:pPr marL="0" indent="0">
              <a:buNone/>
            </a:pPr>
            <a:r>
              <a:rPr lang="en-US" sz="800" i="1" dirty="0">
                <a:solidFill>
                  <a:srgbClr val="546E6E"/>
                </a:solidFill>
                <a:latin typeface="Arial" pitchFamily="34" charset="0"/>
                <a:ea typeface="Arial" pitchFamily="34" charset="-122"/>
                <a:cs typeface="Arial" pitchFamily="34" charset="-120"/>
              </a:rPr>
              <a:t>→ −17 % : un 2 pièces coûte plus cher au m² (4 134 €) qu'un 3 pièces (3 429 €). Les petites surfaces ont un premium au m².</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Requête Q11</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256032" y="749808"/>
            <a:ext cx="457200" cy="228600"/>
          </a:xfrm>
          <a:prstGeom prst="rect">
            <a:avLst/>
          </a:prstGeom>
          <a:solidFill>
            <a:srgbClr val="158F7E"/>
          </a:solidFill>
          <a:ln w="12700">
            <a:solidFill>
              <a:srgbClr val="158F7E"/>
            </a:solidFill>
            <a:prstDash val="solid"/>
          </a:ln>
        </p:spPr>
        <p:txBody>
          <a:bodyPr/>
          <a:lstStyle/>
          <a:p>
            <a:endParaRPr lang="en-FR"/>
          </a:p>
        </p:txBody>
      </p:sp>
      <p:sp>
        <p:nvSpPr>
          <p:cNvPr id="6" name="Text 4"/>
          <p:cNvSpPr/>
          <p:nvPr/>
        </p:nvSpPr>
        <p:spPr>
          <a:xfrm>
            <a:off x="256032" y="749808"/>
            <a:ext cx="457200" cy="228600"/>
          </a:xfrm>
          <a:prstGeom prst="rect">
            <a:avLst/>
          </a:prstGeom>
          <a:noFill/>
          <a:ln/>
        </p:spPr>
        <p:txBody>
          <a:bodyPr wrap="square"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Q11</a:t>
            </a:r>
            <a:endParaRPr lang="en-US" sz="800" dirty="0"/>
          </a:p>
        </p:txBody>
      </p:sp>
      <p:sp>
        <p:nvSpPr>
          <p:cNvPr id="7" name="Text 5"/>
          <p:cNvSpPr/>
          <p:nvPr/>
        </p:nvSpPr>
        <p:spPr>
          <a:xfrm>
            <a:off x="768096" y="749808"/>
            <a:ext cx="8092440" cy="228600"/>
          </a:xfrm>
          <a:prstGeom prst="rect">
            <a:avLst/>
          </a:prstGeom>
          <a:noFill/>
          <a:ln/>
        </p:spPr>
        <p:txBody>
          <a:bodyPr wrap="square" rtlCol="0" anchor="ctr"/>
          <a:lstStyle/>
          <a:p>
            <a:pPr marL="0" indent="0">
              <a:buNone/>
            </a:pPr>
            <a:r>
              <a:rPr lang="en-US" sz="950" b="1" dirty="0">
                <a:solidFill>
                  <a:srgbClr val="1C3838"/>
                </a:solidFill>
                <a:latin typeface="Arial" pitchFamily="34" charset="0"/>
                <a:ea typeface="Arial" pitchFamily="34" charset="-122"/>
                <a:cs typeface="Arial" pitchFamily="34" charset="-120"/>
              </a:rPr>
              <a:t>Top 3 des communes avec la valeur foncière moyenne la plus haute — dép. 6, 13, 33, 59, 69</a:t>
            </a:r>
            <a:endParaRPr lang="en-US" sz="950" dirty="0"/>
          </a:p>
        </p:txBody>
      </p:sp>
      <p:sp>
        <p:nvSpPr>
          <p:cNvPr id="8" name="Shape 6"/>
          <p:cNvSpPr/>
          <p:nvPr/>
        </p:nvSpPr>
        <p:spPr>
          <a:xfrm>
            <a:off x="256032" y="1024128"/>
            <a:ext cx="8641080" cy="3547872"/>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pic>
        <p:nvPicPr>
          <p:cNvPr id="9" name="Image 0" descr="preencoded.png"/>
          <p:cNvPicPr>
            <a:picLocks noChangeAspect="1"/>
          </p:cNvPicPr>
          <p:nvPr/>
        </p:nvPicPr>
        <p:blipFill>
          <a:blip r:embed="rId3"/>
          <a:srcRect/>
          <a:stretch/>
        </p:blipFill>
        <p:spPr>
          <a:xfrm>
            <a:off x="301752" y="1051560"/>
            <a:ext cx="8549640" cy="3429000"/>
          </a:xfrm>
          <a:prstGeom prst="rect">
            <a:avLst/>
          </a:prstGeom>
        </p:spPr>
      </p:pic>
      <p:sp>
        <p:nvSpPr>
          <p:cNvPr id="10" name="Text 7"/>
          <p:cNvSpPr/>
          <p:nvPr/>
        </p:nvSpPr>
        <p:spPr>
          <a:xfrm>
            <a:off x="256032" y="4608576"/>
            <a:ext cx="8641080" cy="438912"/>
          </a:xfrm>
          <a:prstGeom prst="rect">
            <a:avLst/>
          </a:prstGeom>
          <a:noFill/>
          <a:ln/>
        </p:spPr>
        <p:txBody>
          <a:bodyPr wrap="square" rtlCol="0" anchor="ctr"/>
          <a:lstStyle/>
          <a:p>
            <a:pPr marL="0" indent="0">
              <a:buNone/>
            </a:pPr>
            <a:r>
              <a:rPr lang="en-US" sz="800" i="1" dirty="0">
                <a:solidFill>
                  <a:srgbClr val="546E6E"/>
                </a:solidFill>
                <a:latin typeface="Arial" pitchFamily="34" charset="0"/>
                <a:ea typeface="Arial" pitchFamily="34" charset="-122"/>
                <a:cs typeface="Arial" pitchFamily="34" charset="-120"/>
              </a:rPr>
              <a:t>→ Lyon 2ème, Arcachon et Collonges-au-Mont-d'Or arrivent en tête. Résultat LIMIT 3 global — non partitionné par département dans cette version.</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AF5F4"/>
        </a:solidFill>
        <a:effectLst/>
      </p:bgPr>
    </p:bg>
    <p:spTree>
      <p:nvGrpSpPr>
        <p:cNvPr id="1" name=""/>
        <p:cNvGrpSpPr/>
        <p:nvPr/>
      </p:nvGrpSpPr>
      <p:grpSpPr>
        <a:xfrm>
          <a:off x="0" y="0"/>
          <a:ext cx="0" cy="0"/>
          <a:chOff x="0" y="0"/>
          <a:chExt cx="0" cy="0"/>
        </a:xfrm>
      </p:grpSpPr>
      <p:sp>
        <p:nvSpPr>
          <p:cNvPr id="2" name="Shape 0"/>
          <p:cNvSpPr/>
          <p:nvPr/>
        </p:nvSpPr>
        <p:spPr>
          <a:xfrm>
            <a:off x="256032" y="164592"/>
            <a:ext cx="50292" cy="475488"/>
          </a:xfrm>
          <a:prstGeom prst="rect">
            <a:avLst/>
          </a:prstGeom>
          <a:solidFill>
            <a:srgbClr val="158F7E"/>
          </a:solidFill>
          <a:ln w="12700">
            <a:solidFill>
              <a:srgbClr val="158F7E"/>
            </a:solidFill>
            <a:prstDash val="solid"/>
          </a:ln>
        </p:spPr>
        <p:txBody>
          <a:bodyPr/>
          <a:lstStyle/>
          <a:p>
            <a:endParaRPr lang="en-FR"/>
          </a:p>
        </p:txBody>
      </p:sp>
      <p:sp>
        <p:nvSpPr>
          <p:cNvPr id="3" name="Text 1"/>
          <p:cNvSpPr/>
          <p:nvPr/>
        </p:nvSpPr>
        <p:spPr>
          <a:xfrm>
            <a:off x="365760" y="109728"/>
            <a:ext cx="8412480" cy="566928"/>
          </a:xfrm>
          <a:prstGeom prst="rect">
            <a:avLst/>
          </a:prstGeom>
          <a:noFill/>
          <a:ln/>
        </p:spPr>
        <p:txBody>
          <a:bodyPr wrap="square" rtlCol="0" anchor="ctr"/>
          <a:lstStyle/>
          <a:p>
            <a:pPr marL="0" indent="0">
              <a:buNone/>
            </a:pPr>
            <a:r>
              <a:rPr lang="en-US" sz="2000" b="1" dirty="0">
                <a:solidFill>
                  <a:srgbClr val="1C3838"/>
                </a:solidFill>
                <a:latin typeface="Arial" pitchFamily="34" charset="0"/>
                <a:ea typeface="Arial" pitchFamily="34" charset="-122"/>
                <a:cs typeface="Arial" pitchFamily="34" charset="-120"/>
              </a:rPr>
              <a:t>Synthèse &amp; Conclusions</a:t>
            </a:r>
            <a:endParaRPr lang="en-US" sz="2000" dirty="0"/>
          </a:p>
        </p:txBody>
      </p:sp>
      <p:sp>
        <p:nvSpPr>
          <p:cNvPr id="4" name="Shape 2"/>
          <p:cNvSpPr/>
          <p:nvPr/>
        </p:nvSpPr>
        <p:spPr>
          <a:xfrm>
            <a:off x="256032" y="667512"/>
            <a:ext cx="8641080" cy="0"/>
          </a:xfrm>
          <a:prstGeom prst="line">
            <a:avLst/>
          </a:prstGeom>
          <a:noFill/>
          <a:ln w="19050">
            <a:solidFill>
              <a:srgbClr val="1ABBA3"/>
            </a:solidFill>
            <a:prstDash val="solid"/>
          </a:ln>
        </p:spPr>
        <p:txBody>
          <a:bodyPr/>
          <a:lstStyle/>
          <a:p>
            <a:endParaRPr lang="en-FR"/>
          </a:p>
        </p:txBody>
      </p:sp>
      <p:sp>
        <p:nvSpPr>
          <p:cNvPr id="5" name="Shape 3"/>
          <p:cNvSpPr/>
          <p:nvPr/>
        </p:nvSpPr>
        <p:spPr>
          <a:xfrm>
            <a:off x="256032" y="749808"/>
            <a:ext cx="1627632" cy="960120"/>
          </a:xfrm>
          <a:prstGeom prst="rect">
            <a:avLst/>
          </a:prstGeom>
          <a:solidFill>
            <a:srgbClr val="158F7E"/>
          </a:solidFill>
          <a:ln w="12700">
            <a:solidFill>
              <a:srgbClr val="158F7E"/>
            </a:solidFill>
            <a:prstDash val="solid"/>
          </a:ln>
          <a:effectLst>
            <a:outerShdw blurRad="38100" dist="25400" dir="8100000" algn="bl" rotWithShape="0">
              <a:srgbClr val="000000">
                <a:alpha val="10000"/>
              </a:srgbClr>
            </a:outerShdw>
          </a:effectLst>
        </p:spPr>
        <p:txBody>
          <a:bodyPr/>
          <a:lstStyle/>
          <a:p>
            <a:endParaRPr lang="en-FR"/>
          </a:p>
        </p:txBody>
      </p:sp>
      <p:sp>
        <p:nvSpPr>
          <p:cNvPr id="6" name="Text 4"/>
          <p:cNvSpPr/>
          <p:nvPr/>
        </p:nvSpPr>
        <p:spPr>
          <a:xfrm>
            <a:off x="256032" y="749808"/>
            <a:ext cx="1627632" cy="566928"/>
          </a:xfrm>
          <a:prstGeom prst="rect">
            <a:avLst/>
          </a:prstGeom>
          <a:no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7" name="Text 5"/>
          <p:cNvSpPr/>
          <p:nvPr/>
        </p:nvSpPr>
        <p:spPr>
          <a:xfrm>
            <a:off x="256032" y="1252728"/>
            <a:ext cx="1627632" cy="420624"/>
          </a:xfrm>
          <a:prstGeom prst="rect">
            <a:avLst/>
          </a:prstGeom>
          <a:noFill/>
          <a:ln/>
        </p:spPr>
        <p:txBody>
          <a:bodyPr wrap="square" rtlCol="0" anchor="ctr"/>
          <a:lstStyle/>
          <a:p>
            <a:pPr marL="0" indent="0" algn="ctr">
              <a:buNone/>
            </a:pPr>
            <a:r>
              <a:rPr lang="en-US" sz="750" dirty="0">
                <a:solidFill>
                  <a:srgbClr val="E0F5F3"/>
                </a:solidFill>
                <a:latin typeface="Arial" pitchFamily="34" charset="0"/>
                <a:ea typeface="Arial" pitchFamily="34" charset="-122"/>
                <a:cs typeface="Arial" pitchFamily="34" charset="-120"/>
              </a:rPr>
              <a:t>Tables</a:t>
            </a:r>
            <a:endParaRPr lang="en-US" sz="750" dirty="0"/>
          </a:p>
          <a:p>
            <a:pPr marL="0" indent="0" algn="ctr">
              <a:buNone/>
            </a:pPr>
            <a:r>
              <a:rPr lang="en-US" sz="750" dirty="0">
                <a:solidFill>
                  <a:srgbClr val="E0F5F3"/>
                </a:solidFill>
                <a:latin typeface="Arial" pitchFamily="34" charset="0"/>
                <a:ea typeface="Arial" pitchFamily="34" charset="-122"/>
                <a:cs typeface="Arial" pitchFamily="34" charset="-120"/>
              </a:rPr>
              <a:t>relationnelles</a:t>
            </a:r>
            <a:endParaRPr lang="en-US" sz="750" dirty="0"/>
          </a:p>
        </p:txBody>
      </p:sp>
      <p:sp>
        <p:nvSpPr>
          <p:cNvPr id="8" name="Shape 6"/>
          <p:cNvSpPr/>
          <p:nvPr/>
        </p:nvSpPr>
        <p:spPr>
          <a:xfrm>
            <a:off x="1993392" y="749808"/>
            <a:ext cx="1627632" cy="960120"/>
          </a:xfrm>
          <a:prstGeom prst="rect">
            <a:avLst/>
          </a:prstGeom>
          <a:solidFill>
            <a:srgbClr val="158F7E"/>
          </a:solidFill>
          <a:ln w="12700">
            <a:solidFill>
              <a:srgbClr val="158F7E"/>
            </a:solidFill>
            <a:prstDash val="solid"/>
          </a:ln>
          <a:effectLst>
            <a:outerShdw blurRad="38100" dist="25400" dir="8100000" algn="bl" rotWithShape="0">
              <a:srgbClr val="000000">
                <a:alpha val="10000"/>
              </a:srgbClr>
            </a:outerShdw>
          </a:effectLst>
        </p:spPr>
        <p:txBody>
          <a:bodyPr/>
          <a:lstStyle/>
          <a:p>
            <a:endParaRPr lang="en-FR"/>
          </a:p>
        </p:txBody>
      </p:sp>
      <p:sp>
        <p:nvSpPr>
          <p:cNvPr id="9" name="Text 7"/>
          <p:cNvSpPr/>
          <p:nvPr/>
        </p:nvSpPr>
        <p:spPr>
          <a:xfrm>
            <a:off x="1993392" y="749808"/>
            <a:ext cx="1627632" cy="566928"/>
          </a:xfrm>
          <a:prstGeom prst="rect">
            <a:avLst/>
          </a:prstGeom>
          <a:no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1 047</a:t>
            </a:r>
            <a:endParaRPr lang="en-US" sz="2200" dirty="0"/>
          </a:p>
        </p:txBody>
      </p:sp>
      <p:sp>
        <p:nvSpPr>
          <p:cNvPr id="10" name="Text 8"/>
          <p:cNvSpPr/>
          <p:nvPr/>
        </p:nvSpPr>
        <p:spPr>
          <a:xfrm>
            <a:off x="1993392" y="1252728"/>
            <a:ext cx="1627632" cy="420624"/>
          </a:xfrm>
          <a:prstGeom prst="rect">
            <a:avLst/>
          </a:prstGeom>
          <a:noFill/>
          <a:ln/>
        </p:spPr>
        <p:txBody>
          <a:bodyPr wrap="square" rtlCol="0" anchor="ctr"/>
          <a:lstStyle/>
          <a:p>
            <a:pPr marL="0" indent="0" algn="ctr">
              <a:buNone/>
            </a:pPr>
            <a:r>
              <a:rPr lang="en-US" sz="750" dirty="0">
                <a:solidFill>
                  <a:srgbClr val="E0F5F3"/>
                </a:solidFill>
                <a:latin typeface="Arial" pitchFamily="34" charset="0"/>
                <a:ea typeface="Arial" pitchFamily="34" charset="-122"/>
                <a:cs typeface="Arial" pitchFamily="34" charset="-120"/>
              </a:rPr>
              <a:t>Transactions</a:t>
            </a:r>
            <a:endParaRPr lang="en-US" sz="750" dirty="0"/>
          </a:p>
          <a:p>
            <a:pPr marL="0" indent="0" algn="ctr">
              <a:buNone/>
            </a:pPr>
            <a:r>
              <a:rPr lang="en-US" sz="750" dirty="0">
                <a:solidFill>
                  <a:srgbClr val="E0F5F3"/>
                </a:solidFill>
                <a:latin typeface="Arial" pitchFamily="34" charset="0"/>
                <a:ea typeface="Arial" pitchFamily="34" charset="-122"/>
                <a:cs typeface="Arial" pitchFamily="34" charset="-120"/>
              </a:rPr>
              <a:t>(ventes 2020)</a:t>
            </a:r>
            <a:endParaRPr lang="en-US" sz="750" dirty="0"/>
          </a:p>
        </p:txBody>
      </p:sp>
      <p:sp>
        <p:nvSpPr>
          <p:cNvPr id="11" name="Shape 9"/>
          <p:cNvSpPr/>
          <p:nvPr/>
        </p:nvSpPr>
        <p:spPr>
          <a:xfrm>
            <a:off x="3730752" y="749808"/>
            <a:ext cx="1627632" cy="960120"/>
          </a:xfrm>
          <a:prstGeom prst="rect">
            <a:avLst/>
          </a:prstGeom>
          <a:solidFill>
            <a:srgbClr val="158F7E"/>
          </a:solidFill>
          <a:ln w="12700">
            <a:solidFill>
              <a:srgbClr val="158F7E"/>
            </a:solidFill>
            <a:prstDash val="solid"/>
          </a:ln>
          <a:effectLst>
            <a:outerShdw blurRad="38100" dist="25400" dir="8100000" algn="bl" rotWithShape="0">
              <a:srgbClr val="000000">
                <a:alpha val="10000"/>
              </a:srgbClr>
            </a:outerShdw>
          </a:effectLst>
        </p:spPr>
        <p:txBody>
          <a:bodyPr/>
          <a:lstStyle/>
          <a:p>
            <a:endParaRPr lang="en-FR"/>
          </a:p>
        </p:txBody>
      </p:sp>
      <p:sp>
        <p:nvSpPr>
          <p:cNvPr id="12" name="Text 10"/>
          <p:cNvSpPr/>
          <p:nvPr/>
        </p:nvSpPr>
        <p:spPr>
          <a:xfrm>
            <a:off x="3730752" y="749808"/>
            <a:ext cx="1627632" cy="566928"/>
          </a:xfrm>
          <a:prstGeom prst="rect">
            <a:avLst/>
          </a:prstGeom>
          <a:no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1 107</a:t>
            </a:r>
            <a:endParaRPr lang="en-US" sz="2200" dirty="0"/>
          </a:p>
        </p:txBody>
      </p:sp>
      <p:sp>
        <p:nvSpPr>
          <p:cNvPr id="13" name="Text 11"/>
          <p:cNvSpPr/>
          <p:nvPr/>
        </p:nvSpPr>
        <p:spPr>
          <a:xfrm>
            <a:off x="3730752" y="1252728"/>
            <a:ext cx="1627632" cy="420624"/>
          </a:xfrm>
          <a:prstGeom prst="rect">
            <a:avLst/>
          </a:prstGeom>
          <a:noFill/>
          <a:ln/>
        </p:spPr>
        <p:txBody>
          <a:bodyPr wrap="square" rtlCol="0" anchor="ctr"/>
          <a:lstStyle/>
          <a:p>
            <a:pPr marL="0" indent="0" algn="ctr">
              <a:buNone/>
            </a:pPr>
            <a:r>
              <a:rPr lang="en-US" sz="750" dirty="0">
                <a:solidFill>
                  <a:srgbClr val="E0F5F3"/>
                </a:solidFill>
                <a:latin typeface="Arial" pitchFamily="34" charset="0"/>
                <a:ea typeface="Arial" pitchFamily="34" charset="-122"/>
                <a:cs typeface="Arial" pitchFamily="34" charset="-120"/>
              </a:rPr>
              <a:t>Biens</a:t>
            </a:r>
            <a:endParaRPr lang="en-US" sz="750" dirty="0"/>
          </a:p>
          <a:p>
            <a:pPr marL="0" indent="0" algn="ctr">
              <a:buNone/>
            </a:pPr>
            <a:r>
              <a:rPr lang="en-US" sz="750" dirty="0">
                <a:solidFill>
                  <a:srgbClr val="E0F5F3"/>
                </a:solidFill>
                <a:latin typeface="Arial" pitchFamily="34" charset="0"/>
                <a:ea typeface="Arial" pitchFamily="34" charset="-122"/>
                <a:cs typeface="Arial" pitchFamily="34" charset="-120"/>
              </a:rPr>
              <a:t>immobiliers</a:t>
            </a:r>
            <a:endParaRPr lang="en-US" sz="750" dirty="0"/>
          </a:p>
        </p:txBody>
      </p:sp>
      <p:sp>
        <p:nvSpPr>
          <p:cNvPr id="14" name="Shape 12"/>
          <p:cNvSpPr/>
          <p:nvPr/>
        </p:nvSpPr>
        <p:spPr>
          <a:xfrm>
            <a:off x="5468112" y="749808"/>
            <a:ext cx="1627632" cy="960120"/>
          </a:xfrm>
          <a:prstGeom prst="rect">
            <a:avLst/>
          </a:prstGeom>
          <a:solidFill>
            <a:srgbClr val="158F7E"/>
          </a:solidFill>
          <a:ln w="12700">
            <a:solidFill>
              <a:srgbClr val="158F7E"/>
            </a:solidFill>
            <a:prstDash val="solid"/>
          </a:ln>
          <a:effectLst>
            <a:outerShdw blurRad="38100" dist="25400" dir="8100000" algn="bl" rotWithShape="0">
              <a:srgbClr val="000000">
                <a:alpha val="10000"/>
              </a:srgbClr>
            </a:outerShdw>
          </a:effectLst>
        </p:spPr>
        <p:txBody>
          <a:bodyPr/>
          <a:lstStyle/>
          <a:p>
            <a:endParaRPr lang="en-FR"/>
          </a:p>
        </p:txBody>
      </p:sp>
      <p:sp>
        <p:nvSpPr>
          <p:cNvPr id="15" name="Text 13"/>
          <p:cNvSpPr/>
          <p:nvPr/>
        </p:nvSpPr>
        <p:spPr>
          <a:xfrm>
            <a:off x="5468112" y="749808"/>
            <a:ext cx="1627632" cy="566928"/>
          </a:xfrm>
          <a:prstGeom prst="rect">
            <a:avLst/>
          </a:prstGeom>
          <a:no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467</a:t>
            </a:r>
            <a:endParaRPr lang="en-US" sz="2200" dirty="0"/>
          </a:p>
        </p:txBody>
      </p:sp>
      <p:sp>
        <p:nvSpPr>
          <p:cNvPr id="16" name="Text 14"/>
          <p:cNvSpPr/>
          <p:nvPr/>
        </p:nvSpPr>
        <p:spPr>
          <a:xfrm>
            <a:off x="5468112" y="1252728"/>
            <a:ext cx="1627632" cy="420624"/>
          </a:xfrm>
          <a:prstGeom prst="rect">
            <a:avLst/>
          </a:prstGeom>
          <a:noFill/>
          <a:ln/>
        </p:spPr>
        <p:txBody>
          <a:bodyPr wrap="square" rtlCol="0" anchor="ctr"/>
          <a:lstStyle/>
          <a:p>
            <a:pPr marL="0" indent="0" algn="ctr">
              <a:buNone/>
            </a:pPr>
            <a:r>
              <a:rPr lang="en-US" sz="750" dirty="0">
                <a:solidFill>
                  <a:srgbClr val="E0F5F3"/>
                </a:solidFill>
                <a:latin typeface="Arial" pitchFamily="34" charset="0"/>
                <a:ea typeface="Arial" pitchFamily="34" charset="-122"/>
                <a:cs typeface="Arial" pitchFamily="34" charset="-120"/>
              </a:rPr>
              <a:t>Communes</a:t>
            </a:r>
            <a:endParaRPr lang="en-US" sz="750" dirty="0"/>
          </a:p>
          <a:p>
            <a:pPr marL="0" indent="0" algn="ctr">
              <a:buNone/>
            </a:pPr>
            <a:r>
              <a:rPr lang="en-US" sz="750" dirty="0">
                <a:solidFill>
                  <a:srgbClr val="E0F5F3"/>
                </a:solidFill>
                <a:latin typeface="Arial" pitchFamily="34" charset="0"/>
                <a:ea typeface="Arial" pitchFamily="34" charset="-122"/>
                <a:cs typeface="Arial" pitchFamily="34" charset="-120"/>
              </a:rPr>
              <a:t>couvertes</a:t>
            </a:r>
            <a:endParaRPr lang="en-US" sz="750" dirty="0"/>
          </a:p>
        </p:txBody>
      </p:sp>
      <p:sp>
        <p:nvSpPr>
          <p:cNvPr id="17" name="Shape 15"/>
          <p:cNvSpPr/>
          <p:nvPr/>
        </p:nvSpPr>
        <p:spPr>
          <a:xfrm>
            <a:off x="7205472" y="749808"/>
            <a:ext cx="1627632" cy="960120"/>
          </a:xfrm>
          <a:prstGeom prst="rect">
            <a:avLst/>
          </a:prstGeom>
          <a:solidFill>
            <a:srgbClr val="158F7E"/>
          </a:solidFill>
          <a:ln w="12700">
            <a:solidFill>
              <a:srgbClr val="158F7E"/>
            </a:solidFill>
            <a:prstDash val="solid"/>
          </a:ln>
          <a:effectLst>
            <a:outerShdw blurRad="38100" dist="25400" dir="8100000" algn="bl" rotWithShape="0">
              <a:srgbClr val="000000">
                <a:alpha val="10000"/>
              </a:srgbClr>
            </a:outerShdw>
          </a:effectLst>
        </p:spPr>
        <p:txBody>
          <a:bodyPr/>
          <a:lstStyle/>
          <a:p>
            <a:endParaRPr lang="en-FR"/>
          </a:p>
        </p:txBody>
      </p:sp>
      <p:sp>
        <p:nvSpPr>
          <p:cNvPr id="18" name="Text 16"/>
          <p:cNvSpPr/>
          <p:nvPr/>
        </p:nvSpPr>
        <p:spPr>
          <a:xfrm>
            <a:off x="7205472" y="749808"/>
            <a:ext cx="1627632" cy="566928"/>
          </a:xfrm>
          <a:prstGeom prst="rect">
            <a:avLst/>
          </a:prstGeom>
          <a:no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14</a:t>
            </a:r>
            <a:endParaRPr lang="en-US" sz="2200" dirty="0"/>
          </a:p>
        </p:txBody>
      </p:sp>
      <p:sp>
        <p:nvSpPr>
          <p:cNvPr id="19" name="Text 17"/>
          <p:cNvSpPr/>
          <p:nvPr/>
        </p:nvSpPr>
        <p:spPr>
          <a:xfrm>
            <a:off x="7205472" y="1252728"/>
            <a:ext cx="1627632" cy="420624"/>
          </a:xfrm>
          <a:prstGeom prst="rect">
            <a:avLst/>
          </a:prstGeom>
          <a:noFill/>
          <a:ln/>
        </p:spPr>
        <p:txBody>
          <a:bodyPr wrap="square" rtlCol="0" anchor="ctr"/>
          <a:lstStyle/>
          <a:p>
            <a:pPr marL="0" indent="0" algn="ctr">
              <a:buNone/>
            </a:pPr>
            <a:r>
              <a:rPr lang="en-US" sz="750" dirty="0">
                <a:solidFill>
                  <a:srgbClr val="E0F5F3"/>
                </a:solidFill>
                <a:latin typeface="Arial" pitchFamily="34" charset="0"/>
                <a:ea typeface="Arial" pitchFamily="34" charset="-122"/>
                <a:cs typeface="Arial" pitchFamily="34" charset="-120"/>
              </a:rPr>
              <a:t>Régions</a:t>
            </a:r>
            <a:endParaRPr lang="en-US" sz="750" dirty="0"/>
          </a:p>
          <a:p>
            <a:pPr marL="0" indent="0" algn="ctr">
              <a:buNone/>
            </a:pPr>
            <a:r>
              <a:rPr lang="en-US" sz="750" dirty="0">
                <a:solidFill>
                  <a:srgbClr val="E0F5F3"/>
                </a:solidFill>
                <a:latin typeface="Arial" pitchFamily="34" charset="0"/>
                <a:ea typeface="Arial" pitchFamily="34" charset="-122"/>
                <a:cs typeface="Arial" pitchFamily="34" charset="-120"/>
              </a:rPr>
              <a:t>françaises</a:t>
            </a:r>
            <a:endParaRPr lang="en-US" sz="750" dirty="0"/>
          </a:p>
        </p:txBody>
      </p:sp>
      <p:sp>
        <p:nvSpPr>
          <p:cNvPr id="20" name="Shape 18"/>
          <p:cNvSpPr/>
          <p:nvPr/>
        </p:nvSpPr>
        <p:spPr>
          <a:xfrm>
            <a:off x="256032" y="1847088"/>
            <a:ext cx="2788920" cy="2423160"/>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21" name="Shape 19"/>
          <p:cNvSpPr/>
          <p:nvPr/>
        </p:nvSpPr>
        <p:spPr>
          <a:xfrm>
            <a:off x="256032" y="1847088"/>
            <a:ext cx="2788920" cy="320040"/>
          </a:xfrm>
          <a:prstGeom prst="rect">
            <a:avLst/>
          </a:prstGeom>
          <a:solidFill>
            <a:srgbClr val="EAF5F4"/>
          </a:solidFill>
          <a:ln w="6350">
            <a:solidFill>
              <a:srgbClr val="D0E8E6"/>
            </a:solidFill>
            <a:prstDash val="solid"/>
          </a:ln>
        </p:spPr>
        <p:txBody>
          <a:bodyPr/>
          <a:lstStyle/>
          <a:p>
            <a:endParaRPr lang="en-FR"/>
          </a:p>
        </p:txBody>
      </p:sp>
      <p:sp>
        <p:nvSpPr>
          <p:cNvPr id="22" name="Text 20"/>
          <p:cNvSpPr/>
          <p:nvPr/>
        </p:nvSpPr>
        <p:spPr>
          <a:xfrm>
            <a:off x="347472" y="1847088"/>
            <a:ext cx="2651760" cy="320040"/>
          </a:xfrm>
          <a:prstGeom prst="rect">
            <a:avLst/>
          </a:prstGeom>
          <a:noFill/>
          <a:ln/>
        </p:spPr>
        <p:txBody>
          <a:bodyPr wrap="square" rtlCol="0" anchor="ctr"/>
          <a:lstStyle/>
          <a:p>
            <a:pPr marL="0" indent="0">
              <a:buNone/>
            </a:pPr>
            <a:r>
              <a:rPr lang="en-US" sz="950" b="1" dirty="0">
                <a:solidFill>
                  <a:srgbClr val="158F7E"/>
                </a:solidFill>
                <a:latin typeface="Arial" pitchFamily="34" charset="0"/>
                <a:ea typeface="Arial" pitchFamily="34" charset="-122"/>
                <a:cs typeface="Arial" pitchFamily="34" charset="-120"/>
              </a:rPr>
              <a:t>🏙️  Marché très concentré</a:t>
            </a:r>
            <a:endParaRPr lang="en-US" sz="950" dirty="0"/>
          </a:p>
        </p:txBody>
      </p:sp>
      <p:sp>
        <p:nvSpPr>
          <p:cNvPr id="23" name="Text 21"/>
          <p:cNvSpPr/>
          <p:nvPr/>
        </p:nvSpPr>
        <p:spPr>
          <a:xfrm>
            <a:off x="365760" y="2212848"/>
            <a:ext cx="2606040" cy="1993392"/>
          </a:xfrm>
          <a:prstGeom prst="rect">
            <a:avLst/>
          </a:prstGeom>
          <a:noFill/>
          <a:ln/>
        </p:spPr>
        <p:txBody>
          <a:bodyPr wrap="square" rtlCol="0" anchor="ctr"/>
          <a:lstStyle/>
          <a:p>
            <a:pPr marL="0" indent="0">
              <a:buNone/>
            </a:pPr>
            <a:r>
              <a:rPr lang="en-US" sz="900" dirty="0">
                <a:solidFill>
                  <a:srgbClr val="1C3838"/>
                </a:solidFill>
                <a:latin typeface="Arial" pitchFamily="34" charset="0"/>
                <a:ea typeface="Arial" pitchFamily="34" charset="-122"/>
                <a:cs typeface="Arial" pitchFamily="34" charset="-120"/>
              </a:rPr>
              <a:t>L'Île-de-France représente 42 % des ventes d'appartements et affiche les prix au m² les plus élevés (9 946 €/m² pour le 75). 3 régions captent plus de 65 % des ventes.</a:t>
            </a:r>
            <a:endParaRPr lang="en-US" sz="900" dirty="0"/>
          </a:p>
        </p:txBody>
      </p:sp>
      <p:sp>
        <p:nvSpPr>
          <p:cNvPr id="24" name="Shape 22"/>
          <p:cNvSpPr/>
          <p:nvPr/>
        </p:nvSpPr>
        <p:spPr>
          <a:xfrm>
            <a:off x="3182112" y="1847088"/>
            <a:ext cx="2788920" cy="2423160"/>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25" name="Shape 23"/>
          <p:cNvSpPr/>
          <p:nvPr/>
        </p:nvSpPr>
        <p:spPr>
          <a:xfrm>
            <a:off x="3182112" y="1847088"/>
            <a:ext cx="2788920" cy="320040"/>
          </a:xfrm>
          <a:prstGeom prst="rect">
            <a:avLst/>
          </a:prstGeom>
          <a:solidFill>
            <a:srgbClr val="EAF5F4"/>
          </a:solidFill>
          <a:ln w="6350">
            <a:solidFill>
              <a:srgbClr val="D0E8E6"/>
            </a:solidFill>
            <a:prstDash val="solid"/>
          </a:ln>
        </p:spPr>
        <p:txBody>
          <a:bodyPr/>
          <a:lstStyle/>
          <a:p>
            <a:endParaRPr lang="en-FR"/>
          </a:p>
        </p:txBody>
      </p:sp>
      <p:sp>
        <p:nvSpPr>
          <p:cNvPr id="26" name="Text 24"/>
          <p:cNvSpPr/>
          <p:nvPr/>
        </p:nvSpPr>
        <p:spPr>
          <a:xfrm>
            <a:off x="3273552" y="1847088"/>
            <a:ext cx="2651760" cy="320040"/>
          </a:xfrm>
          <a:prstGeom prst="rect">
            <a:avLst/>
          </a:prstGeom>
          <a:noFill/>
          <a:ln/>
        </p:spPr>
        <p:txBody>
          <a:bodyPr wrap="square" rtlCol="0" anchor="ctr"/>
          <a:lstStyle/>
          <a:p>
            <a:pPr marL="0" indent="0">
              <a:buNone/>
            </a:pPr>
            <a:r>
              <a:rPr lang="en-US" sz="950" b="1" dirty="0">
                <a:solidFill>
                  <a:srgbClr val="158F7E"/>
                </a:solidFill>
                <a:latin typeface="Arial" pitchFamily="34" charset="0"/>
                <a:ea typeface="Arial" pitchFamily="34" charset="-122"/>
                <a:cs typeface="Arial" pitchFamily="34" charset="-120"/>
              </a:rPr>
              <a:t>📉  Impact COVID-19 visible</a:t>
            </a:r>
            <a:endParaRPr lang="en-US" sz="950" dirty="0"/>
          </a:p>
        </p:txBody>
      </p:sp>
      <p:sp>
        <p:nvSpPr>
          <p:cNvPr id="27" name="Text 25"/>
          <p:cNvSpPr/>
          <p:nvPr/>
        </p:nvSpPr>
        <p:spPr>
          <a:xfrm>
            <a:off x="3291840" y="2212848"/>
            <a:ext cx="2606040" cy="1993392"/>
          </a:xfrm>
          <a:prstGeom prst="rect">
            <a:avLst/>
          </a:prstGeom>
          <a:noFill/>
          <a:ln/>
        </p:spPr>
        <p:txBody>
          <a:bodyPr wrap="square" rtlCol="0" anchor="ctr"/>
          <a:lstStyle/>
          <a:p>
            <a:pPr marL="0" indent="0">
              <a:buNone/>
            </a:pPr>
            <a:r>
              <a:rPr lang="en-US" sz="900" dirty="0">
                <a:solidFill>
                  <a:srgbClr val="1C3838"/>
                </a:solidFill>
                <a:latin typeface="Arial" pitchFamily="34" charset="0"/>
                <a:ea typeface="Arial" pitchFamily="34" charset="-122"/>
                <a:cs typeface="Arial" pitchFamily="34" charset="-120"/>
              </a:rPr>
              <a:t>Le taux d'évolution des ventes entre Q1 et Q2 2020 est de −6 %. Cette baisse correspond directement au confinement national d'avril-mai 2020.</a:t>
            </a:r>
            <a:endParaRPr lang="en-US" sz="900" dirty="0"/>
          </a:p>
        </p:txBody>
      </p:sp>
      <p:sp>
        <p:nvSpPr>
          <p:cNvPr id="28" name="Shape 26"/>
          <p:cNvSpPr/>
          <p:nvPr/>
        </p:nvSpPr>
        <p:spPr>
          <a:xfrm>
            <a:off x="6108192" y="1847088"/>
            <a:ext cx="2788920" cy="2423160"/>
          </a:xfrm>
          <a:prstGeom prst="rect">
            <a:avLst/>
          </a:prstGeom>
          <a:solidFill>
            <a:srgbClr val="FFFFFF"/>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29" name="Shape 27"/>
          <p:cNvSpPr/>
          <p:nvPr/>
        </p:nvSpPr>
        <p:spPr>
          <a:xfrm>
            <a:off x="6108192" y="1847088"/>
            <a:ext cx="2788920" cy="320040"/>
          </a:xfrm>
          <a:prstGeom prst="rect">
            <a:avLst/>
          </a:prstGeom>
          <a:solidFill>
            <a:srgbClr val="EAF5F4"/>
          </a:solidFill>
          <a:ln w="6350">
            <a:solidFill>
              <a:srgbClr val="D0E8E6"/>
            </a:solidFill>
            <a:prstDash val="solid"/>
          </a:ln>
        </p:spPr>
        <p:txBody>
          <a:bodyPr/>
          <a:lstStyle/>
          <a:p>
            <a:endParaRPr lang="en-FR"/>
          </a:p>
        </p:txBody>
      </p:sp>
      <p:sp>
        <p:nvSpPr>
          <p:cNvPr id="30" name="Text 28"/>
          <p:cNvSpPr/>
          <p:nvPr/>
        </p:nvSpPr>
        <p:spPr>
          <a:xfrm>
            <a:off x="6199632" y="1847088"/>
            <a:ext cx="2651760" cy="320040"/>
          </a:xfrm>
          <a:prstGeom prst="rect">
            <a:avLst/>
          </a:prstGeom>
          <a:noFill/>
          <a:ln/>
        </p:spPr>
        <p:txBody>
          <a:bodyPr wrap="square" rtlCol="0" anchor="ctr"/>
          <a:lstStyle/>
          <a:p>
            <a:pPr marL="0" indent="0">
              <a:buNone/>
            </a:pPr>
            <a:r>
              <a:rPr lang="en-US" sz="950" b="1" dirty="0">
                <a:solidFill>
                  <a:srgbClr val="158F7E"/>
                </a:solidFill>
                <a:latin typeface="Arial" pitchFamily="34" charset="0"/>
                <a:ea typeface="Arial" pitchFamily="34" charset="-122"/>
                <a:cs typeface="Arial" pitchFamily="34" charset="-120"/>
              </a:rPr>
              <a:t>📐  Premium petites surfaces</a:t>
            </a:r>
            <a:endParaRPr lang="en-US" sz="950" dirty="0"/>
          </a:p>
        </p:txBody>
      </p:sp>
      <p:sp>
        <p:nvSpPr>
          <p:cNvPr id="31" name="Text 29"/>
          <p:cNvSpPr/>
          <p:nvPr/>
        </p:nvSpPr>
        <p:spPr>
          <a:xfrm>
            <a:off x="6217920" y="2212848"/>
            <a:ext cx="2606040" cy="1993392"/>
          </a:xfrm>
          <a:prstGeom prst="rect">
            <a:avLst/>
          </a:prstGeom>
          <a:noFill/>
          <a:ln/>
        </p:spPr>
        <p:txBody>
          <a:bodyPr wrap="square" rtlCol="0" anchor="ctr"/>
          <a:lstStyle/>
          <a:p>
            <a:pPr marL="0" indent="0">
              <a:buNone/>
            </a:pPr>
            <a:r>
              <a:rPr lang="en-US" sz="900" dirty="0">
                <a:solidFill>
                  <a:srgbClr val="1C3838"/>
                </a:solidFill>
                <a:latin typeface="Arial" pitchFamily="34" charset="0"/>
                <a:ea typeface="Arial" pitchFamily="34" charset="-122"/>
                <a:cs typeface="Arial" pitchFamily="34" charset="-120"/>
              </a:rPr>
              <a:t>Un appartement de 2 pièces coûte 17 % plus cher au m² qu'un 3 pièces. Les 2 et 3 pièces dominent le marché avec 61 % des transactions.</a:t>
            </a:r>
            <a:endParaRPr lang="en-US" sz="900" dirty="0"/>
          </a:p>
        </p:txBody>
      </p:sp>
      <p:sp>
        <p:nvSpPr>
          <p:cNvPr id="32" name="Shape 30"/>
          <p:cNvSpPr/>
          <p:nvPr/>
        </p:nvSpPr>
        <p:spPr>
          <a:xfrm>
            <a:off x="256032" y="4389120"/>
            <a:ext cx="8641080" cy="658368"/>
          </a:xfrm>
          <a:prstGeom prst="rect">
            <a:avLst/>
          </a:prstGeom>
          <a:solidFill>
            <a:srgbClr val="F0FAF9"/>
          </a:solidFill>
          <a:ln w="12700">
            <a:solidFill>
              <a:srgbClr val="D0E8E6"/>
            </a:solidFill>
            <a:prstDash val="solid"/>
          </a:ln>
          <a:effectLst>
            <a:outerShdw blurRad="38100" dist="25400" dir="8100000" algn="bl" rotWithShape="0">
              <a:srgbClr val="000000">
                <a:alpha val="10000"/>
              </a:srgbClr>
            </a:outerShdw>
          </a:effectLst>
        </p:spPr>
        <p:txBody>
          <a:bodyPr/>
          <a:lstStyle/>
          <a:p>
            <a:endParaRPr lang="en-FR"/>
          </a:p>
        </p:txBody>
      </p:sp>
      <p:sp>
        <p:nvSpPr>
          <p:cNvPr id="33" name="Text 31"/>
          <p:cNvSpPr/>
          <p:nvPr/>
        </p:nvSpPr>
        <p:spPr>
          <a:xfrm>
            <a:off x="384048" y="4407408"/>
            <a:ext cx="2560320" cy="256032"/>
          </a:xfrm>
          <a:prstGeom prst="rect">
            <a:avLst/>
          </a:prstGeom>
          <a:noFill/>
          <a:ln/>
        </p:spPr>
        <p:txBody>
          <a:bodyPr wrap="square" rtlCol="0" anchor="ctr"/>
          <a:lstStyle/>
          <a:p>
            <a:pPr marL="0" indent="0">
              <a:buNone/>
            </a:pPr>
            <a:r>
              <a:rPr lang="en-US" sz="900" b="1" dirty="0">
                <a:solidFill>
                  <a:srgbClr val="158F7E"/>
                </a:solidFill>
                <a:latin typeface="Arial" pitchFamily="34" charset="0"/>
                <a:ea typeface="Arial" pitchFamily="34" charset="-122"/>
                <a:cs typeface="Arial" pitchFamily="34" charset="-120"/>
              </a:rPr>
              <a:t>Perspectives d'amélioration du POC :</a:t>
            </a:r>
            <a:endParaRPr lang="en-US" sz="900" dirty="0"/>
          </a:p>
        </p:txBody>
      </p:sp>
      <p:sp>
        <p:nvSpPr>
          <p:cNvPr id="34" name="Text 32"/>
          <p:cNvSpPr/>
          <p:nvPr/>
        </p:nvSpPr>
        <p:spPr>
          <a:xfrm>
            <a:off x="384048" y="4663440"/>
            <a:ext cx="8394192" cy="310896"/>
          </a:xfrm>
          <a:prstGeom prst="rect">
            <a:avLst/>
          </a:prstGeom>
          <a:noFill/>
          <a:ln/>
        </p:spPr>
        <p:txBody>
          <a:bodyPr wrap="square" rtlCol="0" anchor="ctr"/>
          <a:lstStyle/>
          <a:p>
            <a:pPr marL="0" indent="0">
              <a:buNone/>
            </a:pPr>
            <a:r>
              <a:rPr lang="en-US" sz="850" dirty="0">
                <a:solidFill>
                  <a:srgbClr val="546E6E"/>
                </a:solidFill>
                <a:latin typeface="Arial" pitchFamily="34" charset="0"/>
                <a:ea typeface="Arial" pitchFamily="34" charset="-122"/>
                <a:cs typeface="Arial" pitchFamily="34" charset="-120"/>
              </a:rPr>
              <a:t>Ajout données population INSEE → transactions / 1 000 hab.  ·  Intégration historique DVF 2018-2023  ·  Analyse </a:t>
            </a:r>
            <a:r>
              <a:rPr lang="en-US" sz="850" dirty="0" err="1">
                <a:solidFill>
                  <a:srgbClr val="546E6E"/>
                </a:solidFill>
                <a:latin typeface="Arial" pitchFamily="34" charset="0"/>
                <a:ea typeface="Arial" pitchFamily="34" charset="-122"/>
                <a:cs typeface="Arial" pitchFamily="34" charset="-120"/>
              </a:rPr>
              <a:t>saisonnalité</a:t>
            </a:r>
            <a:r>
              <a:rPr lang="en-US" sz="850" dirty="0">
                <a:solidFill>
                  <a:srgbClr val="546E6E"/>
                </a:solidFill>
                <a:latin typeface="Arial" pitchFamily="34" charset="0"/>
                <a:ea typeface="Arial" pitchFamily="34" charset="-122"/>
                <a:cs typeface="Arial" pitchFamily="34" charset="-120"/>
              </a:rPr>
              <a:t> </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TotalTime>
  <Words>1071</Words>
  <Application>Microsoft Macintosh PowerPoint</Application>
  <PresentationFormat>On-screen Show (16:9)</PresentationFormat>
  <Paragraphs>142</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heba Abu Rabia Simoh</cp:lastModifiedBy>
  <cp:revision>2</cp:revision>
  <dcterms:created xsi:type="dcterms:W3CDTF">2026-03-31T11:24:40Z</dcterms:created>
  <dcterms:modified xsi:type="dcterms:W3CDTF">2026-03-31T13:20:24Z</dcterms:modified>
</cp:coreProperties>
</file>